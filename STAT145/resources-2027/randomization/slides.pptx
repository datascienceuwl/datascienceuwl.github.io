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5" Type="http://schemas.openxmlformats.org/officeDocument/2006/relationships/viewProps" Target="viewProps.xml" /><Relationship Id="rId34" Type="http://schemas.openxmlformats.org/officeDocument/2006/relationships/presProps" Target="presProps.xml" /><Relationship Id="rId1" Type="http://schemas.openxmlformats.org/officeDocument/2006/relationships/slideMaster" Target="slideMasters/slideMaster1.xml" /><Relationship Id="rId37" Type="http://schemas.openxmlformats.org/officeDocument/2006/relationships/tableStyles" Target="tableStyles.xml" /><Relationship Id="rId36"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Randomization Tests</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STAT 145</a:t>
            </a:r>
            <a:br/>
            <a:b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Randomization Tests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Today's goals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b="1"/>
                  <a:t>Set up a test.</a:t>
                </a:r>
                <a:r>
                  <a:rPr/>
                  <a:t> Recognize when a statistical test is needed, and state null and alternative hypotheses in terms of a parameter.</a:t>
                </a:r>
              </a:p>
              <a:p>
                <a:pPr lvl="0"/>
                <a:r>
                  <a:rPr b="1"/>
                  <a:t>Model chance with a randomization distribution</a:t>
                </a:r>
                <a:r>
                  <a:rPr/>
                  <a:t> built under the assumption that the null hypothesis is true.</a:t>
                </a:r>
              </a:p>
              <a:p>
                <a:pPr lvl="0"/>
                <a:r>
                  <a:rPr b="1"/>
                  <a:t>Find and interpret a </a:t>
                </a:r>
                <a14:m>
                  <m:oMath xmlns:m="http://schemas.openxmlformats.org/officeDocument/2006/math">
                    <m:r>
                      <m:t>p</m:t>
                    </m:r>
                  </m:oMath>
                </a14:m>
                <a:r>
                  <a:rPr b="1"/>
                  <a:t>-value</a:t>
                </a:r>
                <a:r>
                  <a:rPr/>
                  <a:t> from that distribution — including one- versus two-tailed tests — as the strength of evidence against the null hypothesis.</a:t>
                </a:r>
              </a:p>
              <a:p>
                <a:pPr lvl="0"/>
                <a:r>
                  <a:rPr b="1"/>
                  <a:t>Make and state a decision</a:t>
                </a:r>
                <a:r>
                  <a:rPr/>
                  <a:t> by comparing the </a:t>
                </a:r>
                <a14:m>
                  <m:oMath xmlns:m="http://schemas.openxmlformats.org/officeDocument/2006/math">
                    <m:r>
                      <m:t>p</m:t>
                    </m:r>
                  </m:oMath>
                </a14:m>
                <a:r>
                  <a:rPr/>
                  <a:t>-value to a significance level, then conclude in context.</a:t>
                </a:r>
              </a:p>
              <a:p>
                <a:pPr lvl="0"/>
                <a:r>
                  <a:rPr b="1"/>
                  <a:t>Know what a test can and cannot tell you:</a:t>
                </a:r>
                <a:r>
                  <a:rPr/>
                  <a:t> Type I and Type II errors, the significance level as the tolerable Type I error rate, and why statistical discernibility is not the same as practical importance.</a:t>
                </a:r>
              </a:p>
              <a:p>
                <a:pPr lvl="0" indent="0" marL="0">
                  <a:spcBef>
                    <a:spcPts val="3000"/>
                  </a:spcBef>
                  <a:buNone/>
                </a:pPr>
                <a:r>
                  <a:rPr b="1"/>
                  <a:t>Motivation: Cereal example</a:t>
                </a:r>
              </a:p>
            </p:txBody>
          </p:sp>
        </mc:Choice>
      </mc:AlternateContent>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Example 1</a:t>
            </a:r>
          </a:p>
        </p:txBody>
      </p:sp>
      <p:sp>
        <p:nvSpPr>
          <p:cNvPr id="4" name="Text Placeholder 3"/>
          <p:cNvSpPr>
            <a:spLocks noGrp="1"/>
          </p:cNvSpPr>
          <p:nvPr>
            <p:ph idx="2" sz="half" type="body"/>
          </p:nvPr>
        </p:nvSpPr>
        <p:spPr/>
        <p:txBody>
          <a:bodyPr/>
          <a:lstStyle/>
          <a:p>
            <a:pPr lvl="0" indent="0" marL="0">
              <a:buNone/>
            </a:pPr>
            <a:r>
              <a:rPr/>
              <a:t>Consider the following scenario: A sample of 80 four-to six-year olds participated in a study in which they were asked to taste two cereals, both called “Oat Bits” (in random order). The cereal in each box was exactly the same, but the boxes differed in the fact that one of the boxes had pictures of a star mascot and the other did not.</a:t>
            </a:r>
          </a:p>
        </p:txBody>
      </p:sp>
      <p:pic>
        <p:nvPicPr>
          <p:cNvPr descr="../images/cereal-boxes.png" id="0" name="Picture 1"/>
          <p:cNvPicPr>
            <a:picLocks noGrp="1" noChangeAspect="1"/>
          </p:cNvPicPr>
          <p:nvPr/>
        </p:nvPicPr>
        <p:blipFill>
          <a:blip r:embed="rId2"/>
          <a:stretch>
            <a:fillRect/>
          </a:stretch>
        </p:blipFill>
        <p:spPr bwMode="auto">
          <a:xfrm>
            <a:off x="3568700" y="749300"/>
            <a:ext cx="5105400" cy="27813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Figure 1: The two cereal boxes shown to the children. The cereal inside was identical; only one box featured a cartoon star mascot.</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342900" marL="342900">
                  <a:buAutoNum type="alphaLcParenR"/>
                </a:pPr>
                <a:r>
                  <a:rPr/>
                  <a:t>If the cartoons make no difference, because after all the cereal is the same in each box, how many of the 80 children do you expect to pick the cartoon box? What sample proportion is this?</a:t>
                </a:r>
              </a:p>
              <a:p>
                <a:pPr lvl="0" indent="0" marL="0">
                  <a:buNone/>
                </a:pPr>
                <a:r>
                  <a:rPr/>
                  <a:t>. . .</a:t>
                </a:r>
              </a:p>
              <a:p>
                <a:pPr lvl="0" indent="-342900" marL="342900">
                  <a:buAutoNum type="arabicPeriod"/>
                </a:pPr>
                <a:r>
                  <a:rPr/>
                  <a:t>If the cartoons make no difference, each child is equally likely to pick either box.</a:t>
                </a:r>
              </a:p>
              <a:p>
                <a:pPr lvl="0" indent="-342900" marL="342900">
                  <a:buAutoNum type="arabicPeriod"/>
                </a:pPr>
                <a:r>
                  <a:rPr/>
                  <a:t>We expect about half: </a:t>
                </a:r>
                <a14:m>
                  <m:oMath xmlns:m="http://schemas.openxmlformats.org/officeDocument/2006/math">
                    <m:r>
                      <m:t>40</m:t>
                    </m:r>
                  </m:oMath>
                </a14:m>
                <a:r>
                  <a:rPr/>
                  <a:t> of the </a:t>
                </a:r>
                <a14:m>
                  <m:oMath xmlns:m="http://schemas.openxmlformats.org/officeDocument/2006/math">
                    <m:r>
                      <m:t>80</m:t>
                    </m:r>
                  </m:oMath>
                </a14:m>
                <a:r>
                  <a:rPr/>
                  <a:t> children.</a:t>
                </a:r>
              </a:p>
              <a:p>
                <a:pPr lvl="0" indent="-342900" marL="342900">
                  <a:buAutoNum type="arabicPeriod"/>
                </a:pPr>
                <a:r>
                  <a:rPr/>
                  <a:t>As a proportion, </a:t>
                </a:r>
                <a14:m>
                  <m:oMath xmlns:m="http://schemas.openxmlformats.org/officeDocument/2006/math">
                    <m:acc>
                      <m:accPr>
                        <m:chr m:val="̂"/>
                      </m:accPr>
                      <m:e>
                        <m:r>
                          <m:t>p</m:t>
                        </m:r>
                      </m:e>
                    </m:acc>
                    <m:r>
                      <m:rPr>
                        <m:sty m:val="p"/>
                      </m:rPr>
                      <m:t>=</m:t>
                    </m:r>
                    <m:r>
                      <m:t>40</m:t>
                    </m:r>
                    <m:r>
                      <m:rPr>
                        <m:sty m:val="p"/>
                      </m:rPr>
                      <m:t>/</m:t>
                    </m:r>
                    <m:r>
                      <m:t>80</m:t>
                    </m:r>
                    <m:r>
                      <m:rPr>
                        <m:sty m:val="p"/>
                      </m:rPr>
                      <m:t>=</m:t>
                    </m:r>
                    <m:r>
                      <m:t>0.50</m:t>
                    </m:r>
                  </m:oMath>
                </a14:m>
                <a:r>
                  <a:rPr/>
                  <a:t>.</a:t>
                </a:r>
              </a:p>
              <a:p>
                <a:pPr lvl="0" indent="-342900" marL="342900">
                  <a:buAutoNum startAt="2" type="alphaLcParenR"/>
                </a:pPr>
                <a:r>
                  <a:rPr/>
                  <a:t>Suppose that in this study, 52 of the children chose the box with cartoons. What sample proportion is this? Does this lead you to believe that there was a preference toward the cartoon box, or would you expect this sample proportion to occur by chance even if there was no preference? (We will use StatLens to explore the sampling distribution for the proportion to determine what values are likely to occur.)</a:t>
                </a:r>
              </a:p>
              <a:p>
                <a:pPr lvl="0" indent="0" marL="0">
                  <a:buNone/>
                </a:pPr>
                <a:r>
                  <a:rPr/>
                  <a:t>. . .</a:t>
                </a:r>
              </a:p>
              <a:p>
                <a:pPr lvl="0" indent="-342900" marL="342900">
                  <a:buAutoNum type="arabicPeriod"/>
                </a:pPr>
                <a14:m>
                  <m:oMath xmlns:m="http://schemas.openxmlformats.org/officeDocument/2006/math">
                    <m:acc>
                      <m:accPr>
                        <m:chr m:val="̂"/>
                      </m:accPr>
                      <m:e>
                        <m:r>
                          <m:t>p</m:t>
                        </m:r>
                      </m:e>
                    </m:acc>
                    <m:r>
                      <m:rPr>
                        <m:sty m:val="p"/>
                      </m:rPr>
                      <m:t>=</m:t>
                    </m:r>
                    <m:r>
                      <m:t>52</m:t>
                    </m:r>
                    <m:r>
                      <m:rPr>
                        <m:sty m:val="p"/>
                      </m:rPr>
                      <m:t>/</m:t>
                    </m:r>
                    <m:r>
                      <m:t>80</m:t>
                    </m:r>
                    <m:r>
                      <m:rPr>
                        <m:sty m:val="p"/>
                      </m:rPr>
                      <m:t>=</m:t>
                    </m:r>
                    <m:r>
                      <m:t>0.65</m:t>
                    </m:r>
                  </m:oMath>
                </a14:m>
                <a:r>
                  <a:rPr/>
                  <a:t>, which is above the </a:t>
                </a:r>
                <a14:m>
                  <m:oMath xmlns:m="http://schemas.openxmlformats.org/officeDocument/2006/math">
                    <m:r>
                      <m:t>0.50</m:t>
                    </m:r>
                  </m:oMath>
                </a14:m>
                <a:r>
                  <a:rPr/>
                  <a:t> we would expect if there were no preference.</a:t>
                </a:r>
              </a:p>
              <a:p>
                <a:pPr lvl="0" indent="-342900" marL="342900">
                  <a:buAutoNum type="arabicPeriod"/>
                </a:pPr>
                <a:r>
                  <a:rPr/>
                  <a:t>On its own, </a:t>
                </a:r>
                <a14:m>
                  <m:oMath xmlns:m="http://schemas.openxmlformats.org/officeDocument/2006/math">
                    <m:r>
                      <m:t>0.65</m:t>
                    </m:r>
                  </m:oMath>
                </a14:m>
                <a:r>
                  <a:rPr/>
                  <a:t> is not proof: sample proportions vary from sample to sample even when the true proportion is </a:t>
                </a:r>
                <a14:m>
                  <m:oMath xmlns:m="http://schemas.openxmlformats.org/officeDocument/2006/math">
                    <m:r>
                      <m:t>0.50</m:t>
                    </m:r>
                  </m:oMath>
                </a14:m>
                <a:r>
                  <a:rPr/>
                  <a:t>.</a:t>
                </a:r>
              </a:p>
              <a:p>
                <a:pPr lvl="0" indent="-342900" marL="342900">
                  <a:buAutoNum type="arabicPeriod"/>
                </a:pPr>
                <a:r>
                  <a:rPr/>
                  <a:t>The real question is whether a value as high as </a:t>
                </a:r>
                <a14:m>
                  <m:oMath xmlns:m="http://schemas.openxmlformats.org/officeDocument/2006/math">
                    <m:r>
                      <m:t>0.65</m:t>
                    </m:r>
                  </m:oMath>
                </a14:m>
                <a:r>
                  <a:rPr/>
                  <a:t> is </a:t>
                </a:r>
                <a:r>
                  <a:rPr i="1"/>
                  <a:t>plausible by chance alone</a:t>
                </a:r>
                <a:r>
                  <a:rPr/>
                  <a:t>. To answer it, we simulate many samples of </a:t>
                </a:r>
                <a14:m>
                  <m:oMath xmlns:m="http://schemas.openxmlformats.org/officeDocument/2006/math">
                    <m:r>
                      <m:t>80</m:t>
                    </m:r>
                  </m:oMath>
                </a14:m>
                <a:r>
                  <a:rPr/>
                  <a:t> children under “no preference” (</a:t>
                </a:r>
                <a14:m>
                  <m:oMath xmlns:m="http://schemas.openxmlformats.org/officeDocument/2006/math">
                    <m:r>
                      <m:t>p</m:t>
                    </m:r>
                    <m:r>
                      <m:rPr>
                        <m:sty m:val="p"/>
                      </m:rPr>
                      <m:t>=</m:t>
                    </m:r>
                    <m:r>
                      <m:t>0.50</m:t>
                    </m:r>
                  </m:oMath>
                </a14:m>
                <a:r>
                  <a:rPr/>
                  <a:t>) and see how often chance produces a proportion this large.</a:t>
                </a:r>
              </a:p>
              <a:p>
                <a:pPr lvl="0" indent="-342900" marL="342900">
                  <a:buAutoNum startAt="3" type="alphaLcParenR"/>
                </a:pPr>
                <a:r>
                  <a:rPr/>
                  <a:t>Using the simulation from part b), what sample proportions do we expect to see if there is no preference toward the cartoons?</a:t>
                </a:r>
              </a:p>
              <a:p>
                <a:pPr lvl="0" indent="0" marL="0">
                  <a:buNone/>
                </a:pPr>
                <a:r>
                  <a:rPr/>
                  <a:t>. . .</a:t>
                </a:r>
              </a:p>
              <a:p>
                <a:pPr lvl="0" indent="-342900" marL="342900">
                  <a:buAutoNum type="arabicPeriod"/>
                </a:pPr>
                <a:r>
                  <a:rPr/>
                  <a:t>Under “no preference” (</a:t>
                </a:r>
                <a14:m>
                  <m:oMath xmlns:m="http://schemas.openxmlformats.org/officeDocument/2006/math">
                    <m:r>
                      <m:t>p</m:t>
                    </m:r>
                    <m:r>
                      <m:rPr>
                        <m:sty m:val="p"/>
                      </m:rPr>
                      <m:t>=</m:t>
                    </m:r>
                    <m:r>
                      <m:t>0.50</m:t>
                    </m:r>
                  </m:oMath>
                </a14:m>
                <a:r>
                  <a:rPr/>
                  <a:t>), the simulated sample proportions cluster around </a:t>
                </a:r>
                <a14:m>
                  <m:oMath xmlns:m="http://schemas.openxmlformats.org/officeDocument/2006/math">
                    <m:r>
                      <m:t>0.50</m:t>
                    </m:r>
                  </m:oMath>
                </a14:m>
                <a:r>
                  <a:rPr/>
                  <a:t>.</a:t>
                </a:r>
              </a:p>
              <a:p>
                <a:pPr lvl="0" indent="-342900" marL="342900">
                  <a:buAutoNum type="arabicPeriod"/>
                </a:pPr>
                <a:r>
                  <a:rPr/>
                  <a:t>Almost all fall roughly between </a:t>
                </a:r>
                <a14:m>
                  <m:oMath xmlns:m="http://schemas.openxmlformats.org/officeDocument/2006/math">
                    <m:r>
                      <m:t>0.39</m:t>
                    </m:r>
                  </m:oMath>
                </a14:m>
                <a:r>
                  <a:rPr/>
                  <a:t> and </a:t>
                </a:r>
                <a14:m>
                  <m:oMath xmlns:m="http://schemas.openxmlformats.org/officeDocument/2006/math">
                    <m:r>
                      <m:t>0.61</m:t>
                    </m:r>
                  </m:oMath>
                </a14:m>
                <a:r>
                  <a:rPr/>
                  <a:t> (about </a:t>
                </a:r>
                <a14:m>
                  <m:oMath xmlns:m="http://schemas.openxmlformats.org/officeDocument/2006/math">
                    <m:r>
                      <m:t>31</m:t>
                    </m:r>
                  </m:oMath>
                </a14:m>
                <a:r>
                  <a:rPr/>
                  <a:t> to </a:t>
                </a:r>
                <a14:m>
                  <m:oMath xmlns:m="http://schemas.openxmlformats.org/officeDocument/2006/math">
                    <m:r>
                      <m:t>49</m:t>
                    </m:r>
                  </m:oMath>
                </a14:m>
                <a:r>
                  <a:rPr/>
                  <a:t> of the </a:t>
                </a:r>
                <a14:m>
                  <m:oMath xmlns:m="http://schemas.openxmlformats.org/officeDocument/2006/math">
                    <m:r>
                      <m:t>80</m:t>
                    </m:r>
                  </m:oMath>
                </a14:m>
                <a:r>
                  <a:rPr/>
                  <a:t> children).</a:t>
                </a:r>
              </a:p>
              <a:p>
                <a:pPr lvl="0" indent="-342900" marL="342900">
                  <a:buAutoNum type="arabicPeriod"/>
                </a:pPr>
                <a:r>
                  <a:rPr/>
                  <a:t>The observed </a:t>
                </a:r>
                <a14:m>
                  <m:oMath xmlns:m="http://schemas.openxmlformats.org/officeDocument/2006/math">
                    <m:acc>
                      <m:accPr>
                        <m:chr m:val="̂"/>
                      </m:accPr>
                      <m:e>
                        <m:r>
                          <m:t>p</m:t>
                        </m:r>
                      </m:e>
                    </m:acc>
                    <m:r>
                      <m:rPr>
                        <m:sty m:val="p"/>
                      </m:rPr>
                      <m:t>=</m:t>
                    </m:r>
                    <m:r>
                      <m:t>0.65</m:t>
                    </m:r>
                  </m:oMath>
                </a14:m>
                <a:r>
                  <a:rPr/>
                  <a:t> sits beyond that typical range, in the tail — so chance alone is an unlikely explanation. We will make this precise with a </a:t>
                </a:r>
                <a14:m>
                  <m:oMath xmlns:m="http://schemas.openxmlformats.org/officeDocument/2006/math">
                    <m:r>
                      <m:t>p</m:t>
                    </m:r>
                  </m:oMath>
                </a14:m>
                <a:r>
                  <a:rPr/>
                  <a:t>-value later in the chapter.</a:t>
                </a:r>
              </a:p>
            </p:txBody>
          </p:sp>
        </mc:Choice>
      </mc:AlternateContent>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hypothesis testing framework</a:t>
            </a:r>
          </a:p>
        </p:txBody>
      </p:sp>
      <p:sp>
        <p:nvSpPr>
          <p:cNvPr id="3" name="Content Placeholder 2"/>
          <p:cNvSpPr>
            <a:spLocks noGrp="1"/>
          </p:cNvSpPr>
          <p:nvPr>
            <p:ph idx="1"/>
          </p:nvPr>
        </p:nvSpPr>
        <p:spPr/>
        <p:txBody>
          <a:bodyPr/>
          <a:lstStyle/>
          <a:p>
            <a:pPr lvl="0" indent="0" marL="0">
              <a:spcBef>
                <a:spcPts val="3000"/>
              </a:spcBef>
              <a:buNone/>
            </a:pPr>
            <a:r>
              <a:rPr b="1"/>
              <a:t>Hypothesis testing</a:t>
            </a:r>
          </a:p>
        </p:txBody>
      </p:sp>
    </p:spTree>
  </p:cSld>
</p:sld>
</file>

<file path=ppt/slides/slide7.xml><?xml version="1.0" encoding="UTF-8"?><p:sld xmlns:a="http://schemas.openxmlformats.org/drawingml/2006/main" xmlns:r="http://schemas.openxmlformats.org/officeDocument/2006/relationships" xmlns:p="http://schemas.openxmlformats.org/presentationml/2006/main"><p:cSld><p:spTree><p:nvGrpSpPr><p:cNvPr id="1" name="" /><p:cNvGrpSpPr /><p:nvPr /></p:nvGrpSpPr><p:grpSpPr><a:xfrm><a:off x="0" y="0" /><a:ext cx="0" cy="0" /><a:chOff x="0" y="0" /><a:chExt cx="0" cy="0" /></a:xfrm></p:grpSpPr><p:sp><p:nvSpPr><p:cNvPr id="2" name="Title 1" /><p:cNvSpPr><a:spLocks noGrp="1" /></p:cNvSpPr><p:nvPr><p:ph type="title" /></p:nvPr></p:nvSpPr><p:spPr><a:xfrm><a:off x="457201" y="204787" /><a:ext cx="3008313" cy="871538" /></a:xfrm></p:spPr><p:txBody><a:bodyPr /><a:lstStyle /><a:p><a:pPr lvl="0" indent="0" marL="0"><a:buNone /></a:pPr><a:r><a:rPr /><a:t>Null and alternative hypotheses</a:t></a:r></a:p></p:txBody></p:sp><p:sp><p:nvSpPr><p:cNvPr id="4" name="Text Placeholder 3" /><p:cNvSpPr><a:spLocks noGrp="1" /></p:cNvSpPr><p:nvPr><p:ph idx="2" sz="half" type="body" /></p:nvPr></p:nvSpPr><p:spPr /><p:txBody><a:bodyPr /><a:lstStyle /><a:p><a:pPr lvl="0" indent="0" marL="0"><a:spcBef><a:spcPts val="3000" /></a:spcBef><a:buNone /></a:pPr><a:r><a:rPr b="1" /><a:t>The shape of a hypothesis</a:t></a:r></a:p></p:txBody></p:sp><p:graphicFrame><p:nvGraphicFramePr><p:cNvPr id="6" name="Content Placeholder 5" /><p:cNvGraphicFramePr><a:graphicFrameLocks noGrp="1" /></p:cNvGraphicFramePr><p:nvPr><p:ph idx="1" /></p:nvPr></p:nvGraphicFramePr><p:xfrm><a:off x="3568700" y="203200" /><a:ext cx="5105400" cy="4381500" /></p:xfrm><a:graphic><a:graphicData uri="http://schemas.openxmlformats.org/drawingml/2006/table"><a:tbl><a:tblPr firstRow="1" bandRow="1"><a:tableStyleId>{5C22544A-7EE6-4342-B048-85BDC9FD1C3A}</a:tableStyleId></a:tblPr><a:tblGrid><a:gridCol w="1130300" /><a:gridCol w="1422400" /><a:gridCol w="1422400" /><a:gridCol w="1130300" /></a:tblGrid><a:tr h="0"><a:tc><a:txBody><a:bodyPr /><a:lstStyle /><a:p><a:pPr lvl="0" indent="0" marL="0" algn="l"><a:buNone /></a:pPr><a:r><a:rPr /><a:t>The question is about…</a:t></a:r></a:p></a:txBody><a:tcPr /></a:tc><a:tc><a:txBody><a:bodyPr /><a:lstStyle /><a:p><a:pPr lvl="0" indent="0" marL="0" algn="ctr"><a:buNone /></a:pPr><a:r><a:rPr /><a:t>Null hypothesis (“no effect”)</a:t></a:r></a:p></a:txBody><a:tcPr /></a:tc><a:tc><a:txBody><a:bodyPr /><a:lstStyle /><a:p><a:pPr lvl="0" indent="0" marL="0" algn="ctr"><a:buNone /></a:pPr><a:r><a:rPr /><a:t>Alternative (pick one direction)</a:t></a:r></a:p></a:txBody><a:tcPr /></a:tc><a:tc><a:txBody><a:bodyPr /><a:lstStyle /><a:p><a:pPr lvl="0" indent="0" marL="0" algn="l"><a:buNone /></a:pPr><a:r><a:rPr /><a:t>A question of this kind</a:t></a:r></a:p></a:txBody><a:tcPr /></a:tc></a:tr><a:tr h="0"><a:tc><a:txBody><a:bodyPr /><a:lstStyle /><a:p><a:pPr lvl="0" indent="0" marL="0" algn="l"><a:buNone /></a:pPr><a:r><a:rPr /><a:t>one proportion </a:t></a:r><a14:m><m:oMath xmlns:m="http://schemas.openxmlformats.org/officeDocument/2006/math"><m:r><m:t>p</m:t></m:r></m:oMath></a14:m></a:p></a:txBody></a:tc><a:tc><a:txBody><a:bodyPr /><a:lstStyle /><a:p><a:pPr lvl="0" indent="0" marL="0" algn="ctr"><a:buNone /></a:pPr><a14:m><m:oMath xmlns:m="http://schemas.openxmlformats.org/officeDocument/2006/math"><m:r><m:t>p</m:t></m:r><m:r><m:rPr><m:sty m:val="p" /></m:rPr><m:t>=</m:t></m:r><m:sSub><m:e><m:r><m:t>p</m:t></m:r></m:e><m:sub><m:r><m:t>0</m:t></m:r></m:sub></m:sSub></m:oMath></a14:m></a:p></a:txBody></a:tc><a:tc><a:txBody><a:bodyPr /><a:lstStyle /><a:p><a:pPr lvl="0" indent="0" marL="0" algn="ctr"><a:buNone /></a:pPr><a14:m><m:oMath xmlns:m="http://schemas.openxmlformats.org/officeDocument/2006/math"><m:r><m:t>p</m:t></m:r><m:r><m:rPr><m:sty m:val="p" /></m:rPr><m:t>≠</m:t></m:r><m:sSub><m:e><m:r><m:t>p</m:t></m:r></m:e><m:sub><m:r><m:t>0</m:t></m:r></m:sub></m:sSub><m:r><m:rPr><m:sty m:val="p" /></m:rPr><m:t>,</m:t></m:r><m:r><m:t> </m:t></m:r><m:r><m:t>p</m:t></m:r><m:r><m:rPr><m:sty m:val="p" /></m:rPr><m:t>&gt;</m:t></m:r><m:sSub><m:e><m:r><m:t>p</m:t></m:r></m:e><m:sub><m:r><m:t>0</m:t></m:r></m:sub></m:sSub><m:r><m:rPr><m:sty m:val="p" /></m:rPr><m:t>,</m:t></m:r><m:r><m:t> </m:t></m:r><m:r><m:t>p</m:t></m:r><m:r><m:rPr><m:sty m:val="p" /></m:rPr><m:t>&lt;</m:t></m:r><m:sSub><m:e><m:r><m:t>p</m:t></m:r></m:e><m:sub><m:r><m:t>0</m:t></m:r></m:sub></m:sSub></m:oMath></a14:m></a:p></a:txBody></a:tc><a:tc><a:txBody><a:bodyPr /><a:lstStyle /><a:p><a:pPr lvl="0" indent="0" marL="0" algn="l"><a:buNone /></a:pPr><a:r><a:rPr /><a:t>Do more than half of children pick the cartoon box? (</a:t></a:r><a14:m><m:oMath xmlns:m="http://schemas.openxmlformats.org/officeDocument/2006/math"><m:sSub><m:e><m:r><m:t>p</m:t></m:r></m:e><m:sub><m:r><m:t>0</m:t></m:r></m:sub></m:sSub><m:r><m:rPr><m:sty m:val="p" /></m:rPr><m:t>=</m:t></m:r><m:r><m:t>0.5</m:t></m:r></m:oMath></a14:m><a:r><a:rPr /><a:t>)</a:t></a:r></a:p></a:txBody></a:tc></a:tr><a:tr h="0"><a:tc><a:txBody><a:bodyPr /><a:lstStyle /><a:p><a:pPr lvl="0" indent="0" marL="0" algn="l"><a:buNone /></a:pPr><a:r><a:rPr /><a:t>one mean </a:t></a:r><a14:m><m:oMath xmlns:m="http://schemas.openxmlformats.org/officeDocument/2006/math"><m:r><m:t>μ</m:t></m:r></m:oMath></a14:m></a:p></a:txBody></a:tc><a:tc><a:txBody><a:bodyPr /><a:lstStyle /><a:p><a:pPr lvl="0" indent="0" marL="0" algn="ctr"><a:buNone /></a:pPr><a14:m><m:oMath xmlns:m="http://schemas.openxmlformats.org/officeDocument/2006/math"><m:r><m:t>μ</m:t></m:r><m:r><m:rPr><m:sty m:val="p" /></m:rPr><m:t>=</m:t></m:r><m:sSub><m:e><m:r><m:t>μ</m:t></m:r></m:e><m:sub><m:r><m:t>0</m:t></m:r></m:sub></m:sSub></m:oMath></a14:m></a:p></a:txBody></a:tc><a:tc><a:txBody><a:bodyPr /><a:lstStyle /><a:p><a:pPr lvl="0" indent="0" marL="0" algn="ctr"><a:buNone /></a:pPr><a14:m><m:oMath xmlns:m="http://schemas.openxmlformats.org/officeDocument/2006/math"><m:r><m:t>μ</m:t></m:r><m:r><m:rPr><m:sty m:val="p" /></m:rPr><m:t>≠</m:t></m:r><m:sSub><m:e><m:r><m:t>μ</m:t></m:r></m:e><m:sub><m:r><m:t>0</m:t></m:r></m:sub></m:sSub><m:r><m:rPr><m:sty m:val="p" /></m:rPr><m:t>,</m:t></m:r><m:r><m:t> </m:t></m:r><m:r><m:t>μ</m:t></m:r><m:r><m:rPr><m:sty m:val="p" /></m:rPr><m:t>&gt;</m:t></m:r><m:sSub><m:e><m:r><m:t>μ</m:t></m:r></m:e><m:sub><m:r><m:t>0</m:t></m:r></m:sub></m:sSub><m:r><m:rPr><m:sty m:val="p" /></m:rPr><m:t>,</m:t></m:r><m:r><m:t> </m:t></m:r><m:r><m:t>μ</m:t></m:r><m:r><m:rPr><m:sty m:val="p" /></m:rPr><m:t>&lt;</m:t></m:r><m:sSub><m:e><m:r><m:t>μ</m:t></m:r></m:e><m:sub><m:r><m:t>0</m:t></m:r></m:sub></m:sSub></m:oMath></a14:m></a:p></a:txBody></a:tc><a:tc><a:txBody><a:bodyPr /><a:lstStyle /><a:p><a:pPr lvl="0" indent="0" marL="0" algn="l"><a:buNone /></a:pPr><a:r><a:rPr /><a:t>Do the bags really average the 16 oz on the label? (</a:t></a:r><a14:m><m:oMath xmlns:m="http://schemas.openxmlformats.org/officeDocument/2006/math"><m:sSub><m:e><m:r><m:t>μ</m:t></m:r></m:e><m:sub><m:r><m:t>0</m:t></m:r></m:sub></m:sSub><m:r><m:rPr><m:sty m:val="p" /></m:rPr><m:t>=</m:t></m:r><m:r><m:t>16</m:t></m:r></m:oMath></a14:m><a:r><a:rPr /><a:t>)</a:t></a:r></a:p></a:txBody></a:tc></a:tr><a:tr h="0"><a:tc><a:txBody><a:bodyPr /><a:lstStyle /><a:p><a:pPr lvl="0" indent="0" marL="0" algn="l"><a:buNone /></a:pPr><a:r><a:rPr /><a:t>a difference in proportions</a:t></a:r></a:p></a:txBody></a:tc><a:tc><a:txBody><a:bodyPr /><a:lstStyle /><a:p><a:pPr lvl="0" indent="0" marL="0" algn="ctr"><a:buNone /></a:pPr><a14:m><m:oMath xmlns:m="http://schemas.openxmlformats.org/officeDocument/2006/math"><m:sSub><m:e><m:r><m:t>p</m:t></m:r></m:e><m:sub><m:r><m:t>1</m:t></m:r></m:sub></m:sSub><m:r><m:rPr><m:sty m:val="p" /></m:rPr><m:t>−</m:t></m:r><m:sSub><m:e><m:r><m:t>p</m:t></m:r></m:e><m:sub><m:r><m:t>2</m:t></m:r></m:sub></m:sSub><m:r><m:rPr><m:sty m:val="p" /></m:rPr><m:t>=</m:t></m:r><m:r><m:t>0</m:t></m:r></m:oMath></a14:m></a:p></a:txBody></a:tc><a:tc><a:txBody><a:bodyPr /><a:lstStyle /><a:p><a:pPr lvl="0" indent="0" marL="0" algn="ctr"><a:buNone /></a:pPr><a14:m><m:oMath xmlns:m="http://schemas.openxmlformats.org/officeDocument/2006/math"><m:sSub><m:e><m:r><m:t>p</m:t></m:r></m:e><m:sub><m:r><m:t>1</m:t></m:r></m:sub></m:sSub><m:r><m:rPr><m:sty m:val="p" /></m:rPr><m:t>−</m:t></m:r><m:sSub><m:e><m:r><m:t>p</m:t></m:r></m:e><m:sub><m:r><m:t>2</m:t></m:r></m:sub></m:sSub><m:r><m:rPr><m:sty m:val="p" /></m:rPr><m:t>≠</m:t></m:r><m:r><m:t>0</m:t></m:r><m:r><m:rPr><m:sty m:val="p" /></m:rPr><m:t>,</m:t></m:r><m:r><m:t> </m:t></m:r><m:r><m:rPr><m:sty m:val="p" /></m:rPr><m:t>&gt;</m:t></m:r><m:r><m:t>0</m:t></m:r><m:r><m:rPr><m:sty m:val="p" /></m:rPr><m:t>,</m:t></m:r><m:r><m:t> </m:t></m:r><m:r><m:rPr><m:sty m:val="p" /></m:rPr><m:t>&lt;</m:t></m:r><m:r><m:t>0</m:t></m:r></m:oMath></a14:m></a:p></a:txBody></a:tc><a:tc><a:txBody><a:bodyPr /><a:lstStyle /><a:p><a:pPr lvl="0" indent="0" marL="0" algn="l"><a:buNone /></a:pPr><a:r><a:rPr /><a:t>Do two groups differ in who skips the video?</a:t></a:r></a:p></a:txBody></a:tc></a:tr><a:tr h="0"><a:tc><a:txBody><a:bodyPr /><a:lstStyle /><a:p><a:pPr lvl="0" indent="0" marL="0" algn="l"><a:buNone /></a:pPr><a:r><a:rPr /><a:t>a difference in means</a:t></a:r></a:p></a:txBody></a:tc><a:tc><a:txBody><a:bodyPr /><a:lstStyle /><a:p><a:pPr lvl="0" indent="0" marL="0" algn="ctr"><a:buNone /></a:pPr><a14:m><m:oMath xmlns:m="http://schemas.openxmlformats.org/officeDocument/2006/math"><m:sSub><m:e><m:r><m:t>μ</m:t></m:r></m:e><m:sub><m:r><m:t>1</m:t></m:r></m:sub></m:sSub><m:r><m:rPr><m:sty m:val="p" /></m:rPr><m:t>−</m:t></m:r><m:sSub><m:e><m:r><m:t>μ</m:t></m:r></m:e><m:sub><m:r><m:t>2</m:t></m:r></m:sub></m:sSub><m:r><m:rPr><m:sty m:val="p" /></m:rPr><m:t>=</m:t></m:r><m:r><m:t>0</m:t></m:r></m:oMath></a14:m></a:p></a:txBody></a:tc><a:tc><a:txBody><a:bodyPr /><a:lstStyle /><a:p><a:pPr lvl="0" indent="0" marL="0" algn="ctr"><a:buNone /></a:pPr><a14:m><m:oMath xmlns:m="http://schemas.openxmlformats.org/officeDocument/2006/math"><m:sSub><m:e><m:r><m:t>μ</m:t></m:r></m:e><m:sub><m:r><m:t>1</m:t></m:r></m:sub></m:sSub><m:r><m:rPr><m:sty m:val="p" /></m:rPr><m:t>−</m:t></m:r><m:sSub><m:e><m:r><m:t>μ</m:t></m:r></m:e><m:sub><m:r><m:t>2</m:t></m:r></m:sub></m:sSub><m:r><m:rPr><m:sty m:val="p" /></m:rPr><m:t>≠</m:t></m:r><m:r><m:t>0</m:t></m:r><m:r><m:rPr><m:sty m:val="p" /></m:rPr><m:t>,</m:t></m:r><m:r><m:t> </m:t></m:r><m:r><m:rPr><m:sty m:val="p" /></m:rPr><m:t>&gt;</m:t></m:r><m:r><m:t>0</m:t></m:r><m:r><m:rPr><m:sty m:val="p" /></m:rPr><m:t>,</m:t></m:r><m:r><m:t> </m:t></m:r><m:r><m:rPr><m:sty m:val="p" /></m:rPr><m:t>&lt;</m:t></m:r><m:r><m:t>0</m:t></m:r></m:oMath></a14:m></a:p></a:txBody></a:tc><a:tc><a:txBody><a:bodyPr /><a:lstStyle /><a:p><a:pPr lvl="0" indent="0" marL="0" algn="l"><a:buNone /></a:pPr><a:r><a:rPr /><a:t>Is average income higher in eastern than western states?</a:t></a:r></a:p></a:txBody></a:tc></a:tr></a:tbl></a:graphicData></a:graphic></p:graphicFrame></p:spTree></p:cSld></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Example 2</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Class Example 7.1: Defining statistical hypotheses</a:t>
                </a:r>
              </a:p>
              <a:p>
                <a:pPr lvl="0" indent="0" marL="0">
                  <a:buNone/>
                </a:pPr>
                <a:r>
                  <a:rPr/>
                  <a:t>For each of the following scenarios, state the null and alternative hypotheses with the relevant parameter(s).</a:t>
                </a:r>
              </a:p>
              <a:p>
                <a:pPr lvl="0" indent="-342900" marL="342900">
                  <a:buAutoNum type="alphaLcParenR"/>
                </a:pPr>
                <a:r>
                  <a:rPr/>
                  <a:t>We are testing to see if the average income is different in eastern states than western states.</a:t>
                </a:r>
              </a:p>
              <a:p>
                <a:pPr lvl="0" indent="0" marL="0">
                  <a:buNone/>
                </a:pPr>
                <a:r>
                  <a:rPr/>
                  <a:t>. . .</a:t>
                </a:r>
              </a:p>
              <a:p>
                <a:pPr lvl="0" indent="-342900" marL="342900">
                  <a:buAutoNum type="arabicPeriod"/>
                </a:pPr>
                <a:r>
                  <a:rPr/>
                  <a:t>Parameters: </a:t>
                </a:r>
                <a14:m>
                  <m:oMath xmlns:m="http://schemas.openxmlformats.org/officeDocument/2006/math">
                    <m:sSub>
                      <m:e>
                        <m:r>
                          <m:t>μ</m:t>
                        </m:r>
                      </m:e>
                      <m:sub>
                        <m:r>
                          <m:t>E</m:t>
                        </m:r>
                      </m:sub>
                    </m:sSub>
                  </m:oMath>
                </a14:m>
                <a:r>
                  <a:rPr/>
                  <a:t> and </a:t>
                </a:r>
                <a14:m>
                  <m:oMath xmlns:m="http://schemas.openxmlformats.org/officeDocument/2006/math">
                    <m:sSub>
                      <m:e>
                        <m:r>
                          <m:t>μ</m:t>
                        </m:r>
                      </m:e>
                      <m:sub>
                        <m:r>
                          <m:t>W</m:t>
                        </m:r>
                      </m:sub>
                    </m:sSub>
                  </m:oMath>
                </a14:m>
                <a:r>
                  <a:rPr/>
                  <a:t>, the mean income in eastern and western states.</a:t>
                </a:r>
              </a:p>
              <a:p>
                <a:pPr lvl="0" indent="-342900" marL="342900">
                  <a:buAutoNum type="arabicPeriod"/>
                </a:pPr>
                <a14:m>
                  <m:oMath xmlns:m="http://schemas.openxmlformats.org/officeDocument/2006/math">
                    <m:sSub>
                      <m:e>
                        <m:r>
                          <m:t>H</m:t>
                        </m:r>
                      </m:e>
                      <m:sub>
                        <m:r>
                          <m:t>0</m:t>
                        </m:r>
                      </m:sub>
                    </m:sSub>
                    <m:r>
                      <m:rPr>
                        <m:sty m:val="p"/>
                      </m:rPr>
                      <m:t>:</m:t>
                    </m:r>
                    <m:sSub>
                      <m:e>
                        <m:r>
                          <m:t>μ</m:t>
                        </m:r>
                      </m:e>
                      <m:sub>
                        <m:r>
                          <m:t>E</m:t>
                        </m:r>
                      </m:sub>
                    </m:sSub>
                    <m:r>
                      <m:rPr>
                        <m:sty m:val="p"/>
                      </m:rPr>
                      <m:t>−</m:t>
                    </m:r>
                    <m:sSub>
                      <m:e>
                        <m:r>
                          <m:t>μ</m:t>
                        </m:r>
                      </m:e>
                      <m:sub>
                        <m:r>
                          <m:t>W</m:t>
                        </m:r>
                      </m:sub>
                    </m:sSub>
                    <m:r>
                      <m:rPr>
                        <m:sty m:val="p"/>
                      </m:rPr>
                      <m:t>=</m:t>
                    </m:r>
                    <m:r>
                      <m:t>0</m:t>
                    </m:r>
                  </m:oMath>
                </a14:m>
                <a:r>
                  <a:rPr/>
                  <a:t> (no difference in average income).</a:t>
                </a:r>
              </a:p>
              <a:p>
                <a:pPr lvl="0" indent="-342900" marL="342900">
                  <a:buAutoNum type="arabicPeriod"/>
                </a:pPr>
                <a14:m>
                  <m:oMath xmlns:m="http://schemas.openxmlformats.org/officeDocument/2006/math">
                    <m:sSub>
                      <m:e>
                        <m:r>
                          <m:t>H</m:t>
                        </m:r>
                      </m:e>
                      <m:sub>
                        <m:r>
                          <m:t>A</m:t>
                        </m:r>
                      </m:sub>
                    </m:sSub>
                    <m:r>
                      <m:rPr>
                        <m:sty m:val="p"/>
                      </m:rPr>
                      <m:t>:</m:t>
                    </m:r>
                    <m:sSub>
                      <m:e>
                        <m:r>
                          <m:t>μ</m:t>
                        </m:r>
                      </m:e>
                      <m:sub>
                        <m:r>
                          <m:t>E</m:t>
                        </m:r>
                      </m:sub>
                    </m:sSub>
                    <m:r>
                      <m:rPr>
                        <m:sty m:val="p"/>
                      </m:rPr>
                      <m:t>−</m:t>
                    </m:r>
                    <m:sSub>
                      <m:e>
                        <m:r>
                          <m:t>μ</m:t>
                        </m:r>
                      </m:e>
                      <m:sub>
                        <m:r>
                          <m:t>W</m:t>
                        </m:r>
                      </m:sub>
                    </m:sSub>
                    <m:r>
                      <m:rPr>
                        <m:sty m:val="p"/>
                      </m:rPr>
                      <m:t>≠</m:t>
                    </m:r>
                    <m:r>
                      <m:t>0</m:t>
                    </m:r>
                  </m:oMath>
                </a14:m>
                <a:r>
                  <a:rPr/>
                  <a:t> (two-sided — “different” gives no direction).</a:t>
                </a:r>
              </a:p>
              <a:p>
                <a:pPr lvl="0" indent="-342900" marL="342900">
                  <a:buAutoNum startAt="2" type="alphaLcParenR"/>
                </a:pPr>
                <a:r>
                  <a:rPr/>
                  <a:t>We are testing to see if the average income is greater in eastern stats than western states.</a:t>
                </a:r>
              </a:p>
              <a:p>
                <a:pPr lvl="0" indent="0" marL="0">
                  <a:buNone/>
                </a:pPr>
                <a:r>
                  <a:rPr/>
                  <a:t>. . .</a:t>
                </a:r>
              </a:p>
              <a:p>
                <a:pPr lvl="0" indent="-342900" marL="342900">
                  <a:buAutoNum type="arabicPeriod"/>
                </a:pPr>
                <a:r>
                  <a:rPr/>
                  <a:t>Parameters: </a:t>
                </a:r>
                <a14:m>
                  <m:oMath xmlns:m="http://schemas.openxmlformats.org/officeDocument/2006/math">
                    <m:sSub>
                      <m:e>
                        <m:r>
                          <m:t>μ</m:t>
                        </m:r>
                      </m:e>
                      <m:sub>
                        <m:r>
                          <m:t>E</m:t>
                        </m:r>
                      </m:sub>
                    </m:sSub>
                  </m:oMath>
                </a14:m>
                <a:r>
                  <a:rPr/>
                  <a:t> and </a:t>
                </a:r>
                <a14:m>
                  <m:oMath xmlns:m="http://schemas.openxmlformats.org/officeDocument/2006/math">
                    <m:sSub>
                      <m:e>
                        <m:r>
                          <m:t>μ</m:t>
                        </m:r>
                      </m:e>
                      <m:sub>
                        <m:r>
                          <m:t>W</m:t>
                        </m:r>
                      </m:sub>
                    </m:sSub>
                  </m:oMath>
                </a14:m>
                <a:r>
                  <a:rPr/>
                  <a:t> as above.</a:t>
                </a:r>
              </a:p>
              <a:p>
                <a:pPr lvl="0" indent="-342900" marL="342900">
                  <a:buAutoNum type="arabicPeriod"/>
                </a:pPr>
                <a14:m>
                  <m:oMath xmlns:m="http://schemas.openxmlformats.org/officeDocument/2006/math">
                    <m:sSub>
                      <m:e>
                        <m:r>
                          <m:t>H</m:t>
                        </m:r>
                      </m:e>
                      <m:sub>
                        <m:r>
                          <m:t>0</m:t>
                        </m:r>
                      </m:sub>
                    </m:sSub>
                    <m:r>
                      <m:rPr>
                        <m:sty m:val="p"/>
                      </m:rPr>
                      <m:t>:</m:t>
                    </m:r>
                    <m:sSub>
                      <m:e>
                        <m:r>
                          <m:t>μ</m:t>
                        </m:r>
                      </m:e>
                      <m:sub>
                        <m:r>
                          <m:t>E</m:t>
                        </m:r>
                      </m:sub>
                    </m:sSub>
                    <m:r>
                      <m:rPr>
                        <m:sty m:val="p"/>
                      </m:rPr>
                      <m:t>−</m:t>
                    </m:r>
                    <m:sSub>
                      <m:e>
                        <m:r>
                          <m:t>μ</m:t>
                        </m:r>
                      </m:e>
                      <m:sub>
                        <m:r>
                          <m:t>W</m:t>
                        </m:r>
                      </m:sub>
                    </m:sSub>
                    <m:r>
                      <m:rPr>
                        <m:sty m:val="p"/>
                      </m:rPr>
                      <m:t>=</m:t>
                    </m:r>
                    <m:r>
                      <m:t>0</m:t>
                    </m:r>
                  </m:oMath>
                </a14:m>
                <a:r>
                  <a:rPr/>
                  <a:t>.</a:t>
                </a:r>
              </a:p>
              <a:p>
                <a:pPr lvl="0" indent="-342900" marL="342900">
                  <a:buAutoNum type="arabicPeriod"/>
                </a:pPr>
                <a14:m>
                  <m:oMath xmlns:m="http://schemas.openxmlformats.org/officeDocument/2006/math">
                    <m:sSub>
                      <m:e>
                        <m:r>
                          <m:t>H</m:t>
                        </m:r>
                      </m:e>
                      <m:sub>
                        <m:r>
                          <m:t>A</m:t>
                        </m:r>
                      </m:sub>
                    </m:sSub>
                    <m:r>
                      <m:rPr>
                        <m:sty m:val="p"/>
                      </m:rPr>
                      <m:t>:</m:t>
                    </m:r>
                    <m:sSub>
                      <m:e>
                        <m:r>
                          <m:t>μ</m:t>
                        </m:r>
                      </m:e>
                      <m:sub>
                        <m:r>
                          <m:t>E</m:t>
                        </m:r>
                      </m:sub>
                    </m:sSub>
                    <m:r>
                      <m:rPr>
                        <m:sty m:val="p"/>
                      </m:rPr>
                      <m:t>−</m:t>
                    </m:r>
                    <m:sSub>
                      <m:e>
                        <m:r>
                          <m:t>μ</m:t>
                        </m:r>
                      </m:e>
                      <m:sub>
                        <m:r>
                          <m:t>W</m:t>
                        </m:r>
                      </m:sub>
                    </m:sSub>
                    <m:r>
                      <m:rPr>
                        <m:sty m:val="p"/>
                      </m:rPr>
                      <m:t>&gt;</m:t>
                    </m:r>
                    <m:r>
                      <m:t>0</m:t>
                    </m:r>
                  </m:oMath>
                </a14:m>
                <a:r>
                  <a:rPr/>
                  <a:t> (one-sided — “greater” points east).</a:t>
                </a:r>
              </a:p>
              <a:p>
                <a:pPr lvl="0" indent="-342900" marL="342900">
                  <a:buAutoNum startAt="3" type="alphaLcParenR"/>
                </a:pPr>
                <a:r>
                  <a:rPr/>
                  <a:t>We are testing to see if a particular coin is weighted (i.e., not fair).</a:t>
                </a:r>
              </a:p>
              <a:p>
                <a:pPr lvl="0" indent="0" marL="0">
                  <a:buNone/>
                </a:pPr>
                <a:r>
                  <a:rPr/>
                  <a:t>. . .</a:t>
                </a:r>
              </a:p>
              <a:p>
                <a:pPr lvl="0" indent="-342900" marL="342900">
                  <a:buAutoNum type="arabicPeriod"/>
                </a:pPr>
                <a:r>
                  <a:rPr/>
                  <a:t>Parameter: </a:t>
                </a:r>
                <a14:m>
                  <m:oMath xmlns:m="http://schemas.openxmlformats.org/officeDocument/2006/math">
                    <m:r>
                      <m:t>p</m:t>
                    </m:r>
                  </m:oMath>
                </a14:m>
                <a:r>
                  <a:rPr/>
                  <a:t>, the true proportion of heads for this coin.</a:t>
                </a:r>
              </a:p>
              <a:p>
                <a:pPr lvl="0" indent="-342900" marL="342900">
                  <a:buAutoNum type="arabicPeriod"/>
                </a:pPr>
                <a14:m>
                  <m:oMath xmlns:m="http://schemas.openxmlformats.org/officeDocument/2006/math">
                    <m:sSub>
                      <m:e>
                        <m:r>
                          <m:t>H</m:t>
                        </m:r>
                      </m:e>
                      <m:sub>
                        <m:r>
                          <m:t>0</m:t>
                        </m:r>
                      </m:sub>
                    </m:sSub>
                    <m:r>
                      <m:rPr>
                        <m:sty m:val="p"/>
                      </m:rPr>
                      <m:t>:</m:t>
                    </m:r>
                    <m:r>
                      <m:t>p</m:t>
                    </m:r>
                    <m:r>
                      <m:rPr>
                        <m:sty m:val="p"/>
                      </m:rPr>
                      <m:t>=</m:t>
                    </m:r>
                    <m:r>
                      <m:t>0.5</m:t>
                    </m:r>
                  </m:oMath>
                </a14:m>
                <a:r>
                  <a:rPr/>
                  <a:t> (the coin is fair).</a:t>
                </a:r>
              </a:p>
              <a:p>
                <a:pPr lvl="0" indent="-342900" marL="342900">
                  <a:buAutoNum type="arabicPeriod"/>
                </a:pPr>
                <a14:m>
                  <m:oMath xmlns:m="http://schemas.openxmlformats.org/officeDocument/2006/math">
                    <m:sSub>
                      <m:e>
                        <m:r>
                          <m:t>H</m:t>
                        </m:r>
                      </m:e>
                      <m:sub>
                        <m:r>
                          <m:t>A</m:t>
                        </m:r>
                      </m:sub>
                    </m:sSub>
                    <m:r>
                      <m:rPr>
                        <m:sty m:val="p"/>
                      </m:rPr>
                      <m:t>:</m:t>
                    </m:r>
                    <m:r>
                      <m:t>p</m:t>
                    </m:r>
                    <m:r>
                      <m:rPr>
                        <m:sty m:val="p"/>
                      </m:rPr>
                      <m:t>≠</m:t>
                    </m:r>
                    <m:r>
                      <m:t>0.5</m:t>
                    </m:r>
                  </m:oMath>
                </a14:m>
                <a:r>
                  <a:rPr/>
                  <a:t> (two-sided — “not fair” could tip either way).</a:t>
                </a:r>
              </a:p>
              <a:p>
                <a:pPr lvl="0" indent="-342900" marL="342900">
                  <a:buAutoNum startAt="4" type="alphaLcParenR"/>
                </a:pPr>
                <a:r>
                  <a:rPr/>
                  <a:t>We are testing to see if the average rent in La Crosse is less than $850.</a:t>
                </a:r>
              </a:p>
              <a:p>
                <a:pPr lvl="0" indent="0" marL="0">
                  <a:buNone/>
                </a:pPr>
                <a:r>
                  <a:rPr/>
                  <a:t>. . .</a:t>
                </a:r>
              </a:p>
              <a:p>
                <a:pPr lvl="0" indent="-342900" marL="342900">
                  <a:buAutoNum type="arabicPeriod"/>
                </a:pPr>
                <a:r>
                  <a:rPr/>
                  <a:t>Parameter: </a:t>
                </a:r>
                <a14:m>
                  <m:oMath xmlns:m="http://schemas.openxmlformats.org/officeDocument/2006/math">
                    <m:r>
                      <m:t>μ</m:t>
                    </m:r>
                  </m:oMath>
                </a14:m>
                <a:r>
                  <a:rPr/>
                  <a:t>, the mean rent in La Crosse.</a:t>
                </a:r>
              </a:p>
              <a:p>
                <a:pPr lvl="0" indent="-342900" marL="342900">
                  <a:buAutoNum type="arabicPeriod"/>
                </a:pPr>
                <a14:m>
                  <m:oMath xmlns:m="http://schemas.openxmlformats.org/officeDocument/2006/math">
                    <m:sSub>
                      <m:e>
                        <m:r>
                          <m:t>H</m:t>
                        </m:r>
                      </m:e>
                      <m:sub>
                        <m:r>
                          <m:t>0</m:t>
                        </m:r>
                      </m:sub>
                    </m:sSub>
                    <m:r>
                      <m:rPr>
                        <m:sty m:val="p"/>
                      </m:rPr>
                      <m:t>:</m:t>
                    </m:r>
                    <m:r>
                      <m:t>μ</m:t>
                    </m:r>
                    <m:r>
                      <m:rPr>
                        <m:sty m:val="p"/>
                      </m:rPr>
                      <m:t>=</m:t>
                    </m:r>
                    <m:r>
                      <m:t>850</m:t>
                    </m:r>
                  </m:oMath>
                </a14:m>
                <a:r>
                  <a:rPr/>
                  <a:t>.</a:t>
                </a:r>
              </a:p>
              <a:p>
                <a:pPr lvl="0" indent="-342900" marL="342900">
                  <a:buAutoNum type="arabicPeriod"/>
                </a:pPr>
                <a14:m>
                  <m:oMath xmlns:m="http://schemas.openxmlformats.org/officeDocument/2006/math">
                    <m:sSub>
                      <m:e>
                        <m:r>
                          <m:t>H</m:t>
                        </m:r>
                      </m:e>
                      <m:sub>
                        <m:r>
                          <m:t>A</m:t>
                        </m:r>
                      </m:sub>
                    </m:sSub>
                    <m:r>
                      <m:rPr>
                        <m:sty m:val="p"/>
                      </m:rPr>
                      <m:t>:</m:t>
                    </m:r>
                    <m:r>
                      <m:t>μ</m:t>
                    </m:r>
                    <m:r>
                      <m:rPr>
                        <m:sty m:val="p"/>
                      </m:rPr>
                      <m:t>&lt;</m:t>
                    </m:r>
                    <m:r>
                      <m:t>850</m:t>
                    </m:r>
                  </m:oMath>
                </a14:m>
                <a:r>
                  <a:rPr/>
                  <a:t> (one-sided — “less than”).</a:t>
                </a:r>
              </a:p>
              <a:p>
                <a:pPr lvl="0" indent="-342900" marL="342900">
                  <a:buAutoNum startAt="5" type="alphaLcParenR"/>
                </a:pPr>
                <a:r>
                  <a:rPr/>
                  <a:t>We are testing to see if children have a preference for the cereal box with cartoons (above).</a:t>
                </a:r>
              </a:p>
              <a:p>
                <a:pPr lvl="0" indent="0" marL="0">
                  <a:buNone/>
                </a:pPr>
                <a:r>
                  <a:rPr/>
                  <a:t>. . .</a:t>
                </a:r>
              </a:p>
              <a:p>
                <a:pPr lvl="0" indent="-342900" marL="342900">
                  <a:buAutoNum type="arabicPeriod"/>
                </a:pPr>
                <a:r>
                  <a:rPr/>
                  <a:t>Parameter: </a:t>
                </a:r>
                <a14:m>
                  <m:oMath xmlns:m="http://schemas.openxmlformats.org/officeDocument/2006/math">
                    <m:r>
                      <m:t>p</m:t>
                    </m:r>
                  </m:oMath>
                </a14:m>
                <a:r>
                  <a:rPr/>
                  <a:t>, the proportion of children who choose the cartoon box.</a:t>
                </a:r>
              </a:p>
              <a:p>
                <a:pPr lvl="0" indent="-342900" marL="342900">
                  <a:buAutoNum type="arabicPeriod"/>
                </a:pPr>
                <a14:m>
                  <m:oMath xmlns:m="http://schemas.openxmlformats.org/officeDocument/2006/math">
                    <m:sSub>
                      <m:e>
                        <m:r>
                          <m:t>H</m:t>
                        </m:r>
                      </m:e>
                      <m:sub>
                        <m:r>
                          <m:t>0</m:t>
                        </m:r>
                      </m:sub>
                    </m:sSub>
                    <m:r>
                      <m:rPr>
                        <m:sty m:val="p"/>
                      </m:rPr>
                      <m:t>:</m:t>
                    </m:r>
                    <m:r>
                      <m:t>p</m:t>
                    </m:r>
                    <m:r>
                      <m:rPr>
                        <m:sty m:val="p"/>
                      </m:rPr>
                      <m:t>=</m:t>
                    </m:r>
                    <m:r>
                      <m:t>0.5</m:t>
                    </m:r>
                  </m:oMath>
                </a14:m>
                <a:r>
                  <a:rPr/>
                  <a:t> (no preference).</a:t>
                </a:r>
              </a:p>
              <a:p>
                <a:pPr lvl="0" indent="-342900" marL="342900">
                  <a:buAutoNum type="arabicPeriod"/>
                </a:pPr>
                <a14:m>
                  <m:oMath xmlns:m="http://schemas.openxmlformats.org/officeDocument/2006/math">
                    <m:sSub>
                      <m:e>
                        <m:r>
                          <m:t>H</m:t>
                        </m:r>
                      </m:e>
                      <m:sub>
                        <m:r>
                          <m:t>A</m:t>
                        </m:r>
                      </m:sub>
                    </m:sSub>
                    <m:r>
                      <m:rPr>
                        <m:sty m:val="p"/>
                      </m:rPr>
                      <m:t>:</m:t>
                    </m:r>
                    <m:r>
                      <m:t>p</m:t>
                    </m:r>
                    <m:r>
                      <m:rPr>
                        <m:sty m:val="p"/>
                      </m:rPr>
                      <m:t>&gt;</m:t>
                    </m:r>
                    <m:r>
                      <m:t>0.5</m:t>
                    </m:r>
                  </m:oMath>
                </a14:m>
                <a:r>
                  <a:rPr/>
                  <a:t> (one-sided — a preference </a:t>
                </a:r>
                <a:r>
                  <a:rPr i="1"/>
                  <a:t>for</a:t>
                </a:r>
                <a:r>
                  <a:rPr/>
                  <a:t> the cartoon box).</a:t>
                </a:r>
              </a:p>
            </p:txBody>
          </p:sp>
        </mc:Choice>
      </mc:AlternateContent>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Case study: Opportunity cost</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Example 3</a:t>
            </a:r>
          </a:p>
        </p:txBody>
      </p:sp>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r>
                  <a:rPr b="1"/>
                  <a:t>Class Example 7.2: Opportunity cost</a:t>
                </a:r>
              </a:p>
              <a:p>
                <a:pPr lvl="0" indent="0" marL="0">
                  <a:buNone/>
                </a:pPr>
                <a:r>
                  <a:rPr/>
                  <a:t>Using the opportunity cost case study, answer the following questions:</a:t>
                </a:r>
              </a:p>
              <a:p>
                <a:pPr lvl="0" indent="-342900" marL="342900">
                  <a:buAutoNum type="alphaLcParenR"/>
                </a:pPr>
                <a:r>
                  <a:rPr/>
                  <a:t>Is this an observational study or an experiment? How does the type of study impact what can be inferred from the results?</a:t>
                </a:r>
              </a:p>
              <a:p>
                <a:pPr lvl="0" indent="0" marL="0">
                  <a:buNone/>
                </a:pPr>
                <a:r>
                  <a:rPr/>
                  <a:t>. . .</a:t>
                </a:r>
              </a:p>
              <a:p>
                <a:pPr lvl="0" indent="-342900" marL="342900">
                  <a:buAutoNum type="arabicPeriod"/>
                </a:pPr>
                <a:r>
                  <a:rPr/>
                  <a:t>It is an </a:t>
                </a:r>
                <a:r>
                  <a:rPr b="1"/>
                  <a:t>experiment</a:t>
                </a:r>
                <a:r>
                  <a:rPr/>
                  <a:t>: the researchers randomly assigned which version of option (B) each student saw.</a:t>
                </a:r>
              </a:p>
              <a:p>
                <a:pPr lvl="0" indent="-342900" marL="342900">
                  <a:buAutoNum type="arabicPeriod"/>
                </a:pPr>
                <a:r>
                  <a:rPr/>
                  <a:t>Because the treatment was randomly assigned, the two groups are comparable, so a discernible difference can be attributed to the phrasing — we can make a </a:t>
                </a:r>
                <a:r>
                  <a:rPr b="1"/>
                  <a:t>causal</a:t>
                </a:r>
                <a:r>
                  <a:rPr/>
                  <a:t> claim, not just an association.</a:t>
                </a:r>
              </a:p>
              <a:p>
                <a:pPr lvl="0" indent="-342900" marL="342900">
                  <a:buAutoNum startAt="2" type="alphaLcParenR"/>
                </a:pPr>
                <a:r>
                  <a:rPr/>
                  <a:t>State the null and alternative hypotheses for this study.</a:t>
                </a:r>
              </a:p>
              <a:p>
                <a:pPr lvl="0" indent="0" marL="0">
                  <a:buNone/>
                </a:pPr>
                <a:r>
                  <a:rPr/>
                  <a:t>. . .</a:t>
                </a:r>
              </a:p>
              <a:p>
                <a:pPr lvl="0" indent="-342900" marL="342900">
                  <a:buAutoNum type="arabicPeriod"/>
                </a:pPr>
                <a:r>
                  <a:rPr/>
                  <a:t>Parameters: </a:t>
                </a:r>
                <a14:m>
                  <m:oMath xmlns:m="http://schemas.openxmlformats.org/officeDocument/2006/math">
                    <m:sSub>
                      <m:e>
                        <m:r>
                          <m:t>p</m:t>
                        </m:r>
                      </m:e>
                      <m:sub>
                        <m:r>
                          <m:t>T</m:t>
                        </m:r>
                      </m:sub>
                    </m:sSub>
                  </m:oMath>
                </a14:m>
                <a:r>
                  <a:rPr/>
                  <a:t> and </a:t>
                </a:r>
                <a14:m>
                  <m:oMath xmlns:m="http://schemas.openxmlformats.org/officeDocument/2006/math">
                    <m:sSub>
                      <m:e>
                        <m:r>
                          <m:t>p</m:t>
                        </m:r>
                      </m:e>
                      <m:sub>
                        <m:r>
                          <m:t>C</m:t>
                        </m:r>
                      </m:sub>
                    </m:sSub>
                  </m:oMath>
                </a14:m>
                <a:r>
                  <a:rPr/>
                  <a:t>, the proportion who do </a:t>
                </a:r>
                <a:r>
                  <a:rPr b="1"/>
                  <a:t>not</a:t>
                </a:r>
                <a:r>
                  <a:rPr/>
                  <a:t> buy the video in the treatment and control groups.</a:t>
                </a:r>
              </a:p>
              <a:p>
                <a:pPr lvl="0" indent="-342900" marL="342900">
                  <a:buAutoNum type="arabicPeriod"/>
                </a:pPr>
                <a14:m>
                  <m:oMath xmlns:m="http://schemas.openxmlformats.org/officeDocument/2006/math">
                    <m:sSub>
                      <m:e>
                        <m:r>
                          <m:t>H</m:t>
                        </m:r>
                      </m:e>
                      <m:sub>
                        <m:r>
                          <m:t>0</m:t>
                        </m:r>
                      </m:sub>
                    </m:sSub>
                    <m:r>
                      <m:rPr>
                        <m:sty m:val="p"/>
                      </m:rPr>
                      <m:t>:</m:t>
                    </m:r>
                    <m:sSub>
                      <m:e>
                        <m:r>
                          <m:t>p</m:t>
                        </m:r>
                      </m:e>
                      <m:sub>
                        <m:r>
                          <m:t>T</m:t>
                        </m:r>
                      </m:sub>
                    </m:sSub>
                    <m:r>
                      <m:rPr>
                        <m:sty m:val="p"/>
                      </m:rPr>
                      <m:t>−</m:t>
                    </m:r>
                    <m:sSub>
                      <m:e>
                        <m:r>
                          <m:t>p</m:t>
                        </m:r>
                      </m:e>
                      <m:sub>
                        <m:r>
                          <m:t>C</m:t>
                        </m:r>
                      </m:sub>
                    </m:sSub>
                    <m:r>
                      <m:rPr>
                        <m:sty m:val="p"/>
                      </m:rPr>
                      <m:t>=</m:t>
                    </m:r>
                    <m:r>
                      <m:t>0</m:t>
                    </m:r>
                  </m:oMath>
                </a14:m>
                <a:r>
                  <a:rPr/>
                  <a:t> (the reminder phrasing has no effect).</a:t>
                </a:r>
              </a:p>
              <a:p>
                <a:pPr lvl="0" indent="-342900" marL="342900">
                  <a:buAutoNum type="arabicPeriod"/>
                </a:pPr>
                <a14:m>
                  <m:oMath xmlns:m="http://schemas.openxmlformats.org/officeDocument/2006/math">
                    <m:sSub>
                      <m:e>
                        <m:r>
                          <m:t>H</m:t>
                        </m:r>
                      </m:e>
                      <m:sub>
                        <m:r>
                          <m:t>A</m:t>
                        </m:r>
                      </m:sub>
                    </m:sSub>
                    <m:r>
                      <m:rPr>
                        <m:sty m:val="p"/>
                      </m:rPr>
                      <m:t>:</m:t>
                    </m:r>
                    <m:sSub>
                      <m:e>
                        <m:r>
                          <m:t>p</m:t>
                        </m:r>
                      </m:e>
                      <m:sub>
                        <m:r>
                          <m:t>T</m:t>
                        </m:r>
                      </m:sub>
                    </m:sSub>
                    <m:r>
                      <m:rPr>
                        <m:sty m:val="p"/>
                      </m:rPr>
                      <m:t>−</m:t>
                    </m:r>
                    <m:sSub>
                      <m:e>
                        <m:r>
                          <m:t>p</m:t>
                        </m:r>
                      </m:e>
                      <m:sub>
                        <m:r>
                          <m:t>C</m:t>
                        </m:r>
                      </m:sub>
                    </m:sSub>
                    <m:r>
                      <m:rPr>
                        <m:sty m:val="p"/>
                      </m:rPr>
                      <m:t>&gt;</m:t>
                    </m:r>
                    <m:r>
                      <m:t>0</m:t>
                    </m:r>
                  </m:oMath>
                </a14:m>
                <a:r>
                  <a:rPr/>
                  <a:t> (the reminder increases the proportion who choose not to buy).</a:t>
                </a:r>
              </a:p>
            </p:txBody>
          </p:sp>
        </mc:Choice>
      </mc:AlternateContent>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endParaRPr/>
                    </a:p>
                  </a:txBody>
                  <a:tcPr/>
                </a:tc>
                <a:tc>
                  <a:txBody>
                    <a:bodyPr/>
                    <a:lstStyle/>
                    <a:p>
                      <a:pPr lvl="0" indent="0" marL="0" algn="ctr">
                        <a:buNone/>
                      </a:pPr>
                      <a:r>
                        <a:rPr/>
                        <a:t>Buy video</a:t>
                      </a:r>
                    </a:p>
                  </a:txBody>
                  <a:tcPr/>
                </a:tc>
                <a:tc>
                  <a:txBody>
                    <a:bodyPr/>
                    <a:lstStyle/>
                    <a:p>
                      <a:pPr lvl="0" indent="0" marL="0" algn="ctr">
                        <a:buNone/>
                      </a:pPr>
                      <a:r>
                        <a:rPr/>
                        <a:t>Not buy video</a:t>
                      </a:r>
                    </a:p>
                  </a:txBody>
                  <a:tcPr/>
                </a:tc>
                <a:tc>
                  <a:txBody>
                    <a:bodyPr/>
                    <a:lstStyle/>
                    <a:p>
                      <a:pPr lvl="0" indent="0" marL="0" algn="ctr">
                        <a:buNone/>
                      </a:pPr>
                      <a:r>
                        <a:rPr/>
                        <a:t>Total</a:t>
                      </a:r>
                    </a:p>
                  </a:txBody>
                  <a:tcPr/>
                </a:tc>
              </a:tr>
              <a:tr h="0">
                <a:tc>
                  <a:txBody>
                    <a:bodyPr/>
                    <a:lstStyle/>
                    <a:p>
                      <a:pPr lvl="0" indent="0" marL="0" algn="l">
                        <a:buNone/>
                      </a:pPr>
                      <a:r>
                        <a:rPr/>
                        <a:t>Control</a:t>
                      </a:r>
                    </a:p>
                  </a:txBody>
                </a:tc>
                <a:tc>
                  <a:txBody>
                    <a:bodyPr/>
                    <a:lstStyle/>
                    <a:p>
                      <a:pPr lvl="0" indent="0" marL="0" algn="ctr">
                        <a:buNone/>
                      </a:pPr>
                      <a:r>
                        <a:rPr/>
                        <a:t>56</a:t>
                      </a:r>
                    </a:p>
                  </a:txBody>
                </a:tc>
                <a:tc>
                  <a:txBody>
                    <a:bodyPr/>
                    <a:lstStyle/>
                    <a:p>
                      <a:pPr lvl="0" indent="0" marL="0" algn="ctr">
                        <a:buNone/>
                      </a:pPr>
                      <a:r>
                        <a:rPr/>
                        <a:t>19</a:t>
                      </a:r>
                    </a:p>
                  </a:txBody>
                </a:tc>
                <a:tc>
                  <a:txBody>
                    <a:bodyPr/>
                    <a:lstStyle/>
                    <a:p>
                      <a:pPr lvl="0" indent="0" marL="0" algn="ctr">
                        <a:buNone/>
                      </a:pPr>
                      <a:r>
                        <a:rPr/>
                        <a:t>75</a:t>
                      </a:r>
                    </a:p>
                  </a:txBody>
                </a:tc>
              </a:tr>
              <a:tr h="0">
                <a:tc>
                  <a:txBody>
                    <a:bodyPr/>
                    <a:lstStyle/>
                    <a:p>
                      <a:pPr lvl="0" indent="0" marL="0" algn="l">
                        <a:buNone/>
                      </a:pPr>
                      <a:r>
                        <a:rPr/>
                        <a:t>Treatment</a:t>
                      </a:r>
                    </a:p>
                  </a:txBody>
                </a:tc>
                <a:tc>
                  <a:txBody>
                    <a:bodyPr/>
                    <a:lstStyle/>
                    <a:p>
                      <a:pPr lvl="0" indent="0" marL="0" algn="ctr">
                        <a:buNone/>
                      </a:pPr>
                      <a:r>
                        <a:rPr/>
                        <a:t>41</a:t>
                      </a:r>
                    </a:p>
                  </a:txBody>
                </a:tc>
                <a:tc>
                  <a:txBody>
                    <a:bodyPr/>
                    <a:lstStyle/>
                    <a:p>
                      <a:pPr lvl="0" indent="0" marL="0" algn="ctr">
                        <a:buNone/>
                      </a:pPr>
                      <a:r>
                        <a:rPr/>
                        <a:t>34</a:t>
                      </a:r>
                    </a:p>
                  </a:txBody>
                </a:tc>
                <a:tc>
                  <a:txBody>
                    <a:bodyPr/>
                    <a:lstStyle/>
                    <a:p>
                      <a:pPr lvl="0" indent="0" marL="0" algn="ctr">
                        <a:buNone/>
                      </a:pPr>
                      <a:r>
                        <a:rPr/>
                        <a:t>75</a:t>
                      </a:r>
                    </a:p>
                  </a:txBody>
                </a:tc>
              </a:tr>
              <a:tr h="0">
                <a:tc>
                  <a:txBody>
                    <a:bodyPr/>
                    <a:lstStyle/>
                    <a:p>
                      <a:pPr lvl="0" indent="0" marL="0" algn="l">
                        <a:buNone/>
                      </a:pPr>
                      <a:r>
                        <a:rPr/>
                        <a:t>Total</a:t>
                      </a:r>
                    </a:p>
                  </a:txBody>
                </a:tc>
                <a:tc>
                  <a:txBody>
                    <a:bodyPr/>
                    <a:lstStyle/>
                    <a:p>
                      <a:pPr lvl="0" indent="0" marL="0" algn="ctr">
                        <a:buNone/>
                      </a:pPr>
                      <a:r>
                        <a:rPr/>
                        <a:t>97</a:t>
                      </a:r>
                    </a:p>
                  </a:txBody>
                </a:tc>
                <a:tc>
                  <a:txBody>
                    <a:bodyPr/>
                    <a:lstStyle/>
                    <a:p>
                      <a:pPr lvl="0" indent="0" marL="0" algn="ctr">
                        <a:buNone/>
                      </a:pPr>
                      <a:r>
                        <a:rPr/>
                        <a:t>53</a:t>
                      </a:r>
                    </a:p>
                  </a:txBody>
                </a:tc>
                <a:tc>
                  <a:txBody>
                    <a:bodyPr/>
                    <a:lstStyle/>
                    <a:p>
                      <a:pPr lvl="0" indent="0" marL="0" algn="ctr">
                        <a:buNone/>
                      </a:pPr>
                      <a:r>
                        <a:rPr/>
                        <a:t>150</a:t>
                      </a:r>
                    </a:p>
                  </a:txBody>
                </a:tc>
              </a:tr>
            </a:tbl>
          </a:graphicData>
        </a:graphic>
      </p:graphicFrame>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Example 4</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Class Example 7.3: Opportunity cost, revisited</a:t>
                </a:r>
              </a:p>
              <a:p>
                <a:pPr lvl="0" indent="0" marL="0">
                  <a:buNone/>
                </a:pPr>
                <a:r>
                  <a:rPr/>
                  <a:t>Compute the difference in the sample proportions of students who choose not to buy the video.</a:t>
                </a:r>
              </a:p>
              <a:p>
                <a:pPr lvl="0" indent="0" marL="0">
                  <a:buNone/>
                </a:pPr>
                <a:r>
                  <a:rPr/>
                  <a:t>. . .</a:t>
                </a:r>
              </a:p>
              <a:p>
                <a:pPr lvl="0" indent="-342900" marL="342900">
                  <a:buAutoNum type="arabicPeriod"/>
                </a:pPr>
                <a:r>
                  <a:rPr/>
                  <a:t>Control: </a:t>
                </a:r>
                <a14:m>
                  <m:oMath xmlns:m="http://schemas.openxmlformats.org/officeDocument/2006/math">
                    <m:sSub>
                      <m:e>
                        <m:acc>
                          <m:accPr>
                            <m:chr m:val="̂"/>
                          </m:accPr>
                          <m:e>
                            <m:r>
                              <m:t>p</m:t>
                            </m:r>
                          </m:e>
                        </m:acc>
                      </m:e>
                      <m:sub>
                        <m:r>
                          <m:t>C</m:t>
                        </m:r>
                      </m:sub>
                    </m:sSub>
                    <m:r>
                      <m:rPr>
                        <m:sty m:val="p"/>
                      </m:rPr>
                      <m:t>=</m:t>
                    </m:r>
                    <m:r>
                      <m:t>19</m:t>
                    </m:r>
                    <m:r>
                      <m:rPr>
                        <m:sty m:val="p"/>
                      </m:rPr>
                      <m:t>/</m:t>
                    </m:r>
                    <m:r>
                      <m:t>75</m:t>
                    </m:r>
                    <m:r>
                      <m:rPr>
                        <m:sty m:val="p"/>
                      </m:rPr>
                      <m:t>=</m:t>
                    </m:r>
                    <m:r>
                      <m:t>0.253</m:t>
                    </m:r>
                  </m:oMath>
                </a14:m>
                <a:r>
                  <a:rPr/>
                  <a:t>.</a:t>
                </a:r>
              </a:p>
              <a:p>
                <a:pPr lvl="0" indent="-342900" marL="342900">
                  <a:buAutoNum type="arabicPeriod"/>
                </a:pPr>
                <a:r>
                  <a:rPr/>
                  <a:t>Treatment: </a:t>
                </a:r>
                <a14:m>
                  <m:oMath xmlns:m="http://schemas.openxmlformats.org/officeDocument/2006/math">
                    <m:sSub>
                      <m:e>
                        <m:acc>
                          <m:accPr>
                            <m:chr m:val="̂"/>
                          </m:accPr>
                          <m:e>
                            <m:r>
                              <m:t>p</m:t>
                            </m:r>
                          </m:e>
                        </m:acc>
                      </m:e>
                      <m:sub>
                        <m:r>
                          <m:t>T</m:t>
                        </m:r>
                      </m:sub>
                    </m:sSub>
                    <m:r>
                      <m:rPr>
                        <m:sty m:val="p"/>
                      </m:rPr>
                      <m:t>=</m:t>
                    </m:r>
                    <m:r>
                      <m:t>34</m:t>
                    </m:r>
                    <m:r>
                      <m:rPr>
                        <m:sty m:val="p"/>
                      </m:rPr>
                      <m:t>/</m:t>
                    </m:r>
                    <m:r>
                      <m:t>75</m:t>
                    </m:r>
                    <m:r>
                      <m:rPr>
                        <m:sty m:val="p"/>
                      </m:rPr>
                      <m:t>=</m:t>
                    </m:r>
                    <m:r>
                      <m:t>0.453</m:t>
                    </m:r>
                  </m:oMath>
                </a14:m>
                <a:r>
                  <a:rPr/>
                  <a:t>.</a:t>
                </a:r>
              </a:p>
              <a:p>
                <a:pPr lvl="0" indent="-342900" marL="342900">
                  <a:buAutoNum type="arabicPeriod"/>
                </a:pPr>
                <a:r>
                  <a:rPr/>
                  <a:t>Difference: </a:t>
                </a:r>
                <a14:m>
                  <m:oMath xmlns:m="http://schemas.openxmlformats.org/officeDocument/2006/math">
                    <m:sSub>
                      <m:e>
                        <m:acc>
                          <m:accPr>
                            <m:chr m:val="̂"/>
                          </m:accPr>
                          <m:e>
                            <m:r>
                              <m:t>p</m:t>
                            </m:r>
                          </m:e>
                        </m:acc>
                      </m:e>
                      <m:sub>
                        <m:r>
                          <m:t>T</m:t>
                        </m:r>
                      </m:sub>
                    </m:sSub>
                    <m:r>
                      <m:rPr>
                        <m:sty m:val="p"/>
                      </m:rPr>
                      <m:t>−</m:t>
                    </m:r>
                    <m:sSub>
                      <m:e>
                        <m:acc>
                          <m:accPr>
                            <m:chr m:val="̂"/>
                          </m:accPr>
                          <m:e>
                            <m:r>
                              <m:t>p</m:t>
                            </m:r>
                          </m:e>
                        </m:acc>
                      </m:e>
                      <m:sub>
                        <m:r>
                          <m:t>C</m:t>
                        </m:r>
                      </m:sub>
                    </m:sSub>
                    <m:r>
                      <m:rPr>
                        <m:sty m:val="p"/>
                      </m:rPr>
                      <m:t>=</m:t>
                    </m:r>
                    <m:r>
                      <m:t>0.453</m:t>
                    </m:r>
                    <m:r>
                      <m:rPr>
                        <m:sty m:val="p"/>
                      </m:rPr>
                      <m:t>−</m:t>
                    </m:r>
                    <m:r>
                      <m:t>0.253</m:t>
                    </m:r>
                    <m:r>
                      <m:rPr>
                        <m:sty m:val="p"/>
                      </m:rPr>
                      <m:t>=</m:t>
                    </m:r>
                    <m:r>
                      <m:t>0.20</m:t>
                    </m:r>
                  </m:oMath>
                </a14:m>
                <a:r>
                  <a:rPr/>
                  <a:t> (treatment group is 20 percentage points more likely to not buy).</a:t>
                </a:r>
              </a:p>
            </p:txBody>
          </p:sp>
        </mc:Choice>
      </mc:AlternateContent>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Building a randomization distribution</a:t>
            </a:r>
          </a:p>
        </p:txBody>
      </p:sp>
      <p:sp>
        <p:nvSpPr>
          <p:cNvPr id="3" name="Content Placeholder 2"/>
          <p:cNvSpPr>
            <a:spLocks noGrp="1"/>
          </p:cNvSpPr>
          <p:nvPr>
            <p:ph idx="1"/>
          </p:nvPr>
        </p:nvSpPr>
        <p:spPr/>
        <p:txBody>
          <a:bodyPr/>
          <a:lstStyle/>
          <a:p>
            <a:pPr lvl="0" indent="0" marL="0">
              <a:spcBef>
                <a:spcPts val="3000"/>
              </a:spcBef>
              <a:buNone/>
            </a:pPr>
            <a:r>
              <a:rPr b="1"/>
              <a:t>The card-shuffling metaphor</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Example 5</a:t>
            </a:r>
          </a:p>
        </p:txBody>
      </p:sp>
      <p:sp>
        <p:nvSpPr>
          <p:cNvPr id="4" name="Text Placeholder 3"/>
          <p:cNvSpPr>
            <a:spLocks noGrp="1"/>
          </p:cNvSpPr>
          <p:nvPr>
            <p:ph idx="2" sz="half" type="body"/>
          </p:nvPr>
        </p:nvSpPr>
        <p:spPr/>
        <p:txBody>
          <a:bodyPr/>
          <a:lstStyle/>
          <a:p>
            <a:pPr lvl="0" indent="0" marL="0">
              <a:buNone/>
            </a:pPr>
            <a:r>
              <a:rPr/>
              <a:t>Think of the data as 150 cards:</a:t>
            </a:r>
          </a:p>
          <a:p>
            <a:pPr lvl="0"/>
            <a:r>
              <a:rPr/>
              <a:t>97 red cards (buy video)</a:t>
            </a:r>
          </a:p>
          <a:p>
            <a:pPr lvl="0"/>
            <a:r>
              <a:rPr/>
              <a:t>53 white cards (not buy video)</a:t>
            </a:r>
          </a:p>
          <a:p>
            <a:pPr lvl="0" indent="0" marL="0">
              <a:buNone/>
            </a:pPr>
            <a:r>
              <a:rPr/>
              <a:t>In the actual study, 75 cards were dealt to the ‘control’ pile and 75 to the ‘treatment’ pile. Under the null hypothesis, the color of each card (whether to buy the video) has nothing to do with which pile it lands in.</a:t>
            </a:r>
          </a:p>
          <a:p>
            <a:pPr lvl="0" indent="0" marL="0">
              <a:buNone/>
            </a:pPr>
            <a:r>
              <a:rPr/>
              <a:t>To simulate what the null hypothesis look like, we:</a:t>
            </a:r>
          </a:p>
          <a:p>
            <a:pPr lvl="0" indent="-342900" marL="342900">
              <a:buAutoNum type="arabicPeriod"/>
            </a:pPr>
            <a:r>
              <a:rPr i="1"/>
              <a:t>Thoroughly shuffle</a:t>
            </a:r>
            <a:r>
              <a:rPr/>
              <a:t> all 150 cards together.</a:t>
            </a:r>
          </a:p>
          <a:p>
            <a:pPr lvl="0" indent="-342900" marL="342900">
              <a:buAutoNum type="arabicPeriod"/>
            </a:pPr>
            <a:r>
              <a:rPr i="1"/>
              <a:t>Deal</a:t>
            </a:r>
            <a:r>
              <a:rPr/>
              <a:t> 75 into a ‘control’ pile and 75 into a ‘treatment’ pile</a:t>
            </a:r>
          </a:p>
          <a:p>
            <a:pPr lvl="0" indent="-342900" marL="342900">
              <a:buAutoNum type="arabicPeriod"/>
            </a:pPr>
            <a:r>
              <a:rPr i="1"/>
              <a:t>Count</a:t>
            </a:r>
            <a:r>
              <a:rPr/>
              <a:t> the number of white (not buy video) in each pile and compute the difference in proportions.</a:t>
            </a:r>
          </a:p>
          <a:p>
            <a:pPr lvl="0" indent="0" marL="0">
              <a:buNone/>
            </a:pPr>
            <a:r>
              <a:rPr/>
              <a:t>This gives us one simulated difference </a:t>
            </a:r>
            <a:r>
              <a:rPr i="1"/>
              <a:t>under the null hypothesis</a:t>
            </a:r>
            <a:r>
              <a:rPr/>
              <a:t>, a difference that arose purely from the random shuffle, not from the phrasing.</a:t>
            </a:r>
          </a:p>
          <a:p>
            <a:pPr lvl="0" indent="0" marL="0">
              <a:spcBef>
                <a:spcPts val="3000"/>
              </a:spcBef>
              <a:buNone/>
            </a:pPr>
            <a:r>
              <a:rPr b="1"/>
              <a:t>Many simulations</a:t>
            </a:r>
          </a:p>
        </p:txBody>
      </p:sp>
      <p:pic>
        <p:nvPicPr>
          <p:cNvPr descr="slides_files/figure-pptx/fig-opportunity-cost-rand-dist-1.png" id="0" name="Picture 1"/>
          <p:cNvPicPr>
            <a:picLocks noGrp="1" noChangeAspect="1"/>
          </p:cNvPicPr>
          <p:nvPr/>
        </p:nvPicPr>
        <p:blipFill>
          <a:blip r:embed="rId2"/>
          <a:stretch>
            <a:fillRect/>
          </a:stretch>
        </p:blipFill>
        <p:spPr bwMode="auto">
          <a:xfrm>
            <a:off x="3568700" y="495300"/>
            <a:ext cx="5105400" cy="3276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Figure 2: A histogram of 1,000 simulated differences produced under the null hypothesis. Differences at least as large as the observed 0.20 are highlighted in red.</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P-values</a:t>
            </a:r>
          </a:p>
        </p:txBody>
      </p:sp>
      <p:sp>
        <p:nvSpPr>
          <p:cNvPr id="3" name="Content Placeholder 2"/>
          <p:cNvSpPr>
            <a:spLocks noGrp="1"/>
          </p:cNvSpPr>
          <p:nvPr>
            <p:ph idx="1"/>
          </p:nvPr>
        </p:nvSpPr>
        <p:spPr/>
        <p:txBody>
          <a:bodyPr/>
          <a:lstStyle/>
          <a:p>
            <a:pPr lvl="0" indent="0" marL="0">
              <a:spcBef>
                <a:spcPts val="3000"/>
              </a:spcBef>
              <a:buNone/>
            </a:pPr>
            <a:r>
              <a:rPr b="1"/>
              <a:t>Randomization Distributions and p-values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Example 6</a:t>
            </a:r>
          </a:p>
        </p:txBody>
      </p:sp>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r>
                  <a:rPr b="1"/>
                  <a:t>Class Example 7.4: Estimating a </a:t>
                </a:r>
                <a14:m>
                  <m:oMath xmlns:m="http://schemas.openxmlformats.org/officeDocument/2006/math">
                    <m:r>
                      <m:t>p</m:t>
                    </m:r>
                  </m:oMath>
                </a14:m>
                <a:r>
                  <a:rPr b="1"/>
                  <a:t>-value from a randomization distribution</a:t>
                </a:r>
              </a:p>
              <a:p>
                <a:pPr lvl="0" indent="0" marL="0">
                  <a:buNone/>
                </a:pPr>
                <a:r>
                  <a:rPr/>
                  <a:t>The figure below shows a randomization distribution for testing </a:t>
                </a:r>
                <a14:m>
                  <m:oMath xmlns:m="http://schemas.openxmlformats.org/officeDocument/2006/math">
                    <m:sSub>
                      <m:e>
                        <m:r>
                          <m:t>H</m:t>
                        </m:r>
                      </m:e>
                      <m:sub>
                        <m:r>
                          <m:t>0</m:t>
                        </m:r>
                      </m:sub>
                    </m:sSub>
                    <m:r>
                      <m:rPr>
                        <m:sty m:val="p"/>
                      </m:rPr>
                      <m:t>:</m:t>
                    </m:r>
                    <m:r>
                      <m:t>p</m:t>
                    </m:r>
                    <m:r>
                      <m:rPr>
                        <m:sty m:val="p"/>
                      </m:rPr>
                      <m:t>=</m:t>
                    </m:r>
                    <m:r>
                      <m:t>0.3</m:t>
                    </m:r>
                  </m:oMath>
                </a14:m>
                <a:r>
                  <a:rPr/>
                  <a:t> vs </a:t>
                </a:r>
                <a14:m>
                  <m:oMath xmlns:m="http://schemas.openxmlformats.org/officeDocument/2006/math">
                    <m:sSub>
                      <m:e>
                        <m:r>
                          <m:t>H</m:t>
                        </m:r>
                      </m:e>
                      <m:sub>
                        <m:r>
                          <m:t>A</m:t>
                        </m:r>
                      </m:sub>
                    </m:sSub>
                    <m:r>
                      <m:rPr>
                        <m:sty m:val="p"/>
                      </m:rPr>
                      <m:t>:</m:t>
                    </m:r>
                    <m:r>
                      <m:t>p</m:t>
                    </m:r>
                    <m:r>
                      <m:rPr>
                        <m:sty m:val="p"/>
                      </m:rPr>
                      <m:t>&lt;</m:t>
                    </m:r>
                    <m:r>
                      <m:t>0.3</m:t>
                    </m:r>
                  </m:oMath>
                </a14:m>
                <a:r>
                  <a:rPr/>
                  <a:t>. In each case, use the distribution to decide which value is closer to the </a:t>
                </a:r>
                <a14:m>
                  <m:oMath xmlns:m="http://schemas.openxmlformats.org/officeDocument/2006/math">
                    <m:r>
                      <m:t>p</m:t>
                    </m:r>
                  </m:oMath>
                </a14:m>
                <a:r>
                  <a:rPr/>
                  <a:t>-value for the observed sample proportion. There are 1000 randomizations given in the figure below.</a:t>
                </a:r>
              </a:p>
            </p:txBody>
          </p:sp>
        </mc:Choice>
      </mc:AlternateContent>
      <p:pic>
        <p:nvPicPr>
          <p:cNvPr descr="slides_files/figure-pptx/fig-ex-pvalue1-1.png" id="0" name="Picture 1"/>
          <p:cNvPicPr>
            <a:picLocks noGrp="1" noChangeAspect="1"/>
          </p:cNvPicPr>
          <p:nvPr/>
        </p:nvPicPr>
        <p:blipFill>
          <a:blip r:embed="rId2"/>
          <a:stretch>
            <a:fillRect/>
          </a:stretch>
        </p:blipFill>
        <p:spPr bwMode="auto">
          <a:xfrm>
            <a:off x="3568700" y="863600"/>
            <a:ext cx="5105400" cy="25527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Figure 3: Randomization distribution with 1000 randomizations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342900" marL="342900">
                  <a:buAutoNum type="alphaLcParenR"/>
                </a:pPr>
                <a:r>
                  <a:rPr/>
                  <a:t>Why is the distribution centered at 0.3?</a:t>
                </a:r>
              </a:p>
              <a:p>
                <a:pPr lvl="0" indent="0" marL="0">
                  <a:buNone/>
                </a:pPr>
                <a:r>
                  <a:rPr/>
                  <a:t>. . .</a:t>
                </a:r>
              </a:p>
              <a:p>
                <a:pPr lvl="0" indent="-342900" marL="342900">
                  <a:buAutoNum type="arabicPeriod"/>
                </a:pPr>
                <a:r>
                  <a:rPr/>
                  <a:t>The randomization distribution is built </a:t>
                </a:r>
                <a:r>
                  <a:rPr i="1"/>
                  <a:t>assuming </a:t>
                </a:r>
                <a14:m>
                  <m:oMath xmlns:m="http://schemas.openxmlformats.org/officeDocument/2006/math">
                    <m:sSub>
                      <m:e>
                        <m:r>
                          <m:t>H</m:t>
                        </m:r>
                      </m:e>
                      <m:sub>
                        <m:r>
                          <m:t>0</m:t>
                        </m:r>
                      </m:sub>
                    </m:sSub>
                  </m:oMath>
                </a14:m>
                <a:r>
                  <a:rPr i="1"/>
                  <a:t> is true</a:t>
                </a:r>
                <a:r>
                  <a:rPr/>
                  <a:t> — that the true proportion is </a:t>
                </a:r>
                <a14:m>
                  <m:oMath xmlns:m="http://schemas.openxmlformats.org/officeDocument/2006/math">
                    <m:r>
                      <m:t>0.3</m:t>
                    </m:r>
                  </m:oMath>
                </a14:m>
                <a:r>
                  <a:rPr/>
                  <a:t>.</a:t>
                </a:r>
              </a:p>
              <a:p>
                <a:pPr lvl="0" indent="-342900" marL="342900">
                  <a:buAutoNum type="arabicPeriod"/>
                </a:pPr>
                <a:r>
                  <a:rPr/>
                  <a:t>Each simulated sample proportion is generated with </a:t>
                </a:r>
                <a14:m>
                  <m:oMath xmlns:m="http://schemas.openxmlformats.org/officeDocument/2006/math">
                    <m:r>
                      <m:t>p</m:t>
                    </m:r>
                    <m:r>
                      <m:rPr>
                        <m:sty m:val="p"/>
                      </m:rPr>
                      <m:t>=</m:t>
                    </m:r>
                    <m:r>
                      <m:t>0.3</m:t>
                    </m:r>
                  </m:oMath>
                </a14:m>
                <a:r>
                  <a:rPr/>
                  <a:t>, so they pile up around </a:t>
                </a:r>
                <a14:m>
                  <m:oMath xmlns:m="http://schemas.openxmlformats.org/officeDocument/2006/math">
                    <m:r>
                      <m:t>0.3</m:t>
                    </m:r>
                  </m:oMath>
                </a14:m>
                <a:r>
                  <a:rPr/>
                  <a:t>; the spread shows the sampling variability we get by chance alone.</a:t>
                </a:r>
              </a:p>
              <a:p>
                <a:pPr lvl="0" indent="-342900" marL="342900">
                  <a:buAutoNum startAt="2" type="alphaLcParenR"/>
                </a:pPr>
                <a:r>
                  <a:rPr/>
                  <a:t>The </a:t>
                </a:r>
                <a14:m>
                  <m:oMath xmlns:m="http://schemas.openxmlformats.org/officeDocument/2006/math">
                    <m:r>
                      <m:t>p</m:t>
                    </m:r>
                  </m:oMath>
                </a14:m>
                <a:r>
                  <a:rPr/>
                  <a:t>-value for </a:t>
                </a:r>
                <a14:m>
                  <m:oMath xmlns:m="http://schemas.openxmlformats.org/officeDocument/2006/math">
                    <m:acc>
                      <m:accPr>
                        <m:chr m:val="̂"/>
                      </m:accPr>
                      <m:e>
                        <m:r>
                          <m:t>p</m:t>
                        </m:r>
                      </m:e>
                    </m:acc>
                    <m:r>
                      <m:rPr>
                        <m:sty m:val="p"/>
                      </m:rPr>
                      <m:t>=</m:t>
                    </m:r>
                    <m:r>
                      <m:t>0.15</m:t>
                    </m:r>
                  </m:oMath>
                </a14:m>
                <a:r>
                  <a:rPr/>
                  <a:t> is closest to: 0.04 or 0.40?</a:t>
                </a:r>
              </a:p>
              <a:p>
                <a:pPr lvl="0" indent="0" marL="0">
                  <a:buNone/>
                </a:pPr>
                <a:r>
                  <a:rPr/>
                  <a:t>. . .</a:t>
                </a:r>
              </a:p>
              <a:p>
                <a:pPr lvl="0" indent="-342900" marL="342900">
                  <a:buAutoNum type="arabicPeriod"/>
                </a:pPr>
                <a14:m>
                  <m:oMath xmlns:m="http://schemas.openxmlformats.org/officeDocument/2006/math">
                    <m:sSub>
                      <m:e>
                        <m:r>
                          <m:t>H</m:t>
                        </m:r>
                      </m:e>
                      <m:sub>
                        <m:r>
                          <m:t>A</m:t>
                        </m:r>
                      </m:sub>
                    </m:sSub>
                    <m:r>
                      <m:rPr>
                        <m:sty m:val="p"/>
                      </m:rPr>
                      <m:t>:</m:t>
                    </m:r>
                    <m:r>
                      <m:t>p</m:t>
                    </m:r>
                    <m:r>
                      <m:rPr>
                        <m:sty m:val="p"/>
                      </m:rPr>
                      <m:t>&lt;</m:t>
                    </m:r>
                    <m:r>
                      <m:t>0.3</m:t>
                    </m:r>
                  </m:oMath>
                </a14:m>
                <a:r>
                  <a:rPr/>
                  <a:t>, so the </a:t>
                </a:r>
                <a14:m>
                  <m:oMath xmlns:m="http://schemas.openxmlformats.org/officeDocument/2006/math">
                    <m:r>
                      <m:t>p</m:t>
                    </m:r>
                  </m:oMath>
                </a14:m>
                <a:r>
                  <a:rPr/>
                  <a:t>-value is the </a:t>
                </a:r>
                <a:r>
                  <a:rPr i="1"/>
                  <a:t>lower</a:t>
                </a:r>
                <a:r>
                  <a:rPr/>
                  <a:t>-tail area — the fraction of simulations at or below </a:t>
                </a:r>
                <a14:m>
                  <m:oMath xmlns:m="http://schemas.openxmlformats.org/officeDocument/2006/math">
                    <m:r>
                      <m:t>0.15</m:t>
                    </m:r>
                  </m:oMath>
                </a14:m>
                <a:r>
                  <a:rPr/>
                  <a:t>.</a:t>
                </a:r>
              </a:p>
              <a:p>
                <a:pPr lvl="0" indent="-342900" marL="342900">
                  <a:buAutoNum type="arabicPeriod"/>
                </a:pPr>
                <a14:m>
                  <m:oMath xmlns:m="http://schemas.openxmlformats.org/officeDocument/2006/math">
                    <m:r>
                      <m:t>0.15</m:t>
                    </m:r>
                  </m:oMath>
                </a14:m>
                <a:r>
                  <a:rPr/>
                  <a:t> is far into the left tail, where very few simulations land, so the </a:t>
                </a:r>
                <a14:m>
                  <m:oMath xmlns:m="http://schemas.openxmlformats.org/officeDocument/2006/math">
                    <m:r>
                      <m:t>p</m:t>
                    </m:r>
                  </m:oMath>
                </a14:m>
                <a:r>
                  <a:rPr/>
                  <a:t>-value is small: closest to </a:t>
                </a:r>
                <a:r>
                  <a:rPr b="1"/>
                  <a:t>0.04</a:t>
                </a:r>
                <a:r>
                  <a:rPr/>
                  <a:t>.</a:t>
                </a:r>
              </a:p>
              <a:p>
                <a:pPr lvl="0" indent="-342900" marL="342900">
                  <a:buAutoNum startAt="3" type="alphaLcParenR"/>
                </a:pPr>
                <a:r>
                  <a:rPr/>
                  <a:t>Which proportion, </a:t>
                </a:r>
                <a14:m>
                  <m:oMath xmlns:m="http://schemas.openxmlformats.org/officeDocument/2006/math">
                    <m:acc>
                      <m:accPr>
                        <m:chr m:val="̂"/>
                      </m:accPr>
                      <m:e>
                        <m:r>
                          <m:t>p</m:t>
                        </m:r>
                      </m:e>
                    </m:acc>
                    <m:r>
                      <m:rPr>
                        <m:sty m:val="p"/>
                      </m:rPr>
                      <m:t>=</m:t>
                    </m:r>
                    <m:r>
                      <m:t>0.20</m:t>
                    </m:r>
                  </m:oMath>
                </a14:m>
                <a:r>
                  <a:rPr/>
                  <a:t> or </a:t>
                </a:r>
                <a14:m>
                  <m:oMath xmlns:m="http://schemas.openxmlformats.org/officeDocument/2006/math">
                    <m:acc>
                      <m:accPr>
                        <m:chr m:val="̂"/>
                      </m:accPr>
                      <m:e>
                        <m:r>
                          <m:t>p</m:t>
                        </m:r>
                      </m:e>
                    </m:acc>
                    <m:r>
                      <m:rPr>
                        <m:sty m:val="p"/>
                      </m:rPr>
                      <m:t>=</m:t>
                    </m:r>
                    <m:r>
                      <m:t>0.10</m:t>
                    </m:r>
                  </m:oMath>
                </a14:m>
                <a:r>
                  <a:rPr/>
                  <a:t>, provides the strongest evidence to suggest that </a:t>
                </a:r>
                <a14:m>
                  <m:oMath xmlns:m="http://schemas.openxmlformats.org/officeDocument/2006/math">
                    <m:sSub>
                      <m:e>
                        <m:r>
                          <m:t>H</m:t>
                        </m:r>
                      </m:e>
                      <m:sub>
                        <m:r>
                          <m:t>0</m:t>
                        </m:r>
                      </m:sub>
                    </m:sSub>
                  </m:oMath>
                </a14:m>
                <a:r>
                  <a:rPr/>
                  <a:t> is not true? Explain.</a:t>
                </a:r>
              </a:p>
              <a:p>
                <a:pPr lvl="0" indent="0" marL="0">
                  <a:buNone/>
                </a:pPr>
                <a:r>
                  <a:rPr/>
                  <a:t>. . .</a:t>
                </a:r>
              </a:p>
              <a:p>
                <a:pPr lvl="0" indent="-342900" marL="342900">
                  <a:buAutoNum type="arabicPeriod"/>
                </a:pPr>
                <a:r>
                  <a:rPr/>
                  <a:t>Smaller </a:t>
                </a:r>
                <a14:m>
                  <m:oMath xmlns:m="http://schemas.openxmlformats.org/officeDocument/2006/math">
                    <m:r>
                      <m:t>p</m:t>
                    </m:r>
                  </m:oMath>
                </a14:m>
                <a:r>
                  <a:rPr/>
                  <a:t>-value = stronger evidence against </a:t>
                </a:r>
                <a14:m>
                  <m:oMath xmlns:m="http://schemas.openxmlformats.org/officeDocument/2006/math">
                    <m:sSub>
                      <m:e>
                        <m:r>
                          <m:t>H</m:t>
                        </m:r>
                      </m:e>
                      <m:sub>
                        <m:r>
                          <m:t>0</m:t>
                        </m:r>
                      </m:sub>
                    </m:sSub>
                  </m:oMath>
                </a14:m>
                <a:r>
                  <a:rPr/>
                  <a:t>.</a:t>
                </a:r>
              </a:p>
              <a:p>
                <a:pPr lvl="0" indent="-342900" marL="342900">
                  <a:buAutoNum type="arabicPeriod"/>
                </a:pPr>
                <a14:m>
                  <m:oMath xmlns:m="http://schemas.openxmlformats.org/officeDocument/2006/math">
                    <m:acc>
                      <m:accPr>
                        <m:chr m:val="̂"/>
                      </m:accPr>
                      <m:e>
                        <m:r>
                          <m:t>p</m:t>
                        </m:r>
                      </m:e>
                    </m:acc>
                    <m:r>
                      <m:rPr>
                        <m:sty m:val="p"/>
                      </m:rPr>
                      <m:t>=</m:t>
                    </m:r>
                    <m:r>
                      <m:t>0.10</m:t>
                    </m:r>
                  </m:oMath>
                </a14:m>
                <a:r>
                  <a:rPr/>
                  <a:t> is farther into the lower tail than </a:t>
                </a:r>
                <a14:m>
                  <m:oMath xmlns:m="http://schemas.openxmlformats.org/officeDocument/2006/math">
                    <m:acc>
                      <m:accPr>
                        <m:chr m:val="̂"/>
                      </m:accPr>
                      <m:e>
                        <m:r>
                          <m:t>p</m:t>
                        </m:r>
                      </m:e>
                    </m:acc>
                    <m:r>
                      <m:rPr>
                        <m:sty m:val="p"/>
                      </m:rPr>
                      <m:t>=</m:t>
                    </m:r>
                    <m:r>
                      <m:t>0.20</m:t>
                    </m:r>
                  </m:oMath>
                </a14:m>
                <a:r>
                  <a:rPr/>
                  <a:t>, so fewer simulations are that extreme — its </a:t>
                </a:r>
                <a14:m>
                  <m:oMath xmlns:m="http://schemas.openxmlformats.org/officeDocument/2006/math">
                    <m:r>
                      <m:t>p</m:t>
                    </m:r>
                  </m:oMath>
                </a14:m>
                <a:r>
                  <a:rPr/>
                  <a:t>-value is smaller.</a:t>
                </a:r>
              </a:p>
              <a:p>
                <a:pPr lvl="0" indent="-342900" marL="342900">
                  <a:buAutoNum type="arabicPeriod"/>
                </a:pPr>
                <a:r>
                  <a:rPr/>
                  <a:t>So </a:t>
                </a:r>
                <a14:m>
                  <m:oMath xmlns:m="http://schemas.openxmlformats.org/officeDocument/2006/math">
                    <m:acc>
                      <m:accPr>
                        <m:chr m:val="̂"/>
                      </m:accPr>
                      <m:e>
                        <m:r>
                          <m:t>p</m:t>
                        </m:r>
                      </m:e>
                    </m:acc>
                    <m:r>
                      <m:rPr>
                        <m:sty m:val="p"/>
                      </m:rPr>
                      <m:t>=</m:t>
                    </m:r>
                    <m:r>
                      <m:t>0.10</m:t>
                    </m:r>
                  </m:oMath>
                </a14:m>
                <a:r>
                  <a:rPr/>
                  <a:t> provides the strongest evidence that </a:t>
                </a:r>
                <a14:m>
                  <m:oMath xmlns:m="http://schemas.openxmlformats.org/officeDocument/2006/math">
                    <m:sSub>
                      <m:e>
                        <m:r>
                          <m:t>H</m:t>
                        </m:r>
                      </m:e>
                      <m:sub>
                        <m:r>
                          <m:t>0</m:t>
                        </m:r>
                      </m:sub>
                    </m:sSub>
                  </m:oMath>
                </a14:m>
                <a:r>
                  <a:rPr/>
                  <a:t> is not true.</a:t>
                </a:r>
              </a:p>
            </p:txBody>
          </p:sp>
        </mc:Choice>
      </mc:AlternateContent>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Example 7</a:t>
            </a:r>
          </a:p>
        </p:txBody>
      </p:sp>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r>
                  <a:rPr b="1"/>
                  <a:t>Class Example 7.5: Estimating a </a:t>
                </a:r>
                <a14:m>
                  <m:oMath xmlns:m="http://schemas.openxmlformats.org/officeDocument/2006/math">
                    <m:r>
                      <m:t>p</m:t>
                    </m:r>
                  </m:oMath>
                </a14:m>
                <a:r>
                  <a:rPr b="1"/>
                  <a:t>-value from a randomization distribution…continued</a:t>
                </a:r>
              </a:p>
              <a:p>
                <a:pPr lvl="0" indent="0" marL="0">
                  <a:buNone/>
                </a:pPr>
                <a:r>
                  <a:rPr/>
                  <a:t>The figure below shows a randomization distribution for testing </a:t>
                </a:r>
                <a14:m>
                  <m:oMath xmlns:m="http://schemas.openxmlformats.org/officeDocument/2006/math">
                    <m:sSub>
                      <m:e>
                        <m:r>
                          <m:t>H</m:t>
                        </m:r>
                      </m:e>
                      <m:sub>
                        <m:r>
                          <m:t>0</m:t>
                        </m:r>
                      </m:sub>
                    </m:sSub>
                    <m:r>
                      <m:rPr>
                        <m:sty m:val="p"/>
                      </m:rPr>
                      <m:t>:</m:t>
                    </m:r>
                    <m:sSub>
                      <m:e>
                        <m:r>
                          <m:t>μ</m:t>
                        </m:r>
                      </m:e>
                      <m:sub>
                        <m:r>
                          <m:t>1</m:t>
                        </m:r>
                      </m:sub>
                    </m:sSub>
                    <m:r>
                      <m:rPr>
                        <m:sty m:val="p"/>
                      </m:rPr>
                      <m:t>−</m:t>
                    </m:r>
                    <m:sSub>
                      <m:e>
                        <m:r>
                          <m:t>μ</m:t>
                        </m:r>
                      </m:e>
                      <m:sub>
                        <m:r>
                          <m:t>2</m:t>
                        </m:r>
                      </m:sub>
                    </m:sSub>
                    <m:r>
                      <m:rPr>
                        <m:sty m:val="p"/>
                      </m:rPr>
                      <m:t>=</m:t>
                    </m:r>
                    <m:r>
                      <m:t>0</m:t>
                    </m:r>
                  </m:oMath>
                </a14:m>
                <a:r>
                  <a:rPr/>
                  <a:t> vs </a:t>
                </a:r>
                <a14:m>
                  <m:oMath xmlns:m="http://schemas.openxmlformats.org/officeDocument/2006/math">
                    <m:sSub>
                      <m:e>
                        <m:r>
                          <m:t>H</m:t>
                        </m:r>
                      </m:e>
                      <m:sub>
                        <m:r>
                          <m:t>A</m:t>
                        </m:r>
                      </m:sub>
                    </m:sSub>
                    <m:r>
                      <m:rPr>
                        <m:sty m:val="p"/>
                      </m:rPr>
                      <m:t>:</m:t>
                    </m:r>
                    <m:sSub>
                      <m:e>
                        <m:r>
                          <m:t>μ</m:t>
                        </m:r>
                      </m:e>
                      <m:sub>
                        <m:r>
                          <m:t>1</m:t>
                        </m:r>
                      </m:sub>
                    </m:sSub>
                    <m:r>
                      <m:rPr>
                        <m:sty m:val="p"/>
                      </m:rPr>
                      <m:t>−</m:t>
                    </m:r>
                    <m:sSub>
                      <m:e>
                        <m:r>
                          <m:t>μ</m:t>
                        </m:r>
                      </m:e>
                      <m:sub>
                        <m:r>
                          <m:t>2</m:t>
                        </m:r>
                      </m:sub>
                    </m:sSub>
                    <m:r>
                      <m:rPr>
                        <m:sty m:val="p"/>
                      </m:rPr>
                      <m:t>≠</m:t>
                    </m:r>
                    <m:r>
                      <m:t>0</m:t>
                    </m:r>
                  </m:oMath>
                </a14:m>
                <a:r>
                  <a:rPr/>
                  <a:t>. The statistic used for each sample is </a:t>
                </a:r>
                <a14:m>
                  <m:oMath xmlns:m="http://schemas.openxmlformats.org/officeDocument/2006/math">
                    <m:r>
                      <m:t>D</m:t>
                    </m:r>
                    <m:r>
                      <m:rPr>
                        <m:sty m:val="p"/>
                      </m:rPr>
                      <m:t>=</m:t>
                    </m:r>
                    <m:sSub>
                      <m:e>
                        <m:bar>
                          <m:barPr>
                            <m:pos m:val="top"/>
                          </m:barPr>
                          <m:e>
                            <m:r>
                              <m:t>x</m:t>
                            </m:r>
                          </m:e>
                        </m:bar>
                      </m:e>
                      <m:sub>
                        <m:r>
                          <m:t>1</m:t>
                        </m:r>
                      </m:sub>
                    </m:sSub>
                    <m:r>
                      <m:rPr>
                        <m:sty m:val="p"/>
                      </m:rPr>
                      <m:t>−</m:t>
                    </m:r>
                    <m:sSub>
                      <m:e>
                        <m:bar>
                          <m:barPr>
                            <m:pos m:val="top"/>
                          </m:barPr>
                          <m:e>
                            <m:r>
                              <m:t>x</m:t>
                            </m:r>
                          </m:e>
                        </m:bar>
                      </m:e>
                      <m:sub>
                        <m:r>
                          <m:t>2</m:t>
                        </m:r>
                      </m:sub>
                    </m:sSub>
                  </m:oMath>
                </a14:m>
                <a:r>
                  <a:rPr/>
                  <a:t>. In each case, use the distribution to decide which value is closer to the </a:t>
                </a:r>
                <a14:m>
                  <m:oMath xmlns:m="http://schemas.openxmlformats.org/officeDocument/2006/math">
                    <m:r>
                      <m:t>p</m:t>
                    </m:r>
                  </m:oMath>
                </a14:m>
                <a:r>
                  <a:rPr/>
                  <a:t>-value for the observed sample difference in averages. There are 1000 randomizations given in the figure below.</a:t>
                </a:r>
              </a:p>
            </p:txBody>
          </p:sp>
        </mc:Choice>
      </mc:AlternateContent>
      <p:pic>
        <p:nvPicPr>
          <p:cNvPr descr="slides_files/figure-pptx/fig-ex-pvalue2-1.png" id="0" name="Picture 1"/>
          <p:cNvPicPr>
            <a:picLocks noGrp="1" noChangeAspect="1"/>
          </p:cNvPicPr>
          <p:nvPr/>
        </p:nvPicPr>
        <p:blipFill>
          <a:blip r:embed="rId2"/>
          <a:stretch>
            <a:fillRect/>
          </a:stretch>
        </p:blipFill>
        <p:spPr bwMode="auto">
          <a:xfrm>
            <a:off x="3568700" y="355600"/>
            <a:ext cx="5105400" cy="35687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Figure 4: Randomization distribution with 1000 randomizations</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342900" marL="342900">
                  <a:buAutoNum type="alphaLcParenR"/>
                </a:pPr>
                <a:r>
                  <a:rPr/>
                  <a:t>The </a:t>
                </a:r>
                <a14:m>
                  <m:oMath xmlns:m="http://schemas.openxmlformats.org/officeDocument/2006/math">
                    <m:r>
                      <m:t>p</m:t>
                    </m:r>
                  </m:oMath>
                </a14:m>
                <a:r>
                  <a:rPr/>
                  <a:t>-value for </a:t>
                </a:r>
                <a14:m>
                  <m:oMath xmlns:m="http://schemas.openxmlformats.org/officeDocument/2006/math">
                    <m:r>
                      <m:t>D</m:t>
                    </m:r>
                    <m:r>
                      <m:rPr>
                        <m:sty m:val="p"/>
                      </m:rPr>
                      <m:t>=</m:t>
                    </m:r>
                    <m:sSub>
                      <m:e>
                        <m:bar>
                          <m:barPr>
                            <m:pos m:val="top"/>
                          </m:barPr>
                          <m:e>
                            <m:r>
                              <m:t>x</m:t>
                            </m:r>
                          </m:e>
                        </m:bar>
                      </m:e>
                      <m:sub>
                        <m:r>
                          <m:t>1</m:t>
                        </m:r>
                      </m:sub>
                    </m:sSub>
                    <m:r>
                      <m:rPr>
                        <m:sty m:val="p"/>
                      </m:rPr>
                      <m:t>−</m:t>
                    </m:r>
                    <m:sSub>
                      <m:e>
                        <m:bar>
                          <m:barPr>
                            <m:pos m:val="top"/>
                          </m:barPr>
                          <m:e>
                            <m:r>
                              <m:t>x</m:t>
                            </m:r>
                          </m:e>
                        </m:bar>
                      </m:e>
                      <m:sub>
                        <m:r>
                          <m:t>2</m:t>
                        </m:r>
                      </m:sub>
                    </m:sSub>
                    <m:r>
                      <m:rPr>
                        <m:sty m:val="p"/>
                      </m:rPr>
                      <m:t>=</m:t>
                    </m:r>
                    <m:r>
                      <m:rPr>
                        <m:sty m:val="p"/>
                      </m:rPr>
                      <m:t>−</m:t>
                    </m:r>
                    <m:r>
                      <m:t>2.9</m:t>
                    </m:r>
                  </m:oMath>
                </a14:m>
                <a:r>
                  <a:rPr/>
                  <a:t> is closest to: 0.01 or 0.25?</a:t>
                </a:r>
              </a:p>
              <a:p>
                <a:pPr lvl="0" indent="0" marL="0">
                  <a:buNone/>
                </a:pPr>
                <a:r>
                  <a:rPr/>
                  <a:t>. . .</a:t>
                </a:r>
              </a:p>
              <a:p>
                <a:pPr lvl="0" indent="-342900" marL="342900">
                  <a:buAutoNum type="arabicPeriod"/>
                </a:pPr>
                <a14:m>
                  <m:oMath xmlns:m="http://schemas.openxmlformats.org/officeDocument/2006/math">
                    <m:sSub>
                      <m:e>
                        <m:r>
                          <m:t>H</m:t>
                        </m:r>
                      </m:e>
                      <m:sub>
                        <m:r>
                          <m:t>A</m:t>
                        </m:r>
                      </m:sub>
                    </m:sSub>
                    <m:r>
                      <m:rPr>
                        <m:sty m:val="p"/>
                      </m:rPr>
                      <m:t>:</m:t>
                    </m:r>
                    <m:sSub>
                      <m:e>
                        <m:r>
                          <m:t>μ</m:t>
                        </m:r>
                      </m:e>
                      <m:sub>
                        <m:r>
                          <m:t>1</m:t>
                        </m:r>
                      </m:sub>
                    </m:sSub>
                    <m:r>
                      <m:rPr>
                        <m:sty m:val="p"/>
                      </m:rPr>
                      <m:t>−</m:t>
                    </m:r>
                    <m:sSub>
                      <m:e>
                        <m:r>
                          <m:t>μ</m:t>
                        </m:r>
                      </m:e>
                      <m:sub>
                        <m:r>
                          <m:t>2</m:t>
                        </m:r>
                      </m:sub>
                    </m:sSub>
                    <m:r>
                      <m:rPr>
                        <m:sty m:val="p"/>
                      </m:rPr>
                      <m:t>≠</m:t>
                    </m:r>
                    <m:r>
                      <m:t>0</m:t>
                    </m:r>
                  </m:oMath>
                </a14:m>
                <a:r>
                  <a:rPr/>
                  <a:t> (two-sided), so count simulations at least as far from </a:t>
                </a:r>
                <a14:m>
                  <m:oMath xmlns:m="http://schemas.openxmlformats.org/officeDocument/2006/math">
                    <m:r>
                      <m:t>0</m:t>
                    </m:r>
                  </m:oMath>
                </a14:m>
                <a:r>
                  <a:rPr/>
                  <a:t> as </a:t>
                </a:r>
                <a14:m>
                  <m:oMath xmlns:m="http://schemas.openxmlformats.org/officeDocument/2006/math">
                    <m:r>
                      <m:t>2.9</m:t>
                    </m:r>
                  </m:oMath>
                </a14:m>
                <a:r>
                  <a:rPr/>
                  <a:t> </a:t>
                </a:r>
                <a:r>
                  <a:rPr i="1"/>
                  <a:t>in either tail</a:t>
                </a:r>
                <a:r>
                  <a:rPr/>
                  <a:t>.</a:t>
                </a:r>
              </a:p>
              <a:p>
                <a:pPr lvl="0" indent="-342900" marL="342900">
                  <a:buAutoNum type="arabicPeriod"/>
                </a:pPr>
                <a14:m>
                  <m:oMath xmlns:m="http://schemas.openxmlformats.org/officeDocument/2006/math">
                    <m:r>
                      <m:rPr>
                        <m:sty m:val="p"/>
                      </m:rPr>
                      <m:t>−</m:t>
                    </m:r>
                    <m:r>
                      <m:t>2.9</m:t>
                    </m:r>
                  </m:oMath>
                </a14:m>
                <a:r>
                  <a:rPr/>
                  <a:t> is only modestly out from the center, so a fair share of simulations are that extreme: closest to </a:t>
                </a:r>
                <a:r>
                  <a:rPr b="1"/>
                  <a:t>0.25</a:t>
                </a:r>
                <a:r>
                  <a:rPr/>
                  <a:t>.</a:t>
                </a:r>
              </a:p>
              <a:p>
                <a:pPr lvl="0" indent="-342900" marL="342900">
                  <a:buAutoNum startAt="2" type="alphaLcParenR"/>
                </a:pPr>
                <a:r>
                  <a:rPr/>
                  <a:t>The </a:t>
                </a:r>
                <a14:m>
                  <m:oMath xmlns:m="http://schemas.openxmlformats.org/officeDocument/2006/math">
                    <m:r>
                      <m:t>p</m:t>
                    </m:r>
                  </m:oMath>
                </a14:m>
                <a:r>
                  <a:rPr/>
                  <a:t>-value for </a:t>
                </a:r>
                <a14:m>
                  <m:oMath xmlns:m="http://schemas.openxmlformats.org/officeDocument/2006/math">
                    <m:r>
                      <m:t>D</m:t>
                    </m:r>
                    <m:r>
                      <m:rPr>
                        <m:sty m:val="p"/>
                      </m:rPr>
                      <m:t>=</m:t>
                    </m:r>
                    <m:sSub>
                      <m:e>
                        <m:bar>
                          <m:barPr>
                            <m:pos m:val="top"/>
                          </m:barPr>
                          <m:e>
                            <m:r>
                              <m:t>x</m:t>
                            </m:r>
                          </m:e>
                        </m:bar>
                      </m:e>
                      <m:sub>
                        <m:r>
                          <m:t>1</m:t>
                        </m:r>
                      </m:sub>
                    </m:sSub>
                    <m:r>
                      <m:rPr>
                        <m:sty m:val="p"/>
                      </m:rPr>
                      <m:t>−</m:t>
                    </m:r>
                    <m:sSub>
                      <m:e>
                        <m:bar>
                          <m:barPr>
                            <m:pos m:val="top"/>
                          </m:barPr>
                          <m:e>
                            <m:r>
                              <m:t>x</m:t>
                            </m:r>
                          </m:e>
                        </m:bar>
                      </m:e>
                      <m:sub>
                        <m:r>
                          <m:t>2</m:t>
                        </m:r>
                      </m:sub>
                    </m:sSub>
                    <m:r>
                      <m:rPr>
                        <m:sty m:val="p"/>
                      </m:rPr>
                      <m:t>=</m:t>
                    </m:r>
                    <m:r>
                      <m:t>1.2</m:t>
                    </m:r>
                  </m:oMath>
                </a14:m>
                <a:r>
                  <a:rPr/>
                  <a:t> is closest to: 0.30 or 0.60?</a:t>
                </a:r>
              </a:p>
              <a:p>
                <a:pPr lvl="0" indent="0" marL="0">
                  <a:buNone/>
                </a:pPr>
                <a:r>
                  <a:rPr/>
                  <a:t>. . .</a:t>
                </a:r>
              </a:p>
              <a:p>
                <a:pPr lvl="0" indent="-342900" marL="342900">
                  <a:buAutoNum type="arabicPeriod"/>
                </a:pPr>
                <a14:m>
                  <m:oMath xmlns:m="http://schemas.openxmlformats.org/officeDocument/2006/math">
                    <m:r>
                      <m:t>1.2</m:t>
                    </m:r>
                  </m:oMath>
                </a14:m>
                <a:r>
                  <a:rPr/>
                  <a:t> is very close to the center of the distribution, so a large majority of simulations are at least that far from </a:t>
                </a:r>
                <a14:m>
                  <m:oMath xmlns:m="http://schemas.openxmlformats.org/officeDocument/2006/math">
                    <m:r>
                      <m:t>0</m:t>
                    </m:r>
                  </m:oMath>
                </a14:m>
                <a:r>
                  <a:rPr/>
                  <a:t>.</a:t>
                </a:r>
              </a:p>
              <a:p>
                <a:pPr lvl="0" indent="-342900" marL="342900">
                  <a:buAutoNum type="arabicPeriod"/>
                </a:pPr>
                <a:r>
                  <a:rPr/>
                  <a:t>The two-sided </a:t>
                </a:r>
                <a14:m>
                  <m:oMath xmlns:m="http://schemas.openxmlformats.org/officeDocument/2006/math">
                    <m:r>
                      <m:t>p</m:t>
                    </m:r>
                  </m:oMath>
                </a14:m>
                <a:r>
                  <a:rPr/>
                  <a:t>-value is large: closest to </a:t>
                </a:r>
                <a:r>
                  <a:rPr b="1"/>
                  <a:t>0.60</a:t>
                </a:r>
                <a:r>
                  <a:rPr/>
                  <a:t>.</a:t>
                </a:r>
              </a:p>
              <a:p>
                <a:pPr lvl="0" indent="-342900" marL="342900">
                  <a:buAutoNum startAt="3" type="alphaLcParenR"/>
                </a:pPr>
                <a:r>
                  <a:rPr/>
                  <a:t>Of the two values of </a:t>
                </a:r>
                <a14:m>
                  <m:oMath xmlns:m="http://schemas.openxmlformats.org/officeDocument/2006/math">
                    <m:r>
                      <m:t>D</m:t>
                    </m:r>
                  </m:oMath>
                </a14:m>
                <a:r>
                  <a:rPr/>
                  <a:t> above, which provides strongest evidence to suggest that </a:t>
                </a:r>
                <a14:m>
                  <m:oMath xmlns:m="http://schemas.openxmlformats.org/officeDocument/2006/math">
                    <m:sSub>
                      <m:e>
                        <m:r>
                          <m:t>H</m:t>
                        </m:r>
                      </m:e>
                      <m:sub>
                        <m:r>
                          <m:t>0</m:t>
                        </m:r>
                      </m:sub>
                    </m:sSub>
                  </m:oMath>
                </a14:m>
                <a:r>
                  <a:rPr/>
                  <a:t> is not true? Explain.</a:t>
                </a:r>
              </a:p>
              <a:p>
                <a:pPr lvl="0" indent="0" marL="0">
                  <a:buNone/>
                </a:pPr>
                <a:r>
                  <a:rPr/>
                  <a:t>. . .</a:t>
                </a:r>
              </a:p>
              <a:p>
                <a:pPr lvl="0" indent="-342900" marL="342900">
                  <a:buAutoNum type="arabicPeriod"/>
                </a:pPr>
                <a14:m>
                  <m:oMath xmlns:m="http://schemas.openxmlformats.org/officeDocument/2006/math">
                    <m:r>
                      <m:t>D</m:t>
                    </m:r>
                    <m:r>
                      <m:rPr>
                        <m:sty m:val="p"/>
                      </m:rPr>
                      <m:t>=</m:t>
                    </m:r>
                    <m:r>
                      <m:rPr>
                        <m:sty m:val="p"/>
                      </m:rPr>
                      <m:t>−</m:t>
                    </m:r>
                    <m:r>
                      <m:t>2.9</m:t>
                    </m:r>
                  </m:oMath>
                </a14:m>
                <a:r>
                  <a:rPr/>
                  <a:t> has the smaller </a:t>
                </a:r>
                <a14:m>
                  <m:oMath xmlns:m="http://schemas.openxmlformats.org/officeDocument/2006/math">
                    <m:r>
                      <m:t>p</m:t>
                    </m:r>
                  </m:oMath>
                </a14:m>
                <a:r>
                  <a:rPr/>
                  <a:t>-value (</a:t>
                </a:r>
                <a14:m>
                  <m:oMath xmlns:m="http://schemas.openxmlformats.org/officeDocument/2006/math">
                    <m:r>
                      <m:rPr>
                        <m:sty m:val="p"/>
                      </m:rPr>
                      <m:t>≈</m:t>
                    </m:r>
                    <m:r>
                      <m:t>0.25</m:t>
                    </m:r>
                  </m:oMath>
                </a14:m>
                <a:r>
                  <a:rPr/>
                  <a:t> vs. </a:t>
                </a:r>
                <a14:m>
                  <m:oMath xmlns:m="http://schemas.openxmlformats.org/officeDocument/2006/math">
                    <m:r>
                      <m:rPr>
                        <m:sty m:val="p"/>
                      </m:rPr>
                      <m:t>≈</m:t>
                    </m:r>
                    <m:r>
                      <m:t>0.60</m:t>
                    </m:r>
                  </m:oMath>
                </a14:m>
                <a:r>
                  <a:rPr/>
                  <a:t>), so it sits farther in the tail.</a:t>
                </a:r>
              </a:p>
              <a:p>
                <a:pPr lvl="0" indent="-342900" marL="342900">
                  <a:buAutoNum type="arabicPeriod"/>
                </a:pPr>
                <a:r>
                  <a:rPr/>
                  <a:t>So </a:t>
                </a:r>
                <a14:m>
                  <m:oMath xmlns:m="http://schemas.openxmlformats.org/officeDocument/2006/math">
                    <m:r>
                      <m:t>D</m:t>
                    </m:r>
                    <m:r>
                      <m:rPr>
                        <m:sty m:val="p"/>
                      </m:rPr>
                      <m:t>=</m:t>
                    </m:r>
                    <m:r>
                      <m:rPr>
                        <m:sty m:val="p"/>
                      </m:rPr>
                      <m:t>−</m:t>
                    </m:r>
                    <m:r>
                      <m:t>2.9</m:t>
                    </m:r>
                  </m:oMath>
                </a14:m>
                <a:r>
                  <a:rPr/>
                  <a:t> gives the stronger evidence against </a:t>
                </a:r>
                <a14:m>
                  <m:oMath xmlns:m="http://schemas.openxmlformats.org/officeDocument/2006/math">
                    <m:sSub>
                      <m:e>
                        <m:r>
                          <m:t>H</m:t>
                        </m:r>
                      </m:e>
                      <m:sub>
                        <m:r>
                          <m:t>0</m:t>
                        </m:r>
                      </m:sub>
                    </m:sSub>
                  </m:oMath>
                </a14:m>
                <a:r>
                  <a:rPr/>
                  <a:t> — though with </a:t>
                </a:r>
                <a14:m>
                  <m:oMath xmlns:m="http://schemas.openxmlformats.org/officeDocument/2006/math">
                    <m:r>
                      <m:t>p</m:t>
                    </m:r>
                    <m:r>
                      <m:rPr>
                        <m:sty m:val="p"/>
                      </m:rPr>
                      <m:t>≈</m:t>
                    </m:r>
                    <m:r>
                      <m:t>0.25</m:t>
                    </m:r>
                  </m:oMath>
                </a14:m>
                <a:r>
                  <a:rPr/>
                  <a:t> neither result is discernible at </a:t>
                </a:r>
                <a14:m>
                  <m:oMath xmlns:m="http://schemas.openxmlformats.org/officeDocument/2006/math">
                    <m:r>
                      <m:t>α</m:t>
                    </m:r>
                    <m:r>
                      <m:rPr>
                        <m:sty m:val="p"/>
                      </m:rPr>
                      <m:t>=</m:t>
                    </m:r>
                    <m:r>
                      <m:t>0.05</m:t>
                    </m:r>
                  </m:oMath>
                </a14:m>
                <a:r>
                  <a:rPr/>
                  <a:t>.</a:t>
                </a:r>
              </a:p>
            </p:txBody>
          </p:sp>
        </mc:Choice>
      </mc:AlternateContent>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Example 8</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Class Example 7.6: Migraine Acupuncture Trial</a:t>
                </a:r>
              </a:p>
              <a:p>
                <a:pPr lvl="0" indent="0" marL="0">
                  <a:buNone/>
                </a:pPr>
                <a:r>
                  <a:rPr/>
                  <a:t>Can acupuncture relieve migraine pain? Allais et al. (2011) conducted a randomized controlled study where 89 individuals who suffered from migraines were randomly assigned to receive either acupuncture (treatment, </a:t>
                </a:r>
                <a14:m>
                  <m:oMath xmlns:m="http://schemas.openxmlformats.org/officeDocument/2006/math">
                    <m:r>
                      <m:t>n</m:t>
                    </m:r>
                    <m:r>
                      <m:rPr>
                        <m:sty m:val="p"/>
                      </m:rPr>
                      <m:t>=</m:t>
                    </m:r>
                    <m:r>
                      <m:t>43</m:t>
                    </m:r>
                  </m:oMath>
                </a14:m>
                <a:r>
                  <a:rPr/>
                  <a:t>) or placebo acupuncture (control, </a:t>
                </a:r>
                <a14:m>
                  <m:oMath xmlns:m="http://schemas.openxmlformats.org/officeDocument/2006/math">
                    <m:r>
                      <m:t>n</m:t>
                    </m:r>
                    <m:r>
                      <m:rPr>
                        <m:sty m:val="p"/>
                      </m:rPr>
                      <m:t>=</m:t>
                    </m:r>
                    <m:r>
                      <m:t>46</m:t>
                    </m:r>
                  </m:oMath>
                </a14:m>
                <a:r>
                  <a:rPr/>
                  <a:t>). The placebo acupuncture involved placing needles at non-acupuncture-point locations. Researchers recorded whether each patient was pain-free 24 hours after treatment. The full data are in the data set </a:t>
                </a:r>
                <a:r>
                  <a:rPr i="1"/>
                  <a:t>Migraine Acupuncture Trial</a:t>
                </a:r>
                <a:r>
                  <a:rPr/>
                  <a:t> on StatLens.</a:t>
                </a:r>
              </a:p>
              <a:p>
                <a:pPr lvl="0" indent="-342900" marL="342900">
                  <a:buAutoNum type="alphaLcParenR"/>
                </a:pPr>
                <a:r>
                  <a:rPr/>
                  <a:t>What are the null and alternative hypotheses for this study?</a:t>
                </a:r>
              </a:p>
              <a:p>
                <a:pPr lvl="0" indent="0" marL="0">
                  <a:buNone/>
                </a:pPr>
                <a:r>
                  <a:rPr/>
                  <a:t>. . .</a:t>
                </a:r>
              </a:p>
              <a:p>
                <a:pPr lvl="0" indent="-342900" marL="342900">
                  <a:buAutoNum type="arabicPeriod"/>
                </a:pPr>
                <a:r>
                  <a:rPr/>
                  <a:t>Parameters: </a:t>
                </a:r>
                <a14:m>
                  <m:oMath xmlns:m="http://schemas.openxmlformats.org/officeDocument/2006/math">
                    <m:sSub>
                      <m:e>
                        <m:r>
                          <m:t>p</m:t>
                        </m:r>
                      </m:e>
                      <m:sub>
                        <m:r>
                          <m:t>T</m:t>
                        </m:r>
                      </m:sub>
                    </m:sSub>
                  </m:oMath>
                </a14:m>
                <a:r>
                  <a:rPr/>
                  <a:t> and </a:t>
                </a:r>
                <a14:m>
                  <m:oMath xmlns:m="http://schemas.openxmlformats.org/officeDocument/2006/math">
                    <m:sSub>
                      <m:e>
                        <m:r>
                          <m:t>p</m:t>
                        </m:r>
                      </m:e>
                      <m:sub>
                        <m:r>
                          <m:t>C</m:t>
                        </m:r>
                      </m:sub>
                    </m:sSub>
                  </m:oMath>
                </a14:m>
                <a:r>
                  <a:rPr/>
                  <a:t>, the proportion pain-free after acupuncture (treatment) and sham (control).</a:t>
                </a:r>
              </a:p>
              <a:p>
                <a:pPr lvl="0" indent="-342900" marL="342900">
                  <a:buAutoNum type="arabicPeriod"/>
                </a:pPr>
                <a14:m>
                  <m:oMath xmlns:m="http://schemas.openxmlformats.org/officeDocument/2006/math">
                    <m:sSub>
                      <m:e>
                        <m:r>
                          <m:t>H</m:t>
                        </m:r>
                      </m:e>
                      <m:sub>
                        <m:r>
                          <m:t>0</m:t>
                        </m:r>
                      </m:sub>
                    </m:sSub>
                    <m:r>
                      <m:rPr>
                        <m:sty m:val="p"/>
                      </m:rPr>
                      <m:t>:</m:t>
                    </m:r>
                    <m:sSub>
                      <m:e>
                        <m:r>
                          <m:t>p</m:t>
                        </m:r>
                      </m:e>
                      <m:sub>
                        <m:r>
                          <m:t>T</m:t>
                        </m:r>
                      </m:sub>
                    </m:sSub>
                    <m:r>
                      <m:rPr>
                        <m:sty m:val="p"/>
                      </m:rPr>
                      <m:t>−</m:t>
                    </m:r>
                    <m:sSub>
                      <m:e>
                        <m:r>
                          <m:t>p</m:t>
                        </m:r>
                      </m:e>
                      <m:sub>
                        <m:r>
                          <m:t>C</m:t>
                        </m:r>
                      </m:sub>
                    </m:sSub>
                    <m:r>
                      <m:rPr>
                        <m:sty m:val="p"/>
                      </m:rPr>
                      <m:t>=</m:t>
                    </m:r>
                    <m:r>
                      <m:t>0</m:t>
                    </m:r>
                  </m:oMath>
                </a14:m>
                <a:r>
                  <a:rPr/>
                  <a:t> (acupuncture is no better than the placebo).</a:t>
                </a:r>
              </a:p>
              <a:p>
                <a:pPr lvl="0" indent="-342900" marL="342900">
                  <a:buAutoNum type="arabicPeriod"/>
                </a:pPr>
                <a14:m>
                  <m:oMath xmlns:m="http://schemas.openxmlformats.org/officeDocument/2006/math">
                    <m:sSub>
                      <m:e>
                        <m:r>
                          <m:t>H</m:t>
                        </m:r>
                      </m:e>
                      <m:sub>
                        <m:r>
                          <m:t>A</m:t>
                        </m:r>
                      </m:sub>
                    </m:sSub>
                    <m:r>
                      <m:rPr>
                        <m:sty m:val="p"/>
                      </m:rPr>
                      <m:t>:</m:t>
                    </m:r>
                    <m:sSub>
                      <m:e>
                        <m:r>
                          <m:t>p</m:t>
                        </m:r>
                      </m:e>
                      <m:sub>
                        <m:r>
                          <m:t>T</m:t>
                        </m:r>
                      </m:sub>
                    </m:sSub>
                    <m:r>
                      <m:rPr>
                        <m:sty m:val="p"/>
                      </m:rPr>
                      <m:t>−</m:t>
                    </m:r>
                    <m:sSub>
                      <m:e>
                        <m:r>
                          <m:t>p</m:t>
                        </m:r>
                      </m:e>
                      <m:sub>
                        <m:r>
                          <m:t>C</m:t>
                        </m:r>
                      </m:sub>
                    </m:sSub>
                    <m:r>
                      <m:rPr>
                        <m:sty m:val="p"/>
                      </m:rPr>
                      <m:t>&gt;</m:t>
                    </m:r>
                    <m:r>
                      <m:t>0</m:t>
                    </m:r>
                  </m:oMath>
                </a14:m>
                <a:r>
                  <a:rPr/>
                  <a:t> (acupuncture increases the proportion who are pain-free).</a:t>
                </a:r>
              </a:p>
              <a:p>
                <a:pPr lvl="0" indent="-342900" marL="342900">
                  <a:buAutoNum startAt="2" type="alphaLcParenR"/>
                </a:pPr>
                <a:r>
                  <a:rPr/>
                  <a:t>What was the sample statistic for these data?</a:t>
                </a:r>
              </a:p>
              <a:p>
                <a:pPr lvl="0" indent="0" marL="0">
                  <a:buNone/>
                </a:pPr>
                <a:r>
                  <a:rPr/>
                  <a:t>. . .</a:t>
                </a:r>
              </a:p>
              <a:p>
                <a:pPr lvl="0" indent="-342900" marL="342900">
                  <a:buAutoNum type="arabicPeriod"/>
                </a:pPr>
                <a:r>
                  <a:rPr/>
                  <a:t>Treatment: </a:t>
                </a:r>
                <a14:m>
                  <m:oMath xmlns:m="http://schemas.openxmlformats.org/officeDocument/2006/math">
                    <m:sSub>
                      <m:e>
                        <m:acc>
                          <m:accPr>
                            <m:chr m:val="̂"/>
                          </m:accPr>
                          <m:e>
                            <m:r>
                              <m:t>p</m:t>
                            </m:r>
                          </m:e>
                        </m:acc>
                      </m:e>
                      <m:sub>
                        <m:r>
                          <m:t>T</m:t>
                        </m:r>
                      </m:sub>
                    </m:sSub>
                    <m:r>
                      <m:rPr>
                        <m:sty m:val="p"/>
                      </m:rPr>
                      <m:t>=</m:t>
                    </m:r>
                    <m:r>
                      <m:t>10</m:t>
                    </m:r>
                    <m:r>
                      <m:rPr>
                        <m:sty m:val="p"/>
                      </m:rPr>
                      <m:t>/</m:t>
                    </m:r>
                    <m:r>
                      <m:t>43</m:t>
                    </m:r>
                    <m:r>
                      <m:rPr>
                        <m:sty m:val="p"/>
                      </m:rPr>
                      <m:t>=</m:t>
                    </m:r>
                    <m:r>
                      <m:t>0.233</m:t>
                    </m:r>
                  </m:oMath>
                </a14:m>
                <a:r>
                  <a:rPr/>
                  <a:t>. Control: </a:t>
                </a:r>
                <a14:m>
                  <m:oMath xmlns:m="http://schemas.openxmlformats.org/officeDocument/2006/math">
                    <m:sSub>
                      <m:e>
                        <m:acc>
                          <m:accPr>
                            <m:chr m:val="̂"/>
                          </m:accPr>
                          <m:e>
                            <m:r>
                              <m:t>p</m:t>
                            </m:r>
                          </m:e>
                        </m:acc>
                      </m:e>
                      <m:sub>
                        <m:r>
                          <m:t>C</m:t>
                        </m:r>
                      </m:sub>
                    </m:sSub>
                    <m:r>
                      <m:rPr>
                        <m:sty m:val="p"/>
                      </m:rPr>
                      <m:t>=</m:t>
                    </m:r>
                    <m:r>
                      <m:t>2</m:t>
                    </m:r>
                    <m:r>
                      <m:rPr>
                        <m:sty m:val="p"/>
                      </m:rPr>
                      <m:t>/</m:t>
                    </m:r>
                    <m:r>
                      <m:t>46</m:t>
                    </m:r>
                    <m:r>
                      <m:rPr>
                        <m:sty m:val="p"/>
                      </m:rPr>
                      <m:t>=</m:t>
                    </m:r>
                    <m:r>
                      <m:t>0.043</m:t>
                    </m:r>
                  </m:oMath>
                </a14:m>
                <a:r>
                  <a:rPr/>
                  <a:t>.</a:t>
                </a:r>
              </a:p>
              <a:p>
                <a:pPr lvl="0" indent="-342900" marL="342900">
                  <a:buAutoNum type="arabicPeriod"/>
                </a:pPr>
                <a:r>
                  <a:rPr/>
                  <a:t>Statistic: </a:t>
                </a:r>
                <a14:m>
                  <m:oMath xmlns:m="http://schemas.openxmlformats.org/officeDocument/2006/math">
                    <m:sSub>
                      <m:e>
                        <m:acc>
                          <m:accPr>
                            <m:chr m:val="̂"/>
                          </m:accPr>
                          <m:e>
                            <m:r>
                              <m:t>p</m:t>
                            </m:r>
                          </m:e>
                        </m:acc>
                      </m:e>
                      <m:sub>
                        <m:r>
                          <m:t>T</m:t>
                        </m:r>
                      </m:sub>
                    </m:sSub>
                    <m:r>
                      <m:rPr>
                        <m:sty m:val="p"/>
                      </m:rPr>
                      <m:t>−</m:t>
                    </m:r>
                    <m:sSub>
                      <m:e>
                        <m:acc>
                          <m:accPr>
                            <m:chr m:val="̂"/>
                          </m:accPr>
                          <m:e>
                            <m:r>
                              <m:t>p</m:t>
                            </m:r>
                          </m:e>
                        </m:acc>
                      </m:e>
                      <m:sub>
                        <m:r>
                          <m:t>C</m:t>
                        </m:r>
                      </m:sub>
                    </m:sSub>
                    <m:r>
                      <m:rPr>
                        <m:sty m:val="p"/>
                      </m:rPr>
                      <m:t>=</m:t>
                    </m:r>
                    <m:r>
                      <m:t>0.233</m:t>
                    </m:r>
                    <m:r>
                      <m:rPr>
                        <m:sty m:val="p"/>
                      </m:rPr>
                      <m:t>−</m:t>
                    </m:r>
                    <m:r>
                      <m:t>0.043</m:t>
                    </m:r>
                    <m:r>
                      <m:rPr>
                        <m:sty m:val="p"/>
                      </m:rPr>
                      <m:t>=</m:t>
                    </m:r>
                    <m:r>
                      <m:t>0.19</m:t>
                    </m:r>
                  </m:oMath>
                </a14:m>
                <a:r>
                  <a:rPr/>
                  <a:t> (about 19 percentage points more pain-free in the acupuncture group).</a:t>
                </a:r>
              </a:p>
              <a:p>
                <a:pPr lvl="0" indent="-342900" marL="342900">
                  <a:buAutoNum startAt="3" type="alphaLcParenR"/>
                </a:pPr>
                <a:r>
                  <a:rPr/>
                  <a:t>What is the probability that the sample results (or those more extreme) occurred by random chance, assuming that the acupuncture had no effect?</a:t>
                </a:r>
              </a:p>
              <a:p>
                <a:pPr lvl="0" indent="0" marL="0">
                  <a:buNone/>
                </a:pPr>
                <a:r>
                  <a:rPr/>
                  <a:t>. . .</a:t>
                </a:r>
              </a:p>
              <a:p>
                <a:pPr lvl="0" indent="-342900" marL="342900">
                  <a:buAutoNum type="arabicPeriod"/>
                </a:pPr>
                <a:r>
                  <a:rPr/>
                  <a:t>This probability is the </a:t>
                </a:r>
                <a14:m>
                  <m:oMath xmlns:m="http://schemas.openxmlformats.org/officeDocument/2006/math">
                    <m:r>
                      <m:t>p</m:t>
                    </m:r>
                  </m:oMath>
                </a14:m>
                <a:r>
                  <a:rPr/>
                  <a:t>-value. Build the randomization distribution in StatLens by shuffling the 12 pain-free labels among all 89 patients and re-splitting into groups of 43 and 46; record how often the shuffled difference reaches </a:t>
                </a:r>
                <a14:m>
                  <m:oMath xmlns:m="http://schemas.openxmlformats.org/officeDocument/2006/math">
                    <m:r>
                      <m:t>0.19</m:t>
                    </m:r>
                  </m:oMath>
                </a14:m>
                <a:r>
                  <a:rPr/>
                  <a:t> or more.</a:t>
                </a:r>
              </a:p>
              <a:p>
                <a:pPr lvl="0" indent="-342900" marL="342900">
                  <a:buAutoNum type="arabicPeriod"/>
                </a:pPr>
                <a:r>
                  <a:rPr/>
                  <a:t>Very few shuffles reach </a:t>
                </a:r>
                <a14:m>
                  <m:oMath xmlns:m="http://schemas.openxmlformats.org/officeDocument/2006/math">
                    <m:r>
                      <m:t>0.19</m:t>
                    </m:r>
                  </m:oMath>
                </a14:m>
                <a:r>
                  <a:rPr/>
                  <a:t>: the one-sided </a:t>
                </a:r>
                <a14:m>
                  <m:oMath xmlns:m="http://schemas.openxmlformats.org/officeDocument/2006/math">
                    <m:r>
                      <m:t>p</m:t>
                    </m:r>
                  </m:oMath>
                </a14:m>
                <a:r>
                  <a:rPr/>
                  <a:t>-value is about </a:t>
                </a:r>
                <a:r>
                  <a:rPr b="1"/>
                  <a:t>0.01</a:t>
                </a:r>
                <a:r>
                  <a:rPr/>
                  <a:t>. It would be rare to see a gap this large by chance alone.</a:t>
                </a:r>
              </a:p>
              <a:p>
                <a:pPr lvl="0" indent="-342900" marL="342900">
                  <a:buAutoNum startAt="4" type="alphaLcParenR"/>
                </a:pPr>
                <a:r>
                  <a:rPr/>
                  <a:t>How would your answer to c) change if the alternative hypothesis was two-sided?</a:t>
                </a:r>
              </a:p>
              <a:p>
                <a:pPr lvl="0" indent="0" marL="0">
                  <a:buNone/>
                </a:pPr>
                <a:r>
                  <a:rPr/>
                  <a:t>. . .</a:t>
                </a:r>
              </a:p>
              <a:p>
                <a:pPr lvl="0" indent="-342900" marL="342900">
                  <a:buAutoNum type="arabicPeriod"/>
                </a:pPr>
                <a:r>
                  <a:rPr/>
                  <a:t>A two-sided test counts extremes in </a:t>
                </a:r>
                <a:r>
                  <a:rPr i="1"/>
                  <a:t>both</a:t>
                </a:r>
                <a:r>
                  <a:rPr/>
                  <a:t> tails, so we double the one-sided value: </a:t>
                </a:r>
                <a14:m>
                  <m:oMath xmlns:m="http://schemas.openxmlformats.org/officeDocument/2006/math">
                    <m:r>
                      <m:t>p</m:t>
                    </m:r>
                    <m:r>
                      <m:rPr>
                        <m:sty m:val="p"/>
                      </m:rPr>
                      <m:t>≈</m:t>
                    </m:r>
                    <m:r>
                      <m:t>0.02</m:t>
                    </m:r>
                  </m:oMath>
                </a14:m>
                <a:r>
                  <a:rPr/>
                  <a:t>.</a:t>
                </a:r>
              </a:p>
              <a:p>
                <a:pPr lvl="0" indent="-342900" marL="342900">
                  <a:buAutoNum type="arabicPeriod"/>
                </a:pPr>
                <a:r>
                  <a:rPr/>
                  <a:t>The evidence is a bit weaker, but </a:t>
                </a:r>
                <a14:m>
                  <m:oMath xmlns:m="http://schemas.openxmlformats.org/officeDocument/2006/math">
                    <m:r>
                      <m:t>0.02</m:t>
                    </m:r>
                    <m:r>
                      <m:rPr>
                        <m:sty m:val="p"/>
                      </m:rPr>
                      <m:t>&lt;</m:t>
                    </m:r>
                    <m:r>
                      <m:t>0.05</m:t>
                    </m:r>
                  </m:oMath>
                </a14:m>
                <a:r>
                  <a:rPr/>
                  <a:t>, so the conclusion (discernible effect) is unchanged.</a:t>
                </a:r>
              </a:p>
            </p:txBody>
          </p:sp>
        </mc:Choice>
      </mc:AlternateContent>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Example 9</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Class Example 7.7: Calorie Counts</a:t>
                </a:r>
              </a:p>
              <a:p>
                <a:pPr lvl="0" indent="0" marL="0">
                  <a:buNone/>
                </a:pPr>
                <a:r>
                  <a:rPr/>
                  <a:t>Is the average amount of kilocalories from a major U.S. fast food chain menu item more than 525 kilocalories? Calorie counts for 515 menu items from eight major fast food chains were collected. The full data are in the data set </a:t>
                </a:r>
                <a:r>
                  <a:rPr i="1"/>
                  <a:t>Fast Food Calories</a:t>
                </a:r>
                <a:r>
                  <a:rPr/>
                  <a:t> on StatLens.</a:t>
                </a:r>
              </a:p>
              <a:p>
                <a:pPr lvl="0" indent="-342900" marL="342900">
                  <a:buAutoNum type="alphaLcParenR"/>
                </a:pPr>
                <a:r>
                  <a:rPr/>
                  <a:t>State the null and alternative hypotheses</a:t>
                </a:r>
              </a:p>
              <a:p>
                <a:pPr lvl="0" indent="0" marL="0">
                  <a:buNone/>
                </a:pPr>
                <a:r>
                  <a:rPr/>
                  <a:t>. . .</a:t>
                </a:r>
              </a:p>
              <a:p>
                <a:pPr lvl="0" indent="-342900" marL="342900">
                  <a:buAutoNum type="arabicPeriod"/>
                </a:pPr>
                <a:r>
                  <a:rPr/>
                  <a:t>Parameter: </a:t>
                </a:r>
                <a14:m>
                  <m:oMath xmlns:m="http://schemas.openxmlformats.org/officeDocument/2006/math">
                    <m:r>
                      <m:t>μ</m:t>
                    </m:r>
                  </m:oMath>
                </a14:m>
                <a:r>
                  <a:rPr/>
                  <a:t>, the mean calorie count for fast food menu items.</a:t>
                </a:r>
              </a:p>
              <a:p>
                <a:pPr lvl="0" indent="-342900" marL="342900">
                  <a:buAutoNum type="arabicPeriod"/>
                </a:pPr>
                <a14:m>
                  <m:oMath xmlns:m="http://schemas.openxmlformats.org/officeDocument/2006/math">
                    <m:sSub>
                      <m:e>
                        <m:r>
                          <m:t>H</m:t>
                        </m:r>
                      </m:e>
                      <m:sub>
                        <m:r>
                          <m:t>0</m:t>
                        </m:r>
                      </m:sub>
                    </m:sSub>
                    <m:r>
                      <m:rPr>
                        <m:sty m:val="p"/>
                      </m:rPr>
                      <m:t>:</m:t>
                    </m:r>
                    <m:r>
                      <m:t>μ</m:t>
                    </m:r>
                    <m:r>
                      <m:rPr>
                        <m:sty m:val="p"/>
                      </m:rPr>
                      <m:t>=</m:t>
                    </m:r>
                    <m:r>
                      <m:t>525</m:t>
                    </m:r>
                  </m:oMath>
                </a14:m>
                <a:r>
                  <a:rPr/>
                  <a:t>.</a:t>
                </a:r>
              </a:p>
              <a:p>
                <a:pPr lvl="0" indent="-342900" marL="342900">
                  <a:buAutoNum type="arabicPeriod"/>
                </a:pPr>
                <a14:m>
                  <m:oMath xmlns:m="http://schemas.openxmlformats.org/officeDocument/2006/math">
                    <m:sSub>
                      <m:e>
                        <m:r>
                          <m:t>H</m:t>
                        </m:r>
                      </m:e>
                      <m:sub>
                        <m:r>
                          <m:t>A</m:t>
                        </m:r>
                      </m:sub>
                    </m:sSub>
                    <m:r>
                      <m:rPr>
                        <m:sty m:val="p"/>
                      </m:rPr>
                      <m:t>:</m:t>
                    </m:r>
                    <m:r>
                      <m:t>μ</m:t>
                    </m:r>
                    <m:r>
                      <m:rPr>
                        <m:sty m:val="p"/>
                      </m:rPr>
                      <m:t>&gt;</m:t>
                    </m:r>
                    <m:r>
                      <m:t>525</m:t>
                    </m:r>
                  </m:oMath>
                </a14:m>
                <a:r>
                  <a:rPr/>
                  <a:t> (one-sided — “more than 525”).</a:t>
                </a:r>
              </a:p>
              <a:p>
                <a:pPr lvl="0" indent="-342900" marL="342900">
                  <a:buAutoNum startAt="2" type="alphaLcParenR"/>
                </a:pPr>
                <a:r>
                  <a:rPr/>
                  <a:t>What is the sample statistic?</a:t>
                </a:r>
              </a:p>
              <a:p>
                <a:pPr lvl="0" indent="0" marL="0">
                  <a:buNone/>
                </a:pPr>
                <a:r>
                  <a:rPr/>
                  <a:t>. . .</a:t>
                </a:r>
              </a:p>
              <a:p>
                <a:pPr lvl="0" indent="-342900" marL="342900">
                  <a:buAutoNum type="arabicPeriod"/>
                </a:pPr>
                <a:r>
                  <a:rPr/>
                  <a:t>The sample mean: </a:t>
                </a:r>
                <a14:m>
                  <m:oMath xmlns:m="http://schemas.openxmlformats.org/officeDocument/2006/math">
                    <m:bar>
                      <m:barPr>
                        <m:pos m:val="top"/>
                      </m:barPr>
                      <m:e>
                        <m:r>
                          <m:t>x</m:t>
                        </m:r>
                      </m:e>
                    </m:bar>
                    <m:r>
                      <m:rPr>
                        <m:sty m:val="p"/>
                      </m:rPr>
                      <m:t>≈</m:t>
                    </m:r>
                    <m:r>
                      <m:t>531</m:t>
                    </m:r>
                  </m:oMath>
                </a14:m>
                <a:r>
                  <a:rPr/>
                  <a:t> kilocalories (from the 515 menu items).</a:t>
                </a:r>
              </a:p>
              <a:p>
                <a:pPr lvl="0" indent="-342900" marL="342900">
                  <a:buAutoNum startAt="3" type="alphaLcParenR"/>
                </a:pPr>
                <a:r>
                  <a:rPr/>
                  <a:t>To create the randomization distribution, what do we have to assume?</a:t>
                </a:r>
              </a:p>
              <a:p>
                <a:pPr lvl="0" indent="0" marL="0">
                  <a:buNone/>
                </a:pPr>
                <a:r>
                  <a:rPr/>
                  <a:t>. . .</a:t>
                </a:r>
              </a:p>
              <a:p>
                <a:pPr lvl="0" indent="-342900" marL="342900">
                  <a:buAutoNum type="arabicPeriod"/>
                </a:pPr>
                <a:r>
                  <a:rPr/>
                  <a:t>We assume </a:t>
                </a:r>
                <a14:m>
                  <m:oMath xmlns:m="http://schemas.openxmlformats.org/officeDocument/2006/math">
                    <m:sSub>
                      <m:e>
                        <m:r>
                          <m:t>H</m:t>
                        </m:r>
                      </m:e>
                      <m:sub>
                        <m:r>
                          <m:t>0</m:t>
                        </m:r>
                      </m:sub>
                    </m:sSub>
                  </m:oMath>
                </a14:m>
                <a:r>
                  <a:rPr/>
                  <a:t> is true — that the mean really is </a:t>
                </a:r>
                <a14:m>
                  <m:oMath xmlns:m="http://schemas.openxmlformats.org/officeDocument/2006/math">
                    <m:r>
                      <m:t>525</m:t>
                    </m:r>
                  </m:oMath>
                </a14:m>
                <a:r>
                  <a:rPr/>
                  <a:t>.</a:t>
                </a:r>
              </a:p>
              <a:p>
                <a:pPr lvl="0" indent="-342900" marL="342900">
                  <a:buAutoNum type="arabicPeriod"/>
                </a:pPr>
                <a:r>
                  <a:rPr/>
                  <a:t>In StatLens we impose this by </a:t>
                </a:r>
                <a:r>
                  <a:rPr i="1"/>
                  <a:t>shifting</a:t>
                </a:r>
                <a:r>
                  <a:rPr/>
                  <a:t> the data so its mean sits at </a:t>
                </a:r>
                <a14:m>
                  <m:oMath xmlns:m="http://schemas.openxmlformats.org/officeDocument/2006/math">
                    <m:r>
                      <m:t>525</m:t>
                    </m:r>
                  </m:oMath>
                </a14:m>
                <a:r>
                  <a:rPr/>
                  <a:t>, then resampling to see how much the sample mean bounces around when </a:t>
                </a:r>
                <a14:m>
                  <m:oMath xmlns:m="http://schemas.openxmlformats.org/officeDocument/2006/math">
                    <m:r>
                      <m:t>μ</m:t>
                    </m:r>
                    <m:r>
                      <m:rPr>
                        <m:sty m:val="p"/>
                      </m:rPr>
                      <m:t>=</m:t>
                    </m:r>
                    <m:r>
                      <m:t>525</m:t>
                    </m:r>
                  </m:oMath>
                </a14:m>
                <a:r>
                  <a:rPr/>
                  <a:t>. The distribution is therefore centered at </a:t>
                </a:r>
                <a14:m>
                  <m:oMath xmlns:m="http://schemas.openxmlformats.org/officeDocument/2006/math">
                    <m:r>
                      <m:t>525</m:t>
                    </m:r>
                  </m:oMath>
                </a14:m>
                <a:r>
                  <a:rPr/>
                  <a:t>.</a:t>
                </a:r>
              </a:p>
              <a:p>
                <a:pPr lvl="0" indent="-342900" marL="342900">
                  <a:buAutoNum startAt="4" type="alphaLcParenR"/>
                </a:pPr>
                <a:r>
                  <a:rPr/>
                  <a:t>What is the </a:t>
                </a:r>
                <a14:m>
                  <m:oMath xmlns:m="http://schemas.openxmlformats.org/officeDocument/2006/math">
                    <m:r>
                      <m:t>p</m:t>
                    </m:r>
                  </m:oMath>
                </a14:m>
                <a:r>
                  <a:rPr/>
                  <a:t>-value for this study?</a:t>
                </a:r>
              </a:p>
              <a:p>
                <a:pPr lvl="0" indent="0" marL="0">
                  <a:buNone/>
                </a:pPr>
                <a:r>
                  <a:rPr/>
                  <a:t>. . .</a:t>
                </a:r>
              </a:p>
              <a:p>
                <a:pPr lvl="0" indent="-342900" marL="342900">
                  <a:buAutoNum type="arabicPeriod"/>
                </a:pPr>
                <a:r>
                  <a:rPr/>
                  <a:t>The </a:t>
                </a:r>
                <a14:m>
                  <m:oMath xmlns:m="http://schemas.openxmlformats.org/officeDocument/2006/math">
                    <m:r>
                      <m:t>p</m:t>
                    </m:r>
                  </m:oMath>
                </a14:m>
                <a:r>
                  <a:rPr/>
                  <a:t>-value is the fraction of that null distribution at or above the observed </a:t>
                </a:r>
                <a14:m>
                  <m:oMath xmlns:m="http://schemas.openxmlformats.org/officeDocument/2006/math">
                    <m:bar>
                      <m:barPr>
                        <m:pos m:val="top"/>
                      </m:barPr>
                      <m:e>
                        <m:r>
                          <m:t>x</m:t>
                        </m:r>
                      </m:e>
                    </m:bar>
                    <m:r>
                      <m:rPr>
                        <m:sty m:val="p"/>
                      </m:rPr>
                      <m:t>≈</m:t>
                    </m:r>
                    <m:r>
                      <m:t>531</m:t>
                    </m:r>
                  </m:oMath>
                </a14:m>
                <a:r>
                  <a:rPr/>
                  <a:t>.</a:t>
                </a:r>
              </a:p>
              <a:p>
                <a:pPr lvl="0" indent="-342900" marL="342900">
                  <a:buAutoNum type="arabicPeriod"/>
                </a:pPr>
                <a14:m>
                  <m:oMath xmlns:m="http://schemas.openxmlformats.org/officeDocument/2006/math">
                    <m:r>
                      <m:t>531</m:t>
                    </m:r>
                  </m:oMath>
                </a14:m>
                <a:r>
                  <a:rPr/>
                  <a:t> sits well inside the bulk of the distribution, so the </a:t>
                </a:r>
                <a14:m>
                  <m:oMath xmlns:m="http://schemas.openxmlformats.org/officeDocument/2006/math">
                    <m:r>
                      <m:t>p</m:t>
                    </m:r>
                  </m:oMath>
                </a14:m>
                <a:r>
                  <a:rPr/>
                  <a:t>-value is large: about </a:t>
                </a:r>
                <a:r>
                  <a:rPr b="1"/>
                  <a:t>0.32</a:t>
                </a:r>
                <a:r>
                  <a:rPr/>
                  <a:t>. The data do </a:t>
                </a:r>
                <a:r>
                  <a:rPr b="1"/>
                  <a:t>not</a:t>
                </a:r>
                <a:r>
                  <a:rPr/>
                  <a:t> provide discernible evidence that the mean exceeds 525 kcal.</a:t>
                </a:r>
              </a:p>
            </p:txBody>
          </p:sp>
        </mc:Choice>
      </mc:AlternateContent>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Example 10</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Class Example 7.8: Cereal study revisited</a:t>
                </a:r>
              </a:p>
              <a:p>
                <a:pPr lvl="0" indent="0" marL="0">
                  <a:buNone/>
                </a:pPr>
                <a:r>
                  <a:rPr/>
                  <a:t>Recall the motivating cereal study. We were trying to determine if children had a preference for the cereal in the box with the cartoon. In the study 52 out of 80 children chose the box with cartoons. Use StatLens to find the </a:t>
                </a:r>
                <a14:m>
                  <m:oMath xmlns:m="http://schemas.openxmlformats.org/officeDocument/2006/math">
                    <m:r>
                      <m:t>p</m:t>
                    </m:r>
                  </m:oMath>
                </a14:m>
                <a:r>
                  <a:rPr/>
                  <a:t>-value for this scenario.</a:t>
                </a:r>
              </a:p>
              <a:p>
                <a:pPr lvl="0" indent="0" marL="0">
                  <a:buNone/>
                </a:pPr>
                <a:r>
                  <a:rPr/>
                  <a:t>. . .</a:t>
                </a:r>
              </a:p>
              <a:p>
                <a:pPr lvl="0" indent="-342900" marL="342900">
                  <a:buAutoNum type="arabicPeriod"/>
                </a:pPr>
                <a14:m>
                  <m:oMath xmlns:m="http://schemas.openxmlformats.org/officeDocument/2006/math">
                    <m:sSub>
                      <m:e>
                        <m:r>
                          <m:t>H</m:t>
                        </m:r>
                      </m:e>
                      <m:sub>
                        <m:r>
                          <m:t>0</m:t>
                        </m:r>
                      </m:sub>
                    </m:sSub>
                    <m:r>
                      <m:rPr>
                        <m:sty m:val="p"/>
                      </m:rPr>
                      <m:t>:</m:t>
                    </m:r>
                    <m:r>
                      <m:t>p</m:t>
                    </m:r>
                    <m:r>
                      <m:rPr>
                        <m:sty m:val="p"/>
                      </m:rPr>
                      <m:t>=</m:t>
                    </m:r>
                    <m:r>
                      <m:t>0.5</m:t>
                    </m:r>
                  </m:oMath>
                </a14:m>
                <a:r>
                  <a:rPr/>
                  <a:t> vs. </a:t>
                </a:r>
                <a14:m>
                  <m:oMath xmlns:m="http://schemas.openxmlformats.org/officeDocument/2006/math">
                    <m:sSub>
                      <m:e>
                        <m:r>
                          <m:t>H</m:t>
                        </m:r>
                      </m:e>
                      <m:sub>
                        <m:r>
                          <m:t>A</m:t>
                        </m:r>
                      </m:sub>
                    </m:sSub>
                    <m:r>
                      <m:rPr>
                        <m:sty m:val="p"/>
                      </m:rPr>
                      <m:t>:</m:t>
                    </m:r>
                    <m:r>
                      <m:t>p</m:t>
                    </m:r>
                    <m:r>
                      <m:rPr>
                        <m:sty m:val="p"/>
                      </m:rPr>
                      <m:t>&gt;</m:t>
                    </m:r>
                    <m:r>
                      <m:t>0.5</m:t>
                    </m:r>
                  </m:oMath>
                </a14:m>
                <a:r>
                  <a:rPr/>
                  <a:t>; observed </a:t>
                </a:r>
                <a14:m>
                  <m:oMath xmlns:m="http://schemas.openxmlformats.org/officeDocument/2006/math">
                    <m:acc>
                      <m:accPr>
                        <m:chr m:val="̂"/>
                      </m:accPr>
                      <m:e>
                        <m:r>
                          <m:t>p</m:t>
                        </m:r>
                      </m:e>
                    </m:acc>
                    <m:r>
                      <m:rPr>
                        <m:sty m:val="p"/>
                      </m:rPr>
                      <m:t>=</m:t>
                    </m:r>
                    <m:r>
                      <m:t>52</m:t>
                    </m:r>
                    <m:r>
                      <m:rPr>
                        <m:sty m:val="p"/>
                      </m:rPr>
                      <m:t>/</m:t>
                    </m:r>
                    <m:r>
                      <m:t>80</m:t>
                    </m:r>
                    <m:r>
                      <m:rPr>
                        <m:sty m:val="p"/>
                      </m:rPr>
                      <m:t>=</m:t>
                    </m:r>
                    <m:r>
                      <m:t>0.65</m:t>
                    </m:r>
                  </m:oMath>
                </a14:m>
                <a:r>
                  <a:rPr/>
                  <a:t>.</a:t>
                </a:r>
              </a:p>
              <a:p>
                <a:pPr lvl="0" indent="-342900" marL="342900">
                  <a:buAutoNum type="arabicPeriod"/>
                </a:pPr>
                <a:r>
                  <a:rPr/>
                  <a:t>In StatLens, simulate many samples of 80 children with </a:t>
                </a:r>
                <a14:m>
                  <m:oMath xmlns:m="http://schemas.openxmlformats.org/officeDocument/2006/math">
                    <m:r>
                      <m:t>p</m:t>
                    </m:r>
                    <m:r>
                      <m:rPr>
                        <m:sty m:val="p"/>
                      </m:rPr>
                      <m:t>=</m:t>
                    </m:r>
                    <m:r>
                      <m:t>0.5</m:t>
                    </m:r>
                  </m:oMath>
                </a14:m>
                <a:r>
                  <a:rPr/>
                  <a:t> and find the fraction with </a:t>
                </a:r>
                <a14:m>
                  <m:oMath xmlns:m="http://schemas.openxmlformats.org/officeDocument/2006/math">
                    <m:acc>
                      <m:accPr>
                        <m:chr m:val="̂"/>
                      </m:accPr>
                      <m:e>
                        <m:r>
                          <m:t>p</m:t>
                        </m:r>
                      </m:e>
                    </m:acc>
                    <m:r>
                      <m:rPr>
                        <m:sty m:val="p"/>
                      </m:rPr>
                      <m:t>≥</m:t>
                    </m:r>
                    <m:r>
                      <m:t>0.65</m:t>
                    </m:r>
                  </m:oMath>
                </a14:m>
                <a:r>
                  <a:rPr/>
                  <a:t> (52 or more choosing cartoons).</a:t>
                </a:r>
              </a:p>
              <a:p>
                <a:pPr lvl="0" indent="-342900" marL="342900">
                  <a:buAutoNum type="arabicPeriod"/>
                </a:pPr>
                <a:r>
                  <a:rPr/>
                  <a:t>That upper tail is tiny: the </a:t>
                </a:r>
                <a14:m>
                  <m:oMath xmlns:m="http://schemas.openxmlformats.org/officeDocument/2006/math">
                    <m:r>
                      <m:t>p</m:t>
                    </m:r>
                  </m:oMath>
                </a14:m>
                <a:r>
                  <a:rPr/>
                  <a:t>-value is about </a:t>
                </a:r>
                <a:r>
                  <a:rPr b="1"/>
                  <a:t>0.005</a:t>
                </a:r>
                <a:r>
                  <a:rPr/>
                  <a:t>. Strong evidence that children do prefer the cartoon box.</a:t>
                </a:r>
              </a:p>
            </p:txBody>
          </p:sp>
        </mc:Choice>
      </mc:AlternateContent>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Statistical discernibility</a:t>
            </a:r>
          </a:p>
        </p:txBody>
      </p:sp>
      <p:sp>
        <p:nvSpPr>
          <p:cNvPr id="3" name="Content Placeholder 2"/>
          <p:cNvSpPr>
            <a:spLocks noGrp="1"/>
          </p:cNvSpPr>
          <p:nvPr>
            <p:ph idx="1"/>
          </p:nvPr>
        </p:nvSpPr>
        <p:spPr/>
        <p:txBody>
          <a:bodyPr/>
          <a:lstStyle/>
          <a:p>
            <a:pPr lvl="0" indent="0" marL="0">
              <a:spcBef>
                <a:spcPts val="3000"/>
              </a:spcBef>
              <a:buNone/>
            </a:pPr>
            <a:r>
              <a:rPr b="1"/>
              <a:t>Decision framework</a:t>
            </a:r>
          </a:p>
          <a:p>
            <a:pPr lvl="0" indent="0" marL="0">
              <a:spcBef>
                <a:spcPts val="3000"/>
              </a:spcBef>
              <a:buNone/>
            </a:pPr>
            <a:r>
              <a:rPr b="1"/>
              <a:t>What “statistically discernible” does and does not mean</a:t>
            </a:r>
          </a:p>
          <a:p>
            <a:pPr lvl="0" indent="0" marL="0">
              <a:spcBef>
                <a:spcPts val="3000"/>
              </a:spcBef>
              <a:buNone/>
            </a:pPr>
            <a:r>
              <a:rPr b="1"/>
              <a:t>How small is small enough?</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Example 11</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Class Example 7.9: Red wine and weight loss</a:t>
                </a:r>
              </a:p>
              <a:p>
                <a:pPr lvl="0" indent="0" marL="0">
                  <a:buNone/>
                </a:pPr>
                <a:r>
                  <a:rPr/>
                  <a:t>Resveratrol, an ingredient in red wine and grapes, has been shown to promote weight loss in rodents. A recent study (</a:t>
                </a:r>
                <a:r>
                  <a:rPr i="1"/>
                  <a:t>Science Daily</a:t>
                </a:r>
                <a:r>
                  <a:rPr/>
                  <a:t>, 2010) investigates whether the same phenomenon holds true in primates. A sample of six lemurs had their resting metabolic rate, body mass gain, food intake, and locomotor activity measured for one week prior to resveratrol supplementation and then the four indicates were measured again after treatment. For each of the following, use the </a:t>
                </a:r>
                <a14:m>
                  <m:oMath xmlns:m="http://schemas.openxmlformats.org/officeDocument/2006/math">
                    <m:r>
                      <m:t>p</m:t>
                    </m:r>
                  </m:oMath>
                </a14:m>
                <a:r>
                  <a:rPr/>
                  <a:t>-value to make the appropriate conclusion (reject or do not reject) for the hypothesis tests. Use </a:t>
                </a:r>
                <a14:m>
                  <m:oMath xmlns:m="http://schemas.openxmlformats.org/officeDocument/2006/math">
                    <m:r>
                      <m:t>α</m:t>
                    </m:r>
                    <m:r>
                      <m:rPr>
                        <m:sty m:val="p"/>
                      </m:rPr>
                      <m:t>=</m:t>
                    </m:r>
                    <m:r>
                      <m:t>0.05</m:t>
                    </m:r>
                  </m:oMath>
                </a14:m>
                <a:r>
                  <a:rPr/>
                  <a:t> for each of your decisions.</a:t>
                </a:r>
              </a:p>
              <a:p>
                <a:pPr lvl="0" indent="-342900" marL="342900">
                  <a:buAutoNum type="alphaLcParenR"/>
                </a:pPr>
                <a:r>
                  <a:rPr/>
                  <a:t>In a test to see if mean resting metabolic rate is higher after treatment (</a:t>
                </a:r>
                <a14:m>
                  <m:oMath xmlns:m="http://schemas.openxmlformats.org/officeDocument/2006/math">
                    <m:r>
                      <m:t>p</m:t>
                    </m:r>
                  </m:oMath>
                </a14:m>
                <a:r>
                  <a:rPr/>
                  <a:t>-value of 0.013).</a:t>
                </a:r>
              </a:p>
              <a:p>
                <a:pPr lvl="0" indent="0" marL="0">
                  <a:buNone/>
                </a:pPr>
                <a:r>
                  <a:rPr/>
                  <a:t>. . .</a:t>
                </a:r>
              </a:p>
              <a:p>
                <a:pPr lvl="0" indent="-342900" marL="342900">
                  <a:buAutoNum type="arabicPeriod"/>
                </a:pPr>
                <a14:m>
                  <m:oMath xmlns:m="http://schemas.openxmlformats.org/officeDocument/2006/math">
                    <m:r>
                      <m:t>p</m:t>
                    </m:r>
                    <m:r>
                      <m:rPr>
                        <m:sty m:val="p"/>
                      </m:rPr>
                      <m:t>=</m:t>
                    </m:r>
                    <m:r>
                      <m:t>0.013</m:t>
                    </m:r>
                    <m:r>
                      <m:rPr>
                        <m:sty m:val="p"/>
                      </m:rPr>
                      <m:t>&lt;</m:t>
                    </m:r>
                    <m:r>
                      <m:t>0.05</m:t>
                    </m:r>
                    <m:r>
                      <m:rPr>
                        <m:sty m:val="p"/>
                      </m:rPr>
                      <m:t>=</m:t>
                    </m:r>
                    <m:r>
                      <m:t>α</m:t>
                    </m:r>
                  </m:oMath>
                </a14:m>
                <a:r>
                  <a:rPr/>
                  <a:t>, so </a:t>
                </a:r>
                <a:r>
                  <a:rPr b="1"/>
                  <a:t>reject </a:t>
                </a:r>
                <a14:m>
                  <m:oMath xmlns:m="http://schemas.openxmlformats.org/officeDocument/2006/math">
                    <m:sSub>
                      <m:e>
                        <m:r>
                          <m:t>H</m:t>
                        </m:r>
                      </m:e>
                      <m:sub>
                        <m:r>
                          <m:t>0</m:t>
                        </m:r>
                      </m:sub>
                    </m:sSub>
                  </m:oMath>
                </a14:m>
                <a:r>
                  <a:rPr/>
                  <a:t>.</a:t>
                </a:r>
              </a:p>
              <a:p>
                <a:pPr lvl="0" indent="-342900" marL="342900">
                  <a:buAutoNum startAt="2" type="alphaLcParenR"/>
                </a:pPr>
                <a:r>
                  <a:rPr/>
                  <a:t>In a test to see if mean body mass gain is lower after treatment (</a:t>
                </a:r>
                <a14:m>
                  <m:oMath xmlns:m="http://schemas.openxmlformats.org/officeDocument/2006/math">
                    <m:r>
                      <m:t>p</m:t>
                    </m:r>
                  </m:oMath>
                </a14:m>
                <a:r>
                  <a:rPr/>
                  <a:t>-value of 0.007).</a:t>
                </a:r>
              </a:p>
              <a:p>
                <a:pPr lvl="0" indent="0" marL="0">
                  <a:buNone/>
                </a:pPr>
                <a:r>
                  <a:rPr/>
                  <a:t>. . .</a:t>
                </a:r>
              </a:p>
              <a:p>
                <a:pPr lvl="0" indent="-342900" marL="342900">
                  <a:buAutoNum type="arabicPeriod"/>
                </a:pPr>
                <a14:m>
                  <m:oMath xmlns:m="http://schemas.openxmlformats.org/officeDocument/2006/math">
                    <m:r>
                      <m:t>p</m:t>
                    </m:r>
                    <m:r>
                      <m:rPr>
                        <m:sty m:val="p"/>
                      </m:rPr>
                      <m:t>=</m:t>
                    </m:r>
                    <m:r>
                      <m:t>0.007</m:t>
                    </m:r>
                    <m:r>
                      <m:rPr>
                        <m:sty m:val="p"/>
                      </m:rPr>
                      <m:t>&lt;</m:t>
                    </m:r>
                    <m:r>
                      <m:t>0.05</m:t>
                    </m:r>
                    <m:r>
                      <m:rPr>
                        <m:sty m:val="p"/>
                      </m:rPr>
                      <m:t>=</m:t>
                    </m:r>
                    <m:r>
                      <m:t>α</m:t>
                    </m:r>
                  </m:oMath>
                </a14:m>
                <a:r>
                  <a:rPr/>
                  <a:t>, so </a:t>
                </a:r>
                <a:r>
                  <a:rPr b="1"/>
                  <a:t>reject </a:t>
                </a:r>
                <a14:m>
                  <m:oMath xmlns:m="http://schemas.openxmlformats.org/officeDocument/2006/math">
                    <m:sSub>
                      <m:e>
                        <m:r>
                          <m:t>H</m:t>
                        </m:r>
                      </m:e>
                      <m:sub>
                        <m:r>
                          <m:t>0</m:t>
                        </m:r>
                      </m:sub>
                    </m:sSub>
                  </m:oMath>
                </a14:m>
                <a:r>
                  <a:rPr/>
                  <a:t>.</a:t>
                </a:r>
              </a:p>
              <a:p>
                <a:pPr lvl="0" indent="-342900" marL="342900">
                  <a:buAutoNum startAt="3" type="alphaLcParenR"/>
                </a:pPr>
                <a:r>
                  <a:rPr/>
                  <a:t>In a test to see if mean locomotor activity is affected by treatment (</a:t>
                </a:r>
                <a14:m>
                  <m:oMath xmlns:m="http://schemas.openxmlformats.org/officeDocument/2006/math">
                    <m:r>
                      <m:t>p</m:t>
                    </m:r>
                  </m:oMath>
                </a14:m>
                <a:r>
                  <a:rPr/>
                  <a:t>-value of 0.980).</a:t>
                </a:r>
              </a:p>
              <a:p>
                <a:pPr lvl="0" indent="0" marL="0">
                  <a:buNone/>
                </a:pPr>
                <a:r>
                  <a:rPr/>
                  <a:t>. . .</a:t>
                </a:r>
              </a:p>
              <a:p>
                <a:pPr lvl="0" indent="-342900" marL="342900">
                  <a:buAutoNum type="arabicPeriod"/>
                </a:pPr>
                <a14:m>
                  <m:oMath xmlns:m="http://schemas.openxmlformats.org/officeDocument/2006/math">
                    <m:r>
                      <m:t>p</m:t>
                    </m:r>
                    <m:r>
                      <m:rPr>
                        <m:sty m:val="p"/>
                      </m:rPr>
                      <m:t>=</m:t>
                    </m:r>
                    <m:r>
                      <m:t>0.980</m:t>
                    </m:r>
                    <m:r>
                      <m:rPr>
                        <m:sty m:val="p"/>
                      </m:rPr>
                      <m:t>≥</m:t>
                    </m:r>
                    <m:r>
                      <m:t>0.05</m:t>
                    </m:r>
                    <m:r>
                      <m:rPr>
                        <m:sty m:val="p"/>
                      </m:rPr>
                      <m:t>=</m:t>
                    </m:r>
                    <m:r>
                      <m:t>α</m:t>
                    </m:r>
                  </m:oMath>
                </a14:m>
                <a:r>
                  <a:rPr/>
                  <a:t>, so </a:t>
                </a:r>
                <a:r>
                  <a:rPr b="1"/>
                  <a:t>do not reject </a:t>
                </a:r>
                <a14:m>
                  <m:oMath xmlns:m="http://schemas.openxmlformats.org/officeDocument/2006/math">
                    <m:sSub>
                      <m:e>
                        <m:r>
                          <m:t>H</m:t>
                        </m:r>
                      </m:e>
                      <m:sub>
                        <m:r>
                          <m:t>0</m:t>
                        </m:r>
                      </m:sub>
                    </m:sSub>
                  </m:oMath>
                </a14:m>
                <a:r>
                  <a:rPr/>
                  <a:t>.</a:t>
                </a:r>
              </a:p>
              <a:p>
                <a:pPr lvl="0" indent="0" marL="0">
                  <a:spcBef>
                    <a:spcPts val="3000"/>
                  </a:spcBef>
                  <a:buNone/>
                </a:pPr>
                <a:r>
                  <a:rPr b="1"/>
                  <a:t>Interpreting your results</a:t>
                </a:r>
              </a:p>
            </p:txBody>
          </p:sp>
        </mc:Choice>
      </mc:AlternateContent>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Example 12</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Class Example 7.10: Red wine and weight loss revisted</a:t>
                </a:r>
              </a:p>
              <a:p>
                <a:pPr lvl="0" indent="0" marL="0">
                  <a:buNone/>
                </a:pPr>
                <a:r>
                  <a:rPr/>
                  <a:t>For each of the following, provide an interpretation of the conclusion in the context of the original study.</a:t>
                </a:r>
              </a:p>
              <a:p>
                <a:pPr lvl="0" indent="-342900" marL="342900">
                  <a:buAutoNum type="alphaLcParenR"/>
                </a:pPr>
                <a:r>
                  <a:rPr/>
                  <a:t>In a test to see if mean resting metabolic rate is higher after treatment (</a:t>
                </a:r>
                <a14:m>
                  <m:oMath xmlns:m="http://schemas.openxmlformats.org/officeDocument/2006/math">
                    <m:r>
                      <m:t>p</m:t>
                    </m:r>
                  </m:oMath>
                </a14:m>
                <a:r>
                  <a:rPr/>
                  <a:t>-value of 0.013).</a:t>
                </a:r>
              </a:p>
              <a:p>
                <a:pPr lvl="0" indent="0" marL="0">
                  <a:buNone/>
                </a:pPr>
                <a:r>
                  <a:rPr/>
                  <a:t>. . .</a:t>
                </a:r>
              </a:p>
              <a:p>
                <a:pPr lvl="0" indent="-342900" marL="342900">
                  <a:buAutoNum type="arabicPeriod"/>
                </a:pPr>
                <a:r>
                  <a:rPr/>
                  <a:t>At </a:t>
                </a:r>
                <a14:m>
                  <m:oMath xmlns:m="http://schemas.openxmlformats.org/officeDocument/2006/math">
                    <m:r>
                      <m:t>α</m:t>
                    </m:r>
                    <m:r>
                      <m:rPr>
                        <m:sty m:val="p"/>
                      </m:rPr>
                      <m:t>=</m:t>
                    </m:r>
                    <m:r>
                      <m:t>0.05</m:t>
                    </m:r>
                  </m:oMath>
                </a14:m>
                <a:r>
                  <a:rPr/>
                  <a:t>, we </a:t>
                </a:r>
                <a:r>
                  <a:rPr b="1"/>
                  <a:t>do</a:t>
                </a:r>
                <a:r>
                  <a:rPr/>
                  <a:t> have discernible evidence that the mean resting metabolic rate is higher after resveratrol treatment.</a:t>
                </a:r>
              </a:p>
              <a:p>
                <a:pPr lvl="0" indent="-342900" marL="342900">
                  <a:buAutoNum startAt="2" type="alphaLcParenR"/>
                </a:pPr>
                <a:r>
                  <a:rPr/>
                  <a:t>In a test to see if mean body mass gain is lower after treatment (</a:t>
                </a:r>
                <a14:m>
                  <m:oMath xmlns:m="http://schemas.openxmlformats.org/officeDocument/2006/math">
                    <m:r>
                      <m:t>p</m:t>
                    </m:r>
                  </m:oMath>
                </a14:m>
                <a:r>
                  <a:rPr/>
                  <a:t>-value of 0.007).</a:t>
                </a:r>
              </a:p>
              <a:p>
                <a:pPr lvl="0" indent="0" marL="0">
                  <a:buNone/>
                </a:pPr>
                <a:r>
                  <a:rPr/>
                  <a:t>. . .</a:t>
                </a:r>
              </a:p>
              <a:p>
                <a:pPr lvl="0" indent="-342900" marL="342900">
                  <a:buAutoNum type="arabicPeriod"/>
                </a:pPr>
                <a:r>
                  <a:rPr/>
                  <a:t>At </a:t>
                </a:r>
                <a14:m>
                  <m:oMath xmlns:m="http://schemas.openxmlformats.org/officeDocument/2006/math">
                    <m:r>
                      <m:t>α</m:t>
                    </m:r>
                    <m:r>
                      <m:rPr>
                        <m:sty m:val="p"/>
                      </m:rPr>
                      <m:t>=</m:t>
                    </m:r>
                    <m:r>
                      <m:t>0.05</m:t>
                    </m:r>
                  </m:oMath>
                </a14:m>
                <a:r>
                  <a:rPr/>
                  <a:t>, we </a:t>
                </a:r>
                <a:r>
                  <a:rPr b="1"/>
                  <a:t>do</a:t>
                </a:r>
                <a:r>
                  <a:rPr/>
                  <a:t> have discernible evidence that the mean body mass gain is lower after treatment.</a:t>
                </a:r>
              </a:p>
              <a:p>
                <a:pPr lvl="0" indent="-342900" marL="342900">
                  <a:buAutoNum startAt="3" type="alphaLcParenR"/>
                </a:pPr>
                <a:r>
                  <a:rPr/>
                  <a:t>In a test to see if mean locomotor activity is affected by treatment (</a:t>
                </a:r>
                <a14:m>
                  <m:oMath xmlns:m="http://schemas.openxmlformats.org/officeDocument/2006/math">
                    <m:r>
                      <m:t>p</m:t>
                    </m:r>
                  </m:oMath>
                </a14:m>
                <a:r>
                  <a:rPr/>
                  <a:t>-value of 0.980).</a:t>
                </a:r>
              </a:p>
              <a:p>
                <a:pPr lvl="0" indent="0" marL="0">
                  <a:buNone/>
                </a:pPr>
                <a:r>
                  <a:rPr/>
                  <a:t>. . .</a:t>
                </a:r>
              </a:p>
              <a:p>
                <a:pPr lvl="0" indent="-342900" marL="342900">
                  <a:buAutoNum type="arabicPeriod"/>
                </a:pPr>
                <a:r>
                  <a:rPr/>
                  <a:t>At </a:t>
                </a:r>
                <a14:m>
                  <m:oMath xmlns:m="http://schemas.openxmlformats.org/officeDocument/2006/math">
                    <m:r>
                      <m:t>α</m:t>
                    </m:r>
                    <m:r>
                      <m:rPr>
                        <m:sty m:val="p"/>
                      </m:rPr>
                      <m:t>=</m:t>
                    </m:r>
                    <m:r>
                      <m:t>0.05</m:t>
                    </m:r>
                  </m:oMath>
                </a14:m>
                <a:r>
                  <a:rPr/>
                  <a:t>, we </a:t>
                </a:r>
                <a:r>
                  <a:rPr b="1"/>
                  <a:t>do not</a:t>
                </a:r>
                <a:r>
                  <a:rPr/>
                  <a:t> have discernible evidence that mean locomotor activity is affected by treatment.</a:t>
                </a:r>
              </a:p>
            </p:txBody>
          </p:sp>
        </mc:Choice>
      </mc:AlternateContent>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Example 13</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Class Example 7.11: Migraine Acupuncture Trial revisited</a:t>
                </a:r>
              </a:p>
              <a:p>
                <a:pPr lvl="0" indent="0" marL="0">
                  <a:buNone/>
                </a:pPr>
                <a:r>
                  <a:rPr/>
                  <a:t>Can acupuncture relieve migraine pain? Using your decision from the Acupunture Trial example, interpret your results in the context of the problem.</a:t>
                </a:r>
              </a:p>
              <a:p>
                <a:pPr lvl="0" indent="0" marL="0">
                  <a:buNone/>
                </a:pPr>
                <a:r>
                  <a:rPr/>
                  <a:t>. . .</a:t>
                </a:r>
              </a:p>
              <a:p>
                <a:pPr lvl="0" indent="-342900" marL="342900">
                  <a:buAutoNum type="arabicPeriod"/>
                </a:pPr>
                <a:r>
                  <a:rPr/>
                  <a:t>The </a:t>
                </a:r>
                <a14:m>
                  <m:oMath xmlns:m="http://schemas.openxmlformats.org/officeDocument/2006/math">
                    <m:r>
                      <m:t>p</m:t>
                    </m:r>
                  </m:oMath>
                </a14:m>
                <a:r>
                  <a:rPr/>
                  <a:t>-value was about </a:t>
                </a:r>
                <a14:m>
                  <m:oMath xmlns:m="http://schemas.openxmlformats.org/officeDocument/2006/math">
                    <m:r>
                      <m:t>0.01</m:t>
                    </m:r>
                    <m:r>
                      <m:rPr>
                        <m:sty m:val="p"/>
                      </m:rPr>
                      <m:t>&lt;</m:t>
                    </m:r>
                    <m:r>
                      <m:t>0.05</m:t>
                    </m:r>
                  </m:oMath>
                </a14:m>
                <a:r>
                  <a:rPr/>
                  <a:t>, so we reject </a:t>
                </a:r>
                <a14:m>
                  <m:oMath xmlns:m="http://schemas.openxmlformats.org/officeDocument/2006/math">
                    <m:sSub>
                      <m:e>
                        <m:r>
                          <m:t>H</m:t>
                        </m:r>
                      </m:e>
                      <m:sub>
                        <m:r>
                          <m:t>0</m:t>
                        </m:r>
                      </m:sub>
                    </m:sSub>
                  </m:oMath>
                </a14:m>
                <a:r>
                  <a:rPr/>
                  <a:t>.</a:t>
                </a:r>
              </a:p>
              <a:p>
                <a:pPr lvl="0" indent="-342900" marL="342900">
                  <a:buAutoNum type="arabicPeriod"/>
                </a:pPr>
                <a:r>
                  <a:rPr/>
                  <a:t>At </a:t>
                </a:r>
                <a14:m>
                  <m:oMath xmlns:m="http://schemas.openxmlformats.org/officeDocument/2006/math">
                    <m:r>
                      <m:t>α</m:t>
                    </m:r>
                    <m:r>
                      <m:rPr>
                        <m:sty m:val="p"/>
                      </m:rPr>
                      <m:t>=</m:t>
                    </m:r>
                    <m:r>
                      <m:t>0.05</m:t>
                    </m:r>
                  </m:oMath>
                </a14:m>
                <a:r>
                  <a:rPr/>
                  <a:t>, we have discernible evidence that acupuncture increases the proportion of migraine patients who are pain-free 24 hours after treatment.</a:t>
                </a:r>
              </a:p>
              <a:p>
                <a:pPr lvl="0" indent="-342900" marL="342900">
                  <a:buAutoNum type="arabicPeriod"/>
                </a:pPr>
                <a:r>
                  <a:rPr/>
                  <a:t>Because patients were randomly assigned, this supports a </a:t>
                </a:r>
                <a:r>
                  <a:rPr i="1"/>
                  <a:t>causal</a:t>
                </a:r>
                <a:r>
                  <a:rPr/>
                  <a:t> conclusion: the acupuncture, not chance, explains the higher pain-free rate.</a:t>
                </a:r>
              </a:p>
            </p:txBody>
          </p:sp>
        </mc:Choice>
      </mc:AlternateContent>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Example 14</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Class Example 7.12: Calorie count revisited</a:t>
                </a:r>
              </a:p>
              <a:p>
                <a:pPr lvl="0" indent="0" marL="0">
                  <a:buNone/>
                </a:pPr>
                <a:r>
                  <a:rPr/>
                  <a:t>Is the average amount of kilocalories from a major U.S. fast food chain menu item more than 525 kilocalories? Using your decision from the Calorie Count example, interpret your results in the context of the problem.</a:t>
                </a:r>
              </a:p>
              <a:p>
                <a:pPr lvl="0" indent="0" marL="0">
                  <a:buNone/>
                </a:pPr>
                <a:r>
                  <a:rPr/>
                  <a:t>. . .</a:t>
                </a:r>
              </a:p>
              <a:p>
                <a:pPr lvl="0" indent="-342900" marL="342900">
                  <a:buAutoNum type="arabicPeriod"/>
                </a:pPr>
                <a:r>
                  <a:rPr/>
                  <a:t>The </a:t>
                </a:r>
                <a14:m>
                  <m:oMath xmlns:m="http://schemas.openxmlformats.org/officeDocument/2006/math">
                    <m:r>
                      <m:t>p</m:t>
                    </m:r>
                  </m:oMath>
                </a14:m>
                <a:r>
                  <a:rPr/>
                  <a:t>-value was about </a:t>
                </a:r>
                <a14:m>
                  <m:oMath xmlns:m="http://schemas.openxmlformats.org/officeDocument/2006/math">
                    <m:r>
                      <m:t>0.32</m:t>
                    </m:r>
                    <m:r>
                      <m:rPr>
                        <m:sty m:val="p"/>
                      </m:rPr>
                      <m:t>≥</m:t>
                    </m:r>
                    <m:r>
                      <m:t>0.05</m:t>
                    </m:r>
                  </m:oMath>
                </a14:m>
                <a:r>
                  <a:rPr/>
                  <a:t>, so we do not reject </a:t>
                </a:r>
                <a14:m>
                  <m:oMath xmlns:m="http://schemas.openxmlformats.org/officeDocument/2006/math">
                    <m:sSub>
                      <m:e>
                        <m:r>
                          <m:t>H</m:t>
                        </m:r>
                      </m:e>
                      <m:sub>
                        <m:r>
                          <m:t>0</m:t>
                        </m:r>
                      </m:sub>
                    </m:sSub>
                  </m:oMath>
                </a14:m>
                <a:r>
                  <a:rPr/>
                  <a:t>.</a:t>
                </a:r>
              </a:p>
              <a:p>
                <a:pPr lvl="0" indent="-342900" marL="342900">
                  <a:buAutoNum type="arabicPeriod"/>
                </a:pPr>
                <a:r>
                  <a:rPr/>
                  <a:t>At </a:t>
                </a:r>
                <a14:m>
                  <m:oMath xmlns:m="http://schemas.openxmlformats.org/officeDocument/2006/math">
                    <m:r>
                      <m:t>α</m:t>
                    </m:r>
                    <m:r>
                      <m:rPr>
                        <m:sty m:val="p"/>
                      </m:rPr>
                      <m:t>=</m:t>
                    </m:r>
                    <m:r>
                      <m:t>0.05</m:t>
                    </m:r>
                  </m:oMath>
                </a14:m>
                <a:r>
                  <a:rPr/>
                  <a:t>, we do </a:t>
                </a:r>
                <a:r>
                  <a:rPr b="1"/>
                  <a:t>not</a:t>
                </a:r>
                <a:r>
                  <a:rPr/>
                  <a:t> have discernible evidence that the mean calorie count of fast food menu items exceeds 525 kilocalories.</a:t>
                </a:r>
              </a:p>
              <a:p>
                <a:pPr lvl="0" indent="-342900" marL="342900">
                  <a:buAutoNum type="arabicPeriod"/>
                </a:pPr>
                <a:r>
                  <a:rPr/>
                  <a:t>Note this does not prove the mean equals 525 — only that the data are consistent with it.</a:t>
                </a:r>
              </a:p>
            </p:txBody>
          </p:sp>
        </mc:Choice>
      </mc:AlternateContent>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Example 15</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Class Example 7.13: Cereal study revisited</a:t>
                </a:r>
              </a:p>
              <a:p>
                <a:pPr lvl="0" indent="0" marL="0">
                  <a:buNone/>
                </a:pPr>
                <a:r>
                  <a:rPr/>
                  <a:t>Recall the motivating cereal study. Interpret the results of the study in the context of the problem.</a:t>
                </a:r>
              </a:p>
              <a:p>
                <a:pPr lvl="0" indent="0" marL="0">
                  <a:buNone/>
                </a:pPr>
                <a:r>
                  <a:rPr/>
                  <a:t>. . .</a:t>
                </a:r>
              </a:p>
              <a:p>
                <a:pPr lvl="0" indent="-342900" marL="342900">
                  <a:buAutoNum type="arabicPeriod"/>
                </a:pPr>
                <a:r>
                  <a:rPr/>
                  <a:t>The </a:t>
                </a:r>
                <a14:m>
                  <m:oMath xmlns:m="http://schemas.openxmlformats.org/officeDocument/2006/math">
                    <m:r>
                      <m:t>p</m:t>
                    </m:r>
                  </m:oMath>
                </a14:m>
                <a:r>
                  <a:rPr/>
                  <a:t>-value was about </a:t>
                </a:r>
                <a14:m>
                  <m:oMath xmlns:m="http://schemas.openxmlformats.org/officeDocument/2006/math">
                    <m:r>
                      <m:t>0.005</m:t>
                    </m:r>
                    <m:r>
                      <m:rPr>
                        <m:sty m:val="p"/>
                      </m:rPr>
                      <m:t>&lt;</m:t>
                    </m:r>
                    <m:r>
                      <m:t>0.05</m:t>
                    </m:r>
                  </m:oMath>
                </a14:m>
                <a:r>
                  <a:rPr/>
                  <a:t>, so we reject </a:t>
                </a:r>
                <a14:m>
                  <m:oMath xmlns:m="http://schemas.openxmlformats.org/officeDocument/2006/math">
                    <m:sSub>
                      <m:e>
                        <m:r>
                          <m:t>H</m:t>
                        </m:r>
                      </m:e>
                      <m:sub>
                        <m:r>
                          <m:t>0</m:t>
                        </m:r>
                      </m:sub>
                    </m:sSub>
                  </m:oMath>
                </a14:m>
                <a:r>
                  <a:rPr/>
                  <a:t>.</a:t>
                </a:r>
              </a:p>
              <a:p>
                <a:pPr lvl="0" indent="-342900" marL="342900">
                  <a:buAutoNum type="arabicPeriod"/>
                </a:pPr>
                <a:r>
                  <a:rPr/>
                  <a:t>At </a:t>
                </a:r>
                <a14:m>
                  <m:oMath xmlns:m="http://schemas.openxmlformats.org/officeDocument/2006/math">
                    <m:r>
                      <m:t>α</m:t>
                    </m:r>
                    <m:r>
                      <m:rPr>
                        <m:sty m:val="p"/>
                      </m:rPr>
                      <m:t>=</m:t>
                    </m:r>
                    <m:r>
                      <m:t>0.05</m:t>
                    </m:r>
                  </m:oMath>
                </a14:m>
                <a:r>
                  <a:rPr/>
                  <a:t>, we have discernible evidence that more than half of children prefer the cereal box with cartoons.</a:t>
                </a:r>
              </a:p>
            </p:txBody>
          </p:sp>
        </mc:Choice>
      </mc:AlternateContent>
    </p:spTree>
  </p:cSld>
</p:sld>
</file>

<file path=ppt/slides/slide28.xml><?xml version="1.0" encoding="UTF-8"?><p:sld xmlns:a="http://schemas.openxmlformats.org/drawingml/2006/main" xmlns:r="http://schemas.openxmlformats.org/officeDocument/2006/relationships" xmlns:p="http://schemas.openxmlformats.org/presentationml/2006/main"><p:cSld><p:spTree><p:nvGrpSpPr><p:cNvPr id="1" name="" /><p:cNvGrpSpPr /><p:nvPr /></p:nvGrpSpPr><p:grpSpPr><a:xfrm><a:off x="0" y="0" /><a:ext cx="0" cy="0" /><a:chOff x="0" y="0" /><a:chExt cx="0" cy="0" /></a:xfrm></p:grpSpPr><p:sp><p:nvSpPr><p:cNvPr id="2" name="Title 1" /><p:cNvSpPr><a:spLocks noGrp="1" /></p:cNvSpPr><p:nvPr><p:ph type="title" /></p:nvPr></p:nvSpPr><p:spPr /><p:txBody><a:bodyPr /><a:lstStyle /><a:p><a:pPr lvl="0" indent="0" marL="0"><a:buNone /></a:pPr><a:r><a:rPr /><a:t>Type I and Type II errors</a:t></a:r></a:p></p:txBody></p:sp><p:graphicFrame><p:nvGraphicFramePr><p:cNvPr id="6" name="Content Placeholder 5" /><p:cNvGraphicFramePr><a:graphicFrameLocks noGrp="1" /></p:cNvGraphicFramePr><p:nvPr><p:ph idx="1" /></p:nvPr></p:nvGraphicFramePr><p:xfrm><a:off x="457200" y="1193800" /><a:ext cx="8229600" cy="2882900" /></p:xfrm><a:graphic><a:graphicData uri="http://schemas.openxmlformats.org/drawingml/2006/table"><a:tbl><a:tblPr firstRow="1" bandRow="1"><a:tableStyleId>{5C22544A-7EE6-4342-B048-85BDC9FD1C3A}</a:tableStyleId></a:tblPr><a:tblGrid><a:gridCol w="3314700" /><a:gridCol w="2463800" /><a:gridCol w="2463800" /></a:tblGrid><a:tr h="0"><a:tc><a:txBody><a:bodyPr /><a:lstStyle /><a:p><a:endParaRPr /></a:p></a:txBody><a:tcPr /></a:tc><a:tc><a:txBody><a:bodyPr /><a:lstStyle /><a:p><a:pPr lvl="0" indent="0" marL="0" algn="ctr"><a:buNone /></a:pPr><a14:m><m:oMath xmlns:m="http://schemas.openxmlformats.org/officeDocument/2006/math"><m:sSub><m:e><m:r><m:t>H</m:t></m:r></m:e><m:sub><m:r><m:t>0</m:t></m:r></m:sub></m:sSub></m:oMath></a14:m><a:r><a:rPr /><a:t> is true</a:t></a:r></a:p></a:txBody><a:tcPr /></a:tc><a:tc><a:txBody><a:bodyPr /><a:lstStyle /><a:p><a:pPr lvl="0" indent="0" marL="0" algn="ctr"><a:buNone /></a:pPr><a14:m><m:oMath xmlns:m="http://schemas.openxmlformats.org/officeDocument/2006/math"><m:sSub><m:e><m:r><m:t>H</m:t></m:r></m:e><m:sub><m:r><m:t>A</m:t></m:r></m:sub></m:sSub></m:oMath></a14:m><a:r><a:rPr /><a:t> is true</a:t></a:r></a:p></a:txBody><a:tcPr /></a:tc></a:tr><a:tr h="0"><a:tc><a:txBody><a:bodyPr /><a:lstStyle /><a:p><a:pPr lvl="0" indent="0" marL="0" algn="l"><a:buNone /></a:pPr><a:r><a:rPr b="1" /><a:t>Reject</a:t></a:r><a:r><a:rPr /><a:t> </a:t></a:r><a14:m><m:oMath xmlns:m="http://schemas.openxmlformats.org/officeDocument/2006/math"><m:sSub><m:e><m:r><m:t>H</m:t></m:r></m:e><m:sub><m:r><m:t>0</m:t></m:r></m:sub></m:sSub></m:oMath></a14:m></a:p></a:txBody></a:tc><a:tc><a:txBody><a:bodyPr /><a:lstStyle /><a:p><a:pPr lvl="0" indent="0" marL="0" algn="ctr"><a:buNone /></a:pPr><a:r><a:rPr /><a:t>Type I error</a:t></a:r></a:p></a:txBody></a:tc><a:tc><a:txBody><a:bodyPr /><a:lstStyle /><a:p><a:pPr lvl="0" indent="0" marL="0" algn="ctr"><a:buNone /></a:pPr><a:r><a:rPr /><a:t>Correct decision</a:t></a:r></a:p></a:txBody></a:tc></a:tr><a:tr h="0"><a:tc><a:txBody><a:bodyPr /><a:lstStyle /><a:p><a:pPr lvl="0" indent="0" marL="0" algn="l"><a:buNone /></a:pPr><a:r><a:rPr b="1" /><a:t>Fail to reject</a:t></a:r><a:r><a:rPr /><a:t> </a:t></a:r><a14:m><m:oMath xmlns:m="http://schemas.openxmlformats.org/officeDocument/2006/math"><m:sSub><m:e><m:r><m:t>H</m:t></m:r></m:e><m:sub><m:r><m:t>0</m:t></m:r></m:sub></m:sSub></m:oMath></a14:m></a:p></a:txBody></a:tc><a:tc><a:txBody><a:bodyPr /><a:lstStyle /><a:p><a:pPr lvl="0" indent="0" marL="0" algn="ctr"><a:buNone /></a:pPr><a:r><a:rPr /><a:t>Correct decision</a:t></a:r></a:p></a:txBody></a:tc><a:tc><a:txBody><a:bodyPr /><a:lstStyle /><a:p><a:pPr lvl="0" indent="0" marL="0" algn="ctr"><a:buNone /></a:pPr><a:r><a:rPr /><a:t>Type II error</a:t></a:r></a:p></a:txBody></a:tc></a:tr></a:tbl></a:graphicData></a:graphic></p:graphicFrame><p:sp><p:nvSpPr><p:cNvPr id="1" name="TextBox 3" /><p:cNvSpPr txBox="1" /><p:nvPr /></p:nvSpPr><p:spPr><a:xfrm><a:off x="457200" y="4076700" /><a:ext cx="8229600" cy="508000" /></a:xfrm><a:prstGeom prst="rect"><a:avLst /></a:prstGeom><a:noFill /></p:spPr><p:txBody><a:bodyPr /><a:lstStyle /><a:p><a:pPr lvl="0" indent="0" marL="0" algn="ctr"><a:buNone /></a:pPr><a:r><a:rPr /><a:t>Four possible outcomes of a hypothesis test.</a:t></a:r></a:p></p:txBody></p:sp></p:spTree></p:cSld></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Example 16</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Class Example 7.14: Red wine and weight loss revisted</a:t>
                </a:r>
              </a:p>
              <a:p>
                <a:pPr lvl="0" indent="0" marL="0">
                  <a:buNone/>
                </a:pPr>
                <a:r>
                  <a:rPr/>
                  <a:t>For each of the following, identify which kind of error could have occurred (Type I or Type II) using </a:t>
                </a:r>
                <a14:m>
                  <m:oMath xmlns:m="http://schemas.openxmlformats.org/officeDocument/2006/math">
                    <m:r>
                      <m:t>α</m:t>
                    </m:r>
                    <m:r>
                      <m:rPr>
                        <m:sty m:val="p"/>
                      </m:rPr>
                      <m:t>=</m:t>
                    </m:r>
                    <m:r>
                      <m:t>0.05</m:t>
                    </m:r>
                  </m:oMath>
                </a14:m>
                <a:r>
                  <a:rPr/>
                  <a:t>.</a:t>
                </a:r>
              </a:p>
              <a:p>
                <a:pPr lvl="0" indent="-342900" marL="342900">
                  <a:buAutoNum type="alphaLcParenR"/>
                </a:pPr>
                <a:r>
                  <a:rPr/>
                  <a:t>In a test to see if mean resting metabolic rate is higher after treatment (</a:t>
                </a:r>
                <a14:m>
                  <m:oMath xmlns:m="http://schemas.openxmlformats.org/officeDocument/2006/math">
                    <m:r>
                      <m:t>p</m:t>
                    </m:r>
                  </m:oMath>
                </a14:m>
                <a:r>
                  <a:rPr/>
                  <a:t>-value of 0.013).</a:t>
                </a:r>
              </a:p>
              <a:p>
                <a:pPr lvl="0" indent="0" marL="0">
                  <a:buNone/>
                </a:pPr>
                <a:r>
                  <a:rPr/>
                  <a:t>. . .</a:t>
                </a:r>
              </a:p>
              <a:p>
                <a:pPr lvl="0" indent="-342900" marL="342900">
                  <a:buAutoNum type="arabicPeriod"/>
                </a:pPr>
                <a14:m>
                  <m:oMath xmlns:m="http://schemas.openxmlformats.org/officeDocument/2006/math">
                    <m:r>
                      <m:t>p</m:t>
                    </m:r>
                    <m:r>
                      <m:rPr>
                        <m:sty m:val="p"/>
                      </m:rPr>
                      <m:t>=</m:t>
                    </m:r>
                    <m:r>
                      <m:t>0.013</m:t>
                    </m:r>
                    <m:r>
                      <m:rPr>
                        <m:sty m:val="p"/>
                      </m:rPr>
                      <m:t>&lt;</m:t>
                    </m:r>
                    <m:r>
                      <m:t>0.05</m:t>
                    </m:r>
                  </m:oMath>
                </a14:m>
                <a:r>
                  <a:rPr/>
                  <a:t>, so we reject </a:t>
                </a:r>
                <a14:m>
                  <m:oMath xmlns:m="http://schemas.openxmlformats.org/officeDocument/2006/math">
                    <m:sSub>
                      <m:e>
                        <m:r>
                          <m:t>H</m:t>
                        </m:r>
                      </m:e>
                      <m:sub>
                        <m:r>
                          <m:t>0</m:t>
                        </m:r>
                      </m:sub>
                    </m:sSub>
                  </m:oMath>
                </a14:m>
                <a:r>
                  <a:rPr/>
                  <a:t>. When we reject, the only possible error is a </a:t>
                </a:r>
                <a:r>
                  <a:rPr b="1"/>
                  <a:t>Type I error</a:t>
                </a:r>
                <a:r>
                  <a:rPr/>
                  <a:t> (rejecting a true </a:t>
                </a:r>
                <a14:m>
                  <m:oMath xmlns:m="http://schemas.openxmlformats.org/officeDocument/2006/math">
                    <m:sSub>
                      <m:e>
                        <m:r>
                          <m:t>H</m:t>
                        </m:r>
                      </m:e>
                      <m:sub>
                        <m:r>
                          <m:t>0</m:t>
                        </m:r>
                      </m:sub>
                    </m:sSub>
                  </m:oMath>
                </a14:m>
                <a:r>
                  <a:rPr/>
                  <a:t>).</a:t>
                </a:r>
              </a:p>
              <a:p>
                <a:pPr lvl="0" indent="-342900" marL="342900">
                  <a:buAutoNum startAt="2" type="alphaLcParenR"/>
                </a:pPr>
                <a:r>
                  <a:rPr/>
                  <a:t>In a test to see if mean body mass gain is lower after treatment (</a:t>
                </a:r>
                <a14:m>
                  <m:oMath xmlns:m="http://schemas.openxmlformats.org/officeDocument/2006/math">
                    <m:r>
                      <m:t>p</m:t>
                    </m:r>
                  </m:oMath>
                </a14:m>
                <a:r>
                  <a:rPr/>
                  <a:t>-value of 0.007).</a:t>
                </a:r>
              </a:p>
              <a:p>
                <a:pPr lvl="0" indent="0" marL="0">
                  <a:buNone/>
                </a:pPr>
                <a:r>
                  <a:rPr/>
                  <a:t>. . .</a:t>
                </a:r>
              </a:p>
              <a:p>
                <a:pPr lvl="0" indent="-342900" marL="342900">
                  <a:buAutoNum type="arabicPeriod"/>
                </a:pPr>
                <a14:m>
                  <m:oMath xmlns:m="http://schemas.openxmlformats.org/officeDocument/2006/math">
                    <m:r>
                      <m:t>p</m:t>
                    </m:r>
                    <m:r>
                      <m:rPr>
                        <m:sty m:val="p"/>
                      </m:rPr>
                      <m:t>=</m:t>
                    </m:r>
                    <m:r>
                      <m:t>0.007</m:t>
                    </m:r>
                    <m:r>
                      <m:rPr>
                        <m:sty m:val="p"/>
                      </m:rPr>
                      <m:t>&lt;</m:t>
                    </m:r>
                    <m:r>
                      <m:t>0.05</m:t>
                    </m:r>
                  </m:oMath>
                </a14:m>
                <a:r>
                  <a:rPr/>
                  <a:t>, so we reject </a:t>
                </a:r>
                <a14:m>
                  <m:oMath xmlns:m="http://schemas.openxmlformats.org/officeDocument/2006/math">
                    <m:sSub>
                      <m:e>
                        <m:r>
                          <m:t>H</m:t>
                        </m:r>
                      </m:e>
                      <m:sub>
                        <m:r>
                          <m:t>0</m:t>
                        </m:r>
                      </m:sub>
                    </m:sSub>
                  </m:oMath>
                </a14:m>
                <a:r>
                  <a:rPr/>
                  <a:t> → a possible </a:t>
                </a:r>
                <a:r>
                  <a:rPr b="1"/>
                  <a:t>Type I error</a:t>
                </a:r>
                <a:r>
                  <a:rPr/>
                  <a:t>.</a:t>
                </a:r>
              </a:p>
              <a:p>
                <a:pPr lvl="0" indent="-342900" marL="342900">
                  <a:buAutoNum startAt="3" type="alphaLcParenR"/>
                </a:pPr>
                <a:r>
                  <a:rPr/>
                  <a:t>In a test to see if mean locomotor activity is affected by treatment (</a:t>
                </a:r>
                <a14:m>
                  <m:oMath xmlns:m="http://schemas.openxmlformats.org/officeDocument/2006/math">
                    <m:r>
                      <m:t>p</m:t>
                    </m:r>
                  </m:oMath>
                </a14:m>
                <a:r>
                  <a:rPr/>
                  <a:t>-value of 0.980).</a:t>
                </a:r>
              </a:p>
              <a:p>
                <a:pPr lvl="0" indent="0" marL="0">
                  <a:buNone/>
                </a:pPr>
                <a:r>
                  <a:rPr/>
                  <a:t>. . .</a:t>
                </a:r>
              </a:p>
              <a:p>
                <a:pPr lvl="0" indent="-342900" marL="342900">
                  <a:buAutoNum type="arabicPeriod"/>
                </a:pPr>
                <a14:m>
                  <m:oMath xmlns:m="http://schemas.openxmlformats.org/officeDocument/2006/math">
                    <m:r>
                      <m:t>p</m:t>
                    </m:r>
                    <m:r>
                      <m:rPr>
                        <m:sty m:val="p"/>
                      </m:rPr>
                      <m:t>=</m:t>
                    </m:r>
                    <m:r>
                      <m:t>0.980</m:t>
                    </m:r>
                    <m:r>
                      <m:rPr>
                        <m:sty m:val="p"/>
                      </m:rPr>
                      <m:t>≥</m:t>
                    </m:r>
                    <m:r>
                      <m:t>0.05</m:t>
                    </m:r>
                  </m:oMath>
                </a14:m>
                <a:r>
                  <a:rPr/>
                  <a:t>, so we do not reject </a:t>
                </a:r>
                <a14:m>
                  <m:oMath xmlns:m="http://schemas.openxmlformats.org/officeDocument/2006/math">
                    <m:sSub>
                      <m:e>
                        <m:r>
                          <m:t>H</m:t>
                        </m:r>
                      </m:e>
                      <m:sub>
                        <m:r>
                          <m:t>0</m:t>
                        </m:r>
                      </m:sub>
                    </m:sSub>
                  </m:oMath>
                </a14:m>
                <a:r>
                  <a:rPr/>
                  <a:t>. When we fail to reject, the only possible error is a </a:t>
                </a:r>
                <a:r>
                  <a:rPr b="1"/>
                  <a:t>Type II error</a:t>
                </a:r>
                <a:r>
                  <a:rPr/>
                  <a:t> (failing to reject a false </a:t>
                </a:r>
                <a14:m>
                  <m:oMath xmlns:m="http://schemas.openxmlformats.org/officeDocument/2006/math">
                    <m:sSub>
                      <m:e>
                        <m:r>
                          <m:t>H</m:t>
                        </m:r>
                      </m:e>
                      <m:sub>
                        <m:r>
                          <m:t>0</m:t>
                        </m:r>
                      </m:sub>
                    </m:sSub>
                  </m:oMath>
                </a14:m>
                <a:r>
                  <a:rPr/>
                  <a:t>).</a:t>
                </a:r>
              </a:p>
              <a:p>
                <a:pPr lvl="0" indent="0" marL="0">
                  <a:spcBef>
                    <a:spcPts val="3000"/>
                  </a:spcBef>
                  <a:buNone/>
                </a:pPr>
                <a:r>
                  <a:rPr b="1"/>
                  <a:t>What can cause these errors?</a:t>
                </a:r>
              </a:p>
              <a:p>
                <a:pPr lvl="0" indent="0" marL="0">
                  <a:spcBef>
                    <a:spcPts val="3000"/>
                  </a:spcBef>
                  <a:buNone/>
                </a:pPr>
                <a:r>
                  <a:rPr b="1"/>
                  <a:t>Balancing out the errors</a:t>
                </a:r>
              </a:p>
            </p:txBody>
          </p:sp>
        </mc:Choice>
      </mc:AlternateContent>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Example 17</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Class Example 4.15: Errors in a drug study</a:t>
                </a:r>
              </a:p>
              <a:p>
                <a:pPr lvl="0" indent="0" marL="0">
                  <a:buNone/>
                </a:pPr>
                <a:r>
                  <a:rPr/>
                  <a:t>A pharmaceutical company is researching a new anti-anxiety drug. Marketing a new drug is costly, and the company only makes a profit when the drug is effective for over 80% of patients. A random sample of 60 participants are placed on the drug and the number of participants that respond favorably to the drug will be recorded.</a:t>
                </a:r>
              </a:p>
              <a:p>
                <a:pPr lvl="0" indent="-342900" marL="342900">
                  <a:buAutoNum type="alphaLcParenR"/>
                </a:pPr>
                <a:r>
                  <a:rPr/>
                  <a:t>Give the null and alternative hypothesis that you would use for determining if the drug should be marketed.</a:t>
                </a:r>
              </a:p>
              <a:p>
                <a:pPr lvl="0" indent="0" marL="0">
                  <a:buNone/>
                </a:pPr>
                <a:r>
                  <a:rPr/>
                  <a:t>. . .</a:t>
                </a:r>
              </a:p>
              <a:p>
                <a:pPr lvl="0" indent="-342900" marL="342900">
                  <a:buAutoNum type="arabicPeriod"/>
                </a:pPr>
                <a:r>
                  <a:rPr/>
                  <a:t>Parameter: </a:t>
                </a:r>
                <a14:m>
                  <m:oMath xmlns:m="http://schemas.openxmlformats.org/officeDocument/2006/math">
                    <m:r>
                      <m:t>p</m:t>
                    </m:r>
                  </m:oMath>
                </a14:m>
                <a:r>
                  <a:rPr/>
                  <a:t>, the proportion of patients who respond favorably.</a:t>
                </a:r>
              </a:p>
              <a:p>
                <a:pPr lvl="0" indent="-342900" marL="342900">
                  <a:buAutoNum type="arabicPeriod"/>
                </a:pPr>
                <a14:m>
                  <m:oMath xmlns:m="http://schemas.openxmlformats.org/officeDocument/2006/math">
                    <m:sSub>
                      <m:e>
                        <m:r>
                          <m:t>H</m:t>
                        </m:r>
                      </m:e>
                      <m:sub>
                        <m:r>
                          <m:t>0</m:t>
                        </m:r>
                      </m:sub>
                    </m:sSub>
                    <m:r>
                      <m:rPr>
                        <m:sty m:val="p"/>
                      </m:rPr>
                      <m:t>:</m:t>
                    </m:r>
                    <m:r>
                      <m:t>p</m:t>
                    </m:r>
                    <m:r>
                      <m:rPr>
                        <m:sty m:val="p"/>
                      </m:rPr>
                      <m:t>=</m:t>
                    </m:r>
                    <m:r>
                      <m:t>0.80</m:t>
                    </m:r>
                  </m:oMath>
                </a14:m>
                <a:r>
                  <a:rPr/>
                  <a:t> (the drug works for exactly the break-even 80%).</a:t>
                </a:r>
              </a:p>
              <a:p>
                <a:pPr lvl="0" indent="-342900" marL="342900">
                  <a:buAutoNum type="arabicPeriod"/>
                </a:pPr>
                <a14:m>
                  <m:oMath xmlns:m="http://schemas.openxmlformats.org/officeDocument/2006/math">
                    <m:sSub>
                      <m:e>
                        <m:r>
                          <m:t>H</m:t>
                        </m:r>
                      </m:e>
                      <m:sub>
                        <m:r>
                          <m:t>A</m:t>
                        </m:r>
                      </m:sub>
                    </m:sSub>
                    <m:r>
                      <m:rPr>
                        <m:sty m:val="p"/>
                      </m:rPr>
                      <m:t>:</m:t>
                    </m:r>
                    <m:r>
                      <m:t>p</m:t>
                    </m:r>
                    <m:r>
                      <m:rPr>
                        <m:sty m:val="p"/>
                      </m:rPr>
                      <m:t>&gt;</m:t>
                    </m:r>
                    <m:r>
                      <m:t>0.80</m:t>
                    </m:r>
                  </m:oMath>
                </a14:m>
                <a:r>
                  <a:rPr/>
                  <a:t> (worth marketing — effective for more than 80%). The burden of proof is on showing the drug clears 80%.</a:t>
                </a:r>
              </a:p>
              <a:p>
                <a:pPr lvl="0" indent="-342900" marL="342900">
                  <a:buAutoNum startAt="2" type="alphaLcParenR"/>
                </a:pPr>
                <a:r>
                  <a:rPr/>
                  <a:t>Describe in words what a Type I error would mean in the context of this study.</a:t>
                </a:r>
              </a:p>
              <a:p>
                <a:pPr lvl="0" indent="0" marL="0">
                  <a:buNone/>
                </a:pPr>
                <a:r>
                  <a:rPr/>
                  <a:t>. . .</a:t>
                </a:r>
              </a:p>
              <a:p>
                <a:pPr lvl="0" indent="-342900" marL="342900">
                  <a:buAutoNum type="arabicPeriod"/>
                </a:pPr>
                <a:r>
                  <a:rPr/>
                  <a:t>A Type I error = rejecting a true </a:t>
                </a:r>
                <a14:m>
                  <m:oMath xmlns:m="http://schemas.openxmlformats.org/officeDocument/2006/math">
                    <m:sSub>
                      <m:e>
                        <m:r>
                          <m:t>H</m:t>
                        </m:r>
                      </m:e>
                      <m:sub>
                        <m:r>
                          <m:t>0</m:t>
                        </m:r>
                      </m:sub>
                    </m:sSub>
                  </m:oMath>
                </a14:m>
                <a:r>
                  <a:rPr/>
                  <a:t>: concluding the drug helps </a:t>
                </a:r>
                <a:r>
                  <a:rPr i="1"/>
                  <a:t>more</a:t>
                </a:r>
                <a:r>
                  <a:rPr/>
                  <a:t> than 80% of patients (and marketing it) when in truth it does not.</a:t>
                </a:r>
              </a:p>
              <a:p>
                <a:pPr lvl="0" indent="-342900" marL="342900">
                  <a:buAutoNum type="arabicPeriod"/>
                </a:pPr>
                <a:r>
                  <a:rPr/>
                  <a:t>Consequence: the company spends money marketing a drug that will not be profitable.</a:t>
                </a:r>
              </a:p>
              <a:p>
                <a:pPr lvl="0" indent="-342900" marL="342900">
                  <a:buAutoNum startAt="3" type="alphaLcParenR"/>
                </a:pPr>
                <a:r>
                  <a:rPr/>
                  <a:t>Describe in words what a Type II error would mean in the context of this study.</a:t>
                </a:r>
              </a:p>
              <a:p>
                <a:pPr lvl="0" indent="0" marL="0">
                  <a:buNone/>
                </a:pPr>
                <a:r>
                  <a:rPr/>
                  <a:t>. . .</a:t>
                </a:r>
              </a:p>
              <a:p>
                <a:pPr lvl="0" indent="-342900" marL="342900">
                  <a:buAutoNum type="arabicPeriod"/>
                </a:pPr>
                <a:r>
                  <a:rPr/>
                  <a:t>A Type II error = failing to reject a false </a:t>
                </a:r>
                <a14:m>
                  <m:oMath xmlns:m="http://schemas.openxmlformats.org/officeDocument/2006/math">
                    <m:sSub>
                      <m:e>
                        <m:r>
                          <m:t>H</m:t>
                        </m:r>
                      </m:e>
                      <m:sub>
                        <m:r>
                          <m:t>0</m:t>
                        </m:r>
                      </m:sub>
                    </m:sSub>
                  </m:oMath>
                </a14:m>
                <a:r>
                  <a:rPr/>
                  <a:t>: concluding there is not enough evidence to market the drug when it truly does help more than 80%.</a:t>
                </a:r>
              </a:p>
              <a:p>
                <a:pPr lvl="0" indent="-342900" marL="342900">
                  <a:buAutoNum type="arabicPeriod"/>
                </a:pPr>
                <a:r>
                  <a:rPr/>
                  <a:t>Consequence: the company passes on a drug that would have been effective and profitable.</a:t>
                </a:r>
              </a:p>
              <a:p>
                <a:pPr lvl="0" indent="-342900" marL="342900">
                  <a:buAutoNum startAt="4" type="alphaLcParenR"/>
                </a:pPr>
                <a:r>
                  <a:rPr/>
                  <a:t>Suppose the significance level is set at a = .05, but the researchers find that this produces a Type II error rate of 0.4 and this is too high for their liking. List two ways they could reduce the Type II error rate.</a:t>
                </a:r>
              </a:p>
              <a:p>
                <a:pPr lvl="0" indent="0" marL="0">
                  <a:buNone/>
                </a:pPr>
                <a:r>
                  <a:rPr/>
                  <a:t>. . .</a:t>
                </a:r>
              </a:p>
              <a:p>
                <a:pPr lvl="0" indent="-342900" marL="342900">
                  <a:buAutoNum type="arabicPeriod"/>
                </a:pPr>
                <a:r>
                  <a:rPr b="1"/>
                  <a:t>Increase the sample size</a:t>
                </a:r>
                <a:r>
                  <a:rPr/>
                  <a:t> (test more than 60 patients) — the surest way to lower the Type II rate without raising the Type I rate.</a:t>
                </a:r>
              </a:p>
              <a:p>
                <a:pPr lvl="0" indent="-342900" marL="342900">
                  <a:buAutoNum type="arabicPeriod"/>
                </a:pPr>
                <a:r>
                  <a:rPr b="1"/>
                  <a:t>Increase the significance level</a:t>
                </a:r>
                <a:r>
                  <a:rPr/>
                  <a:t> </a:t>
                </a:r>
                <a14:m>
                  <m:oMath xmlns:m="http://schemas.openxmlformats.org/officeDocument/2006/math">
                    <m:r>
                      <m:t>α</m:t>
                    </m:r>
                  </m:oMath>
                </a14:m>
                <a:r>
                  <a:rPr/>
                  <a:t> (say to 0.10) — makes rejecting </a:t>
                </a:r>
                <a14:m>
                  <m:oMath xmlns:m="http://schemas.openxmlformats.org/officeDocument/2006/math">
                    <m:sSub>
                      <m:e>
                        <m:r>
                          <m:t>H</m:t>
                        </m:r>
                      </m:e>
                      <m:sub>
                        <m:r>
                          <m:t>0</m:t>
                        </m:r>
                      </m:sub>
                    </m:sSub>
                  </m:oMath>
                </a14:m>
                <a:r>
                  <a:rPr/>
                  <a:t> easier, lowering the Type II rate (at the cost of a higher Type I rate).</a:t>
                </a:r>
              </a:p>
              <a:p>
                <a:pPr lvl="0" indent="-342900" marL="342900">
                  <a:buAutoNum startAt="5" type="alphaLcParenR"/>
                </a:pPr>
                <a:r>
                  <a:rPr/>
                  <a:t>Given a Type II error rate of 0.4, what is the power of the test?</a:t>
                </a:r>
              </a:p>
              <a:p>
                <a:pPr lvl="0" indent="0" marL="0">
                  <a:buNone/>
                </a:pPr>
                <a:r>
                  <a:rPr/>
                  <a:t>. . .</a:t>
                </a:r>
              </a:p>
              <a:p>
                <a:pPr lvl="0" indent="-342900" marL="342900">
                  <a:buAutoNum type="arabicPeriod"/>
                </a:pPr>
                <a:r>
                  <a:rPr/>
                  <a:t>Power </a:t>
                </a:r>
                <a14:m>
                  <m:oMath xmlns:m="http://schemas.openxmlformats.org/officeDocument/2006/math">
                    <m:r>
                      <m:rPr>
                        <m:sty m:val="p"/>
                      </m:rPr>
                      <m:t>=</m:t>
                    </m:r>
                    <m:r>
                      <m:t>1</m:t>
                    </m:r>
                    <m:r>
                      <m:rPr>
                        <m:sty m:val="p"/>
                      </m:rPr>
                      <m:t>−</m:t>
                    </m:r>
                    <m:r>
                      <m:t>P</m:t>
                    </m:r>
                    <m:d>
                      <m:dPr>
                        <m:begChr m:val="("/>
                        <m:endChr m:val=")"/>
                        <m:sepChr m:val=""/>
                        <m:grow/>
                      </m:dPr>
                      <m:e>
                        <m:r>
                          <m:rPr>
                            <m:nor/>
                            <m:sty m:val="p"/>
                          </m:rPr>
                          <m:t>Type II error</m:t>
                        </m:r>
                      </m:e>
                    </m:d>
                    <m:r>
                      <m:rPr>
                        <m:sty m:val="p"/>
                      </m:rPr>
                      <m:t>=</m:t>
                    </m:r>
                    <m:r>
                      <m:t>1</m:t>
                    </m:r>
                    <m:r>
                      <m:rPr>
                        <m:sty m:val="p"/>
                      </m:rPr>
                      <m:t>−</m:t>
                    </m:r>
                    <m:r>
                      <m:t>0.4</m:t>
                    </m:r>
                    <m:r>
                      <m:rPr>
                        <m:sty m:val="p"/>
                      </m:rPr>
                      <m:t>=</m:t>
                    </m:r>
                    <m:r>
                      <m:t>0.6</m:t>
                    </m:r>
                  </m:oMath>
                </a14:m>
                <a:r>
                  <a:rPr/>
                  <a:t>.</a:t>
                </a:r>
              </a:p>
            </p:txBody>
          </p:sp>
        </mc:Choice>
      </mc:AlternateContent>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randomization test procedure: a summary</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Summary</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Randomization Tests</dc:title>
  <dc:creator/>
  <cp:keywords/>
  <dcterms:created xsi:type="dcterms:W3CDTF">2026-09-12T18:43:17Z</dcterms:created>
  <dcterms:modified xsi:type="dcterms:W3CDTF">2026-09-12T18:43:17Z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config">
    <vt:lpwstr>True</vt:lpwstr>
  </property>
  <property fmtid="{D5CDD505-2E9C-101B-9397-08002B2CF9AE}" pid="3" name="header-includes">
    <vt:lpwstr/>
  </property>
  <property fmtid="{D5CDD505-2E9C-101B-9397-08002B2CF9AE}" pid="4" name="include-after">
    <vt:lpwstr/>
  </property>
  <property fmtid="{D5CDD505-2E9C-101B-9397-08002B2CF9AE}" pid="5" name="include-before">
    <vt:lpwstr/>
  </property>
  <property fmtid="{D5CDD505-2E9C-101B-9397-08002B2CF9AE}" pid="6" name="labels">
    <vt:lpwstr/>
  </property>
  <property fmtid="{D5CDD505-2E9C-101B-9397-08002B2CF9AE}" pid="7" name="subtitle">
    <vt:lpwstr>STAT 145</vt:lpwstr>
  </property>
  <property fmtid="{D5CDD505-2E9C-101B-9397-08002B2CF9AE}" pid="8" name="target">
    <vt:lpwstr>slides</vt:lpwstr>
  </property>
  <property fmtid="{D5CDD505-2E9C-101B-9397-08002B2CF9AE}" pid="9" name="toc-title">
    <vt:lpwstr>Table of contents</vt:lpwstr>
  </property>
</Properties>
</file>