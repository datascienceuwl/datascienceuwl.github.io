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Randomization Tests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STAT 145</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Randomization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goals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Set up a test.</a:t>
                </a:r>
                <a:r>
                  <a:rPr/>
                  <a:t> Recognize when a statistical test is needed, and state null and alternative hypotheses in terms of a parameter.</a:t>
                </a:r>
              </a:p>
              <a:p>
                <a:pPr lvl="0"/>
                <a:r>
                  <a:rPr b="1"/>
                  <a:t>Model chance with a randomization distribution</a:t>
                </a:r>
                <a:r>
                  <a:rPr/>
                  <a:t> built under the assumption that the null hypothesis is true.</a:t>
                </a:r>
              </a:p>
              <a:p>
                <a:pPr lvl="0"/>
                <a:r>
                  <a:rPr b="1"/>
                  <a:t>Find and interpret a </a:t>
                </a:r>
                <a14:m>
                  <m:oMath xmlns:m="http://schemas.openxmlformats.org/officeDocument/2006/math">
                    <m:r>
                      <m:t>p</m:t>
                    </m:r>
                  </m:oMath>
                </a14:m>
                <a:r>
                  <a:rPr b="1"/>
                  <a:t>-value</a:t>
                </a:r>
                <a:r>
                  <a:rPr/>
                  <a:t> from that distribution — including one- versus two-tailed tests — as the strength of evidence against the null hypothesis.</a:t>
                </a:r>
              </a:p>
              <a:p>
                <a:pPr lvl="0"/>
                <a:r>
                  <a:rPr b="1"/>
                  <a:t>Make and state a decision</a:t>
                </a:r>
                <a:r>
                  <a:rPr/>
                  <a:t> by comparing the </a:t>
                </a:r>
                <a14:m>
                  <m:oMath xmlns:m="http://schemas.openxmlformats.org/officeDocument/2006/math">
                    <m:r>
                      <m:t>p</m:t>
                    </m:r>
                  </m:oMath>
                </a14:m>
                <a:r>
                  <a:rPr/>
                  <a:t>-value to a significance level, then conclude in context.</a:t>
                </a:r>
              </a:p>
              <a:p>
                <a:pPr lvl="0"/>
                <a:r>
                  <a:rPr b="1"/>
                  <a:t>Know what a test can and cannot tell you:</a:t>
                </a:r>
                <a:r>
                  <a:rPr/>
                  <a:t> Type I and Type II errors, the significance level as the tolerable Type I error rate, and why statistical discernibility is not the same as practical importance.</a:t>
                </a:r>
              </a:p>
              <a:p>
                <a:pPr lvl="0" indent="0" marL="0">
                  <a:spcBef>
                    <a:spcPts val="3000"/>
                  </a:spcBef>
                  <a:buNone/>
                </a:pPr>
                <a:r>
                  <a:rPr b="1"/>
                  <a:t>Motivation: Cereal example</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Activity</a:t>
            </a:r>
          </a:p>
        </p:txBody>
      </p:sp>
      <p:sp>
        <p:nvSpPr>
          <p:cNvPr id="4" name="Text Placeholder 3"/>
          <p:cNvSpPr>
            <a:spLocks noGrp="1"/>
          </p:cNvSpPr>
          <p:nvPr>
            <p:ph idx="2" sz="half" type="body"/>
          </p:nvPr>
        </p:nvSpPr>
        <p:spPr/>
        <p:txBody>
          <a:bodyPr/>
          <a:lstStyle/>
          <a:p>
            <a:pPr lvl="0" indent="0" marL="0">
              <a:buNone/>
            </a:pPr>
            <a:r>
              <a:rPr/>
              <a:t>Consider the following scenario: A sample of 80 four-to six-year olds participated in a study in which they were asked to taste two cereals, both called “Oat Bits” (in random order). The cereal in each box was exactly the same, but the boxes differed in the fact that one of the boxes had pictures of a star mascot and the other did not.</a:t>
            </a:r>
          </a:p>
        </p:txBody>
      </p:sp>
      <p:pic>
        <p:nvPicPr>
          <p:cNvPr descr="../images/cereal-boxes.png" id="0" name="Picture 1"/>
          <p:cNvPicPr>
            <a:picLocks noGrp="1" noChangeAspect="1"/>
          </p:cNvPicPr>
          <p:nvPr/>
        </p:nvPicPr>
        <p:blipFill>
          <a:blip r:embed="rId2"/>
          <a:stretch>
            <a:fillRect/>
          </a:stretch>
        </p:blipFill>
        <p:spPr bwMode="auto">
          <a:xfrm>
            <a:off x="3568700" y="749300"/>
            <a:ext cx="5105400" cy="2781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The two cereal boxes shown to the children. The cereal inside was identical; only one box featured a cartoon star mascot.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If the cartoons make no difference, because after all the cereal is the same in each box, how many of the 80 children do you expect to pick the cartoon box? What sample proportion is this?</a:t>
                </a:r>
              </a:p>
              <a:p>
                <a:pPr lvl="0" indent="0" marL="0">
                  <a:buNone/>
                </a:pPr>
                <a:r>
                  <a:rPr/>
                  <a:t>. . .</a:t>
                </a:r>
              </a:p>
              <a:p>
                <a:pPr lvl="0" indent="-342900" marL="342900">
                  <a:buAutoNum type="arabicPeriod"/>
                </a:pPr>
                <a:r>
                  <a:rPr/>
                  <a:t>If the cartoons make no difference, each child is equally likely to pick either box.</a:t>
                </a:r>
              </a:p>
              <a:p>
                <a:pPr lvl="0" indent="-342900" marL="342900">
                  <a:buAutoNum type="arabicPeriod"/>
                </a:pPr>
                <a:r>
                  <a:rPr/>
                  <a:t>We expect about half: </a:t>
                </a:r>
                <a14:m>
                  <m:oMath xmlns:m="http://schemas.openxmlformats.org/officeDocument/2006/math">
                    <m:r>
                      <m:t>40</m:t>
                    </m:r>
                  </m:oMath>
                </a14:m>
                <a:r>
                  <a:rPr/>
                  <a:t> of the </a:t>
                </a:r>
                <a14:m>
                  <m:oMath xmlns:m="http://schemas.openxmlformats.org/officeDocument/2006/math">
                    <m:r>
                      <m:t>80</m:t>
                    </m:r>
                  </m:oMath>
                </a14:m>
                <a:r>
                  <a:rPr/>
                  <a:t> children.</a:t>
                </a:r>
              </a:p>
              <a:p>
                <a:pPr lvl="0" indent="-342900" marL="342900">
                  <a:buAutoNum type="arabicPeriod"/>
                </a:pPr>
                <a:r>
                  <a:rPr/>
                  <a:t>As a proportion, </a:t>
                </a:r>
                <a14:m>
                  <m:oMath xmlns:m="http://schemas.openxmlformats.org/officeDocument/2006/math">
                    <m:acc>
                      <m:accPr>
                        <m:chr m:val="̂"/>
                      </m:accPr>
                      <m:e>
                        <m:r>
                          <m:t>p</m:t>
                        </m:r>
                      </m:e>
                    </m:acc>
                    <m:r>
                      <m:rPr>
                        <m:sty m:val="p"/>
                      </m:rPr>
                      <m:t>=</m:t>
                    </m:r>
                    <m:r>
                      <m:t>40</m:t>
                    </m:r>
                    <m:r>
                      <m:rPr>
                        <m:sty m:val="p"/>
                      </m:rPr>
                      <m:t>/</m:t>
                    </m:r>
                    <m:r>
                      <m:t>80</m:t>
                    </m:r>
                    <m:r>
                      <m:rPr>
                        <m:sty m:val="p"/>
                      </m:rPr>
                      <m:t>=</m:t>
                    </m:r>
                    <m:r>
                      <m:t>0.50</m:t>
                    </m:r>
                  </m:oMath>
                </a14:m>
                <a:r>
                  <a:rPr/>
                  <a:t>.</a:t>
                </a:r>
              </a:p>
              <a:p>
                <a:pPr lvl="0" indent="-342900" marL="342900">
                  <a:buAutoNum startAt="2" type="alphaLcParenR"/>
                </a:pPr>
                <a:r>
                  <a:rPr/>
                  <a:t>Suppose that in this study, 52 of the children chose the box with cartoons. What sample proportion is this? Does this lead you to believe that there was a preference toward the cartoon box, or would you expect this sample proportion to occur by chance even if there was no preference? (We will use StatLens to explore the sampling distribution for the proportion to determine what values are likely to occur.)</a:t>
                </a:r>
              </a:p>
              <a:p>
                <a:pPr lvl="0" indent="0" marL="0">
                  <a:buNone/>
                </a:pPr>
                <a:r>
                  <a:rPr/>
                  <a:t>. . .</a:t>
                </a:r>
              </a:p>
              <a:p>
                <a:pPr lvl="0" indent="-342900" marL="342900">
                  <a:buAutoNum type="arabicPeriod"/>
                </a:pP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 which is above the </a:t>
                </a:r>
                <a14:m>
                  <m:oMath xmlns:m="http://schemas.openxmlformats.org/officeDocument/2006/math">
                    <m:r>
                      <m:t>0.50</m:t>
                    </m:r>
                  </m:oMath>
                </a14:m>
                <a:r>
                  <a:rPr/>
                  <a:t> we would expect if there were no preference.</a:t>
                </a:r>
              </a:p>
              <a:p>
                <a:pPr lvl="0" indent="-342900" marL="342900">
                  <a:buAutoNum type="arabicPeriod"/>
                </a:pPr>
                <a:r>
                  <a:rPr/>
                  <a:t>On its own, </a:t>
                </a:r>
                <a14:m>
                  <m:oMath xmlns:m="http://schemas.openxmlformats.org/officeDocument/2006/math">
                    <m:r>
                      <m:t>0.65</m:t>
                    </m:r>
                  </m:oMath>
                </a14:m>
                <a:r>
                  <a:rPr/>
                  <a:t> is not proof: sample proportions vary from sample to sample even when the true proportion is </a:t>
                </a:r>
                <a14:m>
                  <m:oMath xmlns:m="http://schemas.openxmlformats.org/officeDocument/2006/math">
                    <m:r>
                      <m:t>0.50</m:t>
                    </m:r>
                  </m:oMath>
                </a14:m>
                <a:r>
                  <a:rPr/>
                  <a:t>.</a:t>
                </a:r>
              </a:p>
              <a:p>
                <a:pPr lvl="0" indent="-342900" marL="342900">
                  <a:buAutoNum type="arabicPeriod"/>
                </a:pPr>
                <a:r>
                  <a:rPr/>
                  <a:t>The real question is whether a value as high as </a:t>
                </a:r>
                <a14:m>
                  <m:oMath xmlns:m="http://schemas.openxmlformats.org/officeDocument/2006/math">
                    <m:r>
                      <m:t>0.65</m:t>
                    </m:r>
                  </m:oMath>
                </a14:m>
                <a:r>
                  <a:rPr/>
                  <a:t> is </a:t>
                </a:r>
                <a:r>
                  <a:rPr i="1"/>
                  <a:t>plausible by chance alone</a:t>
                </a:r>
                <a:r>
                  <a:rPr/>
                  <a:t>. To answer it, we simulate many samples of </a:t>
                </a:r>
                <a14:m>
                  <m:oMath xmlns:m="http://schemas.openxmlformats.org/officeDocument/2006/math">
                    <m:r>
                      <m:t>80</m:t>
                    </m:r>
                  </m:oMath>
                </a14:m>
                <a:r>
                  <a:rPr/>
                  <a:t> children under “no preference” (</a:t>
                </a:r>
                <a14:m>
                  <m:oMath xmlns:m="http://schemas.openxmlformats.org/officeDocument/2006/math">
                    <m:r>
                      <m:t>p</m:t>
                    </m:r>
                    <m:r>
                      <m:rPr>
                        <m:sty m:val="p"/>
                      </m:rPr>
                      <m:t>=</m:t>
                    </m:r>
                    <m:r>
                      <m:t>0.50</m:t>
                    </m:r>
                  </m:oMath>
                </a14:m>
                <a:r>
                  <a:rPr/>
                  <a:t>) and see how often chance produces a proportion this large.</a:t>
                </a:r>
              </a:p>
              <a:p>
                <a:pPr lvl="0" indent="-342900" marL="342900">
                  <a:buAutoNum startAt="3" type="alphaLcParenR"/>
                </a:pPr>
                <a:r>
                  <a:rPr/>
                  <a:t>Using the simulation from part b), what sample proportions do we expect to see if there is no preference toward the cartoons?</a:t>
                </a:r>
              </a:p>
              <a:p>
                <a:pPr lvl="0" indent="0" marL="0">
                  <a:buNone/>
                </a:pPr>
                <a:r>
                  <a:rPr/>
                  <a:t>. . .</a:t>
                </a:r>
              </a:p>
              <a:p>
                <a:pPr lvl="0" indent="-342900" marL="342900">
                  <a:buAutoNum type="arabicPeriod"/>
                </a:pPr>
                <a:r>
                  <a:rPr/>
                  <a:t>Under “no preference” (</a:t>
                </a:r>
                <a14:m>
                  <m:oMath xmlns:m="http://schemas.openxmlformats.org/officeDocument/2006/math">
                    <m:r>
                      <m:t>p</m:t>
                    </m:r>
                    <m:r>
                      <m:rPr>
                        <m:sty m:val="p"/>
                      </m:rPr>
                      <m:t>=</m:t>
                    </m:r>
                    <m:r>
                      <m:t>0.50</m:t>
                    </m:r>
                  </m:oMath>
                </a14:m>
                <a:r>
                  <a:rPr/>
                  <a:t>), the simulated sample proportions cluster around </a:t>
                </a:r>
                <a14:m>
                  <m:oMath xmlns:m="http://schemas.openxmlformats.org/officeDocument/2006/math">
                    <m:r>
                      <m:t>0.50</m:t>
                    </m:r>
                  </m:oMath>
                </a14:m>
                <a:r>
                  <a:rPr/>
                  <a:t>.</a:t>
                </a:r>
              </a:p>
              <a:p>
                <a:pPr lvl="0" indent="-342900" marL="342900">
                  <a:buAutoNum type="arabicPeriod"/>
                </a:pPr>
                <a:r>
                  <a:rPr/>
                  <a:t>Almost all fall roughly between </a:t>
                </a:r>
                <a14:m>
                  <m:oMath xmlns:m="http://schemas.openxmlformats.org/officeDocument/2006/math">
                    <m:r>
                      <m:t>0.39</m:t>
                    </m:r>
                  </m:oMath>
                </a14:m>
                <a:r>
                  <a:rPr/>
                  <a:t> and </a:t>
                </a:r>
                <a14:m>
                  <m:oMath xmlns:m="http://schemas.openxmlformats.org/officeDocument/2006/math">
                    <m:r>
                      <m:t>0.61</m:t>
                    </m:r>
                  </m:oMath>
                </a14:m>
                <a:r>
                  <a:rPr/>
                  <a:t> (about </a:t>
                </a:r>
                <a14:m>
                  <m:oMath xmlns:m="http://schemas.openxmlformats.org/officeDocument/2006/math">
                    <m:r>
                      <m:t>31</m:t>
                    </m:r>
                  </m:oMath>
                </a14:m>
                <a:r>
                  <a:rPr/>
                  <a:t> to </a:t>
                </a:r>
                <a14:m>
                  <m:oMath xmlns:m="http://schemas.openxmlformats.org/officeDocument/2006/math">
                    <m:r>
                      <m:t>49</m:t>
                    </m:r>
                  </m:oMath>
                </a14:m>
                <a:r>
                  <a:rPr/>
                  <a:t> of the </a:t>
                </a:r>
                <a14:m>
                  <m:oMath xmlns:m="http://schemas.openxmlformats.org/officeDocument/2006/math">
                    <m:r>
                      <m:t>80</m:t>
                    </m:r>
                  </m:oMath>
                </a14:m>
                <a:r>
                  <a:rPr/>
                  <a:t> children).</a:t>
                </a:r>
              </a:p>
              <a:p>
                <a:pPr lvl="0" indent="-342900" marL="342900">
                  <a:buAutoNum type="arabicPeriod"/>
                </a:pPr>
                <a:r>
                  <a:rPr/>
                  <a:t>The observed </a:t>
                </a:r>
                <a14:m>
                  <m:oMath xmlns:m="http://schemas.openxmlformats.org/officeDocument/2006/math">
                    <m:acc>
                      <m:accPr>
                        <m:chr m:val="̂"/>
                      </m:accPr>
                      <m:e>
                        <m:r>
                          <m:t>p</m:t>
                        </m:r>
                      </m:e>
                    </m:acc>
                    <m:r>
                      <m:rPr>
                        <m:sty m:val="p"/>
                      </m:rPr>
                      <m:t>=</m:t>
                    </m:r>
                    <m:r>
                      <m:t>0.65</m:t>
                    </m:r>
                  </m:oMath>
                </a14:m>
                <a:r>
                  <a:rPr/>
                  <a:t> sits beyond that typical range, in the tail — so chance alone is an unlikely explanation. We will make this precise with a </a:t>
                </a:r>
                <a14:m>
                  <m:oMath xmlns:m="http://schemas.openxmlformats.org/officeDocument/2006/math">
                    <m:r>
                      <m:t>p</m:t>
                    </m:r>
                  </m:oMath>
                </a14:m>
                <a:r>
                  <a:rPr/>
                  <a:t>-value later in the chapter.</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hypothesis testing framework</a:t>
            </a:r>
          </a:p>
        </p:txBody>
      </p:sp>
      <p:sp>
        <p:nvSpPr>
          <p:cNvPr id="3" name="Content Placeholder 2"/>
          <p:cNvSpPr>
            <a:spLocks noGrp="1"/>
          </p:cNvSpPr>
          <p:nvPr>
            <p:ph idx="1"/>
          </p:nvPr>
        </p:nvSpPr>
        <p:spPr/>
        <p:txBody>
          <a:bodyPr/>
          <a:lstStyle/>
          <a:p>
            <a:pPr lvl="0" indent="0" marL="0">
              <a:spcBef>
                <a:spcPts val="3000"/>
              </a:spcBef>
              <a:buNone/>
            </a:pPr>
            <a:r>
              <a:rPr b="1"/>
              <a:t>Hypothesis testing</a:t>
            </a:r>
          </a:p>
        </p:txBody>
      </p:sp>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Null and alternative hypotheses</a:t></a:r></a:p></p:txBody></p:sp><p:sp><p:nvSpPr><p:cNvPr id="4" name="Text Placeholder 3" /><p:cNvSpPr><a:spLocks noGrp="1" /></p:cNvSpPr><p:nvPr><p:ph idx="2" sz="half" type="body" /></p:nvPr></p:nvSpPr><p:spPr /><p:txBody><a:bodyPr /><a:lstStyle /><a:p><a:pPr lvl="0" indent="0" marL="0"><a:spcBef><a:spcPts val="3000" /></a:spcBef><a:buNone /></a:pPr><a:r><a:rPr b="1" /><a:t>The shape of a hypothesis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130300" /><a:gridCol w="1422400" /><a:gridCol w="1422400" /><a:gridCol w="1130300" /></a:tblGrid><a:tr h="0"><a:tc><a:txBody><a:bodyPr /><a:lstStyle /><a:p><a:pPr lvl="0" indent="0" marL="0" algn="l"><a:buNone /></a:pPr><a:r><a:rPr /><a:t>The question is about…</a:t></a:r></a:p></a:txBody><a:tcPr /></a:tc><a:tc><a:txBody><a:bodyPr /><a:lstStyle /><a:p><a:pPr lvl="0" indent="0" marL="0" algn="ctr"><a:buNone /></a:pPr><a:r><a:rPr /><a:t>Null hypothesis (“no effect”)</a:t></a:r></a:p></a:txBody><a:tcPr /></a:tc><a:tc><a:txBody><a:bodyPr /><a:lstStyle /><a:p><a:pPr lvl="0" indent="0" marL="0" algn="ctr"><a:buNone /></a:pPr><a:r><a:rPr /><a:t>Alternative (pick one direction)</a:t></a:r></a:p></a:txBody><a:tcPr /></a:tc><a:tc><a:txBody><a:bodyPr /><a:lstStyle /><a:p><a:pPr lvl="0" indent="0" marL="0" algn="l"><a:buNone /></a:pPr><a:r><a:rPr /><a:t>A question of this kind</a:t></a:r></a:p></a:txBody><a:tcPr /></a:tc></a:tr><a:tr h="0"><a:tc><a:txBody><a:bodyPr /><a:lstStyle /><a:p><a:pPr lvl="0" indent="0" marL="0" algn="l"><a:buNone /></a:pPr><a:r><a:rPr /><a:t>one proportion </a:t></a:r><a14:m><m:oMath xmlns:m="http://schemas.openxmlformats.org/officeDocument/2006/math"><m:r><m:t>p</m:t></m:r></m:oMath></a14:m></a:p></a:txBody></a:tc><a:tc><a:txBody><a:bodyPr /><a:lstStyle /><a:p><a:pPr lvl="0" indent="0" marL="0" algn="ctr"><a:buNone /></a:pPr><a14:m><m:oMath xmlns:m="http://schemas.openxmlformats.org/officeDocument/2006/math"><m:r><m:t>p</m:t></m:r><m:r><m:rPr><m:sty m:val="p" /></m:rPr><m:t>=</m:t></m:r><m:sSub><m:e><m:r><m:t>p</m:t></m:r></m:e><m:sub><m:r><m:t>0</m:t></m:r></m:sub></m:sSub></m:oMath></a14:m></a:p></a:txBody></a:tc><a:tc><a:txBody><a:bodyPr /><a:lstStyle /><a:p><a:pPr lvl="0" indent="0" marL="0" algn="ctr"><a:buNone /></a:pPr><a14:m><m:oMath xmlns:m="http://schemas.openxmlformats.org/officeDocument/2006/math"><m:r><m:t>p</m:t></m:r><m:r><m:rPr><m:sty m:val="p" /></m:rPr><m:t>≠</m:t></m:r><m:sSub><m:e><m:r><m:t>p</m:t></m:r></m:e><m:sub><m:r><m:t>0</m:t></m:r></m:sub></m:sSub><m:r><m:rPr><m:sty m:val="p" /></m:rPr><m:t>,</m:t></m:r><m:r><m:t> </m:t></m:r><m:r><m:t>p</m:t></m:r><m:r><m:rPr><m:sty m:val="p" /></m:rPr><m:t>&gt;</m:t></m:r><m:sSub><m:e><m:r><m:t>p</m:t></m:r></m:e><m:sub><m:r><m:t>0</m:t></m:r></m:sub></m:sSub><m:r><m:rPr><m:sty m:val="p" /></m:rPr><m:t>,</m:t></m:r><m:r><m:t> </m:t></m:r><m:r><m:t>p</m:t></m:r><m:r><m:rPr><m:sty m:val="p" /></m:rPr><m:t>&lt;</m:t></m:r><m:sSub><m:e><m:r><m:t>p</m:t></m:r></m:e><m:sub><m:r><m:t>0</m:t></m:r></m:sub></m:sSub></m:oMath></a14:m></a:p></a:txBody></a:tc><a:tc><a:txBody><a:bodyPr /><a:lstStyle /><a:p><a:pPr lvl="0" indent="0" marL="0" algn="l"><a:buNone /></a:pPr><a:r><a:rPr /><a:t>Do more than half of children pick the cartoon box? (</a:t></a:r><a14:m><m:oMath xmlns:m="http://schemas.openxmlformats.org/officeDocument/2006/math"><m:sSub><m:e><m:r><m:t>p</m:t></m:r></m:e><m:sub><m:r><m:t>0</m:t></m:r></m:sub></m:sSub><m:r><m:rPr><m:sty m:val="p" /></m:rPr><m:t>=</m:t></m:r><m:r><m:t>0.5</m:t></m:r></m:oMath></a14:m><a:r><a:rPr /><a:t>)</a:t></a:r></a:p></a:txBody></a:tc></a:tr><a:tr h="0"><a:tc><a:txBody><a:bodyPr /><a:lstStyle /><a:p><a:pPr lvl="0" indent="0" marL="0" algn="l"><a:buNone /></a:pPr><a:r><a:rPr /><a:t>one mean </a:t></a:r><a14:m><m:oMath xmlns:m="http://schemas.openxmlformats.org/officeDocument/2006/math"><m:r><m:t>μ</m:t></m:r></m:oMath></a14:m></a:p></a:txBody></a:tc><a:tc><a:txBody><a:bodyPr /><a:lstStyle /><a:p><a:pPr lvl="0" indent="0" marL="0" algn="ctr"><a:buNone /></a:pPr><a14:m><m:oMath xmlns:m="http://schemas.openxmlformats.org/officeDocument/2006/math"><m:r><m:t>μ</m:t></m:r><m:r><m:rPr><m:sty m:val="p" /></m:rPr><m:t>=</m:t></m:r><m:sSub><m:e><m:r><m:t>μ</m:t></m:r></m:e><m:sub><m:r><m:t>0</m:t></m:r></m:sub></m:sSub></m:oMath></a14:m></a:p></a:txBody></a:tc><a:tc><a:txBody><a:bodyPr /><a:lstStyle /><a:p><a:pPr lvl="0" indent="0" marL="0" algn="ctr"><a:buNone /></a:pPr><a14:m><m:oMath xmlns:m="http://schemas.openxmlformats.org/officeDocument/2006/math"><m:r><m:t>μ</m:t></m:r><m:r><m:rPr><m:sty m:val="p" /></m:rPr><m:t>≠</m:t></m:r><m:sSub><m:e><m:r><m:t>μ</m:t></m:r></m:e><m:sub><m:r><m:t>0</m:t></m:r></m:sub></m:sSub><m:r><m:rPr><m:sty m:val="p" /></m:rPr><m:t>,</m:t></m:r><m:r><m:t> </m:t></m:r><m:r><m:t>μ</m:t></m:r><m:r><m:rPr><m:sty m:val="p" /></m:rPr><m:t>&gt;</m:t></m:r><m:sSub><m:e><m:r><m:t>μ</m:t></m:r></m:e><m:sub><m:r><m:t>0</m:t></m:r></m:sub></m:sSub><m:r><m:rPr><m:sty m:val="p" /></m:rPr><m:t>,</m:t></m:r><m:r><m:t> </m:t></m:r><m:r><m:t>μ</m:t></m:r><m:r><m:rPr><m:sty m:val="p" /></m:rPr><m:t>&lt;</m:t></m:r><m:sSub><m:e><m:r><m:t>μ</m:t></m:r></m:e><m:sub><m:r><m:t>0</m:t></m:r></m:sub></m:sSub></m:oMath></a14:m></a:p></a:txBody></a:tc><a:tc><a:txBody><a:bodyPr /><a:lstStyle /><a:p><a:pPr lvl="0" indent="0" marL="0" algn="l"><a:buNone /></a:pPr><a:r><a:rPr /><a:t>Do the bags really average the 16 oz on the label? (</a:t></a:r><a14:m><m:oMath xmlns:m="http://schemas.openxmlformats.org/officeDocument/2006/math"><m:sSub><m:e><m:r><m:t>μ</m:t></m:r></m:e><m:sub><m:r><m:t>0</m:t></m:r></m:sub></m:sSub><m:r><m:rPr><m:sty m:val="p" /></m:rPr><m:t>=</m:t></m:r><m:r><m:t>16</m:t></m:r></m:oMath></a14:m><a:r><a:rPr /><a:t>)</a:t></a:r></a:p></a:txBody></a:tc></a:tr><a:tr h="0"><a:tc><a:txBody><a:bodyPr /><a:lstStyle /><a:p><a:pPr lvl="0" indent="0" marL="0" algn="l"><a:buNone /></a:pPr><a:r><a:rPr /><a:t>a difference in proportions</a:t></a:r></a:p></a:txBody></a:tc><a:tc><a:txBody><a:bodyPr /><a:lstStyle /><a:p><a:pPr lvl="0" indent="0" marL="0" algn="ctr"><a:buNone /></a:pPr><a14:m><m:oMath xmlns:m="http://schemas.openxmlformats.org/officeDocument/2006/math"><m:sSub><m:e><m:r><m:t>p</m:t></m:r></m:e><m:sub><m:r><m:t>1</m:t></m:r></m:sub></m:sSub><m:r><m:rPr><m:sty m:val="p" /></m:rPr><m:t>−</m:t></m:r><m:sSub><m:e><m:r><m:t>p</m:t></m:r></m:e><m:sub><m:r><m:t>2</m:t></m:r></m:sub></m:sSub><m:r><m:rPr><m:sty m:val="p" /></m:rPr><m:t>=</m:t></m:r><m:r><m:t>0</m:t></m:r></m:oMath></a14:m></a:p></a:txBody></a:tc><a:tc><a:txBody><a:bodyPr /><a:lstStyle /><a:p><a:pPr lvl="0" indent="0" marL="0" algn="ctr"><a:buNone /></a:pPr><a14:m><m:oMath xmlns:m="http://schemas.openxmlformats.org/officeDocument/2006/math"><m:sSub><m:e><m:r><m:t>p</m:t></m:r></m:e><m:sub><m:r><m:t>1</m:t></m:r></m:sub></m:sSub><m:r><m:rPr><m:sty m:val="p" /></m:rPr><m:t>−</m:t></m:r><m:sSub><m:e><m:r><m:t>p</m:t></m:r></m:e><m:sub><m:r><m:t>2</m:t></m:r></m:sub></m:sSub><m:r><m:rPr><m:sty m:val="p" /></m:rPr><m:t>≠</m:t></m:r><m:r><m:t>0</m:t></m:r><m:r><m:rPr><m:sty m:val="p" /></m:rPr><m:t>,</m:t></m:r><m:r><m:t> </m:t></m:r><m:r><m:rPr><m:sty m:val="p" /></m:rPr><m:t>&gt;</m:t></m:r><m:r><m:t>0</m:t></m:r><m:r><m:rPr><m:sty m:val="p" /></m:rPr><m:t>,</m:t></m:r><m:r><m:t> </m:t></m:r><m:r><m:rPr><m:sty m:val="p" /></m:rPr><m:t>&lt;</m:t></m:r><m:r><m:t>0</m:t></m:r></m:oMath></a14:m></a:p></a:txBody></a:tc><a:tc><a:txBody><a:bodyPr /><a:lstStyle /><a:p><a:pPr lvl="0" indent="0" marL="0" algn="l"><a:buNone /></a:pPr><a:r><a:rPr /><a:t>Do two groups differ in who skips the video?</a:t></a:r></a:p></a:txBody></a:tc></a:tr><a:tr h="0"><a:tc><a:txBody><a:bodyPr /><a:lstStyle /><a:p><a:pPr lvl="0" indent="0" marL="0" algn="l"><a:buNone /></a:pPr><a:r><a:rPr /><a:t>a difference in means</a:t></a:r></a:p></a:txBody></a:tc><a:tc><a:txBody><a:bodyPr /><a:lstStyle /><a:p><a:pPr lvl="0" indent="0" marL="0" algn="ctr"><a:buNone /></a:pPr><a14:m><m:oMath xmlns:m="http://schemas.openxmlformats.org/officeDocument/2006/math"><m:sSub><m:e><m:r><m:t>μ</m:t></m:r></m:e><m:sub><m:r><m:t>1</m:t></m:r></m:sub></m:sSub><m:r><m:rPr><m:sty m:val="p" /></m:rPr><m:t>−</m:t></m:r><m:sSub><m:e><m:r><m:t>μ</m:t></m:r></m:e><m:sub><m:r><m:t>2</m:t></m:r></m:sub></m:sSub><m:r><m:rPr><m:sty m:val="p" /></m:rPr><m:t>=</m:t></m:r><m:r><m:t>0</m:t></m:r></m:oMath></a14:m></a:p></a:txBody></a:tc><a:tc><a:txBody><a:bodyPr /><a:lstStyle /><a:p><a:pPr lvl="0" indent="0" marL="0" algn="ctr"><a:buNone /></a:pPr><a14:m><m:oMath xmlns:m="http://schemas.openxmlformats.org/officeDocument/2006/math"><m:sSub><m:e><m:r><m:t>μ</m:t></m:r></m:e><m:sub><m:r><m:t>1</m:t></m:r></m:sub></m:sSub><m:r><m:rPr><m:sty m:val="p" /></m:rPr><m:t>−</m:t></m:r><m:sSub><m:e><m:r><m:t>μ</m:t></m:r></m:e><m:sub><m:r><m:t>2</m:t></m:r></m:sub></m:sSub><m:r><m:rPr><m:sty m:val="p" /></m:rPr><m:t>≠</m:t></m:r><m:r><m:t>0</m:t></m:r><m:r><m:rPr><m:sty m:val="p" /></m:rPr><m:t>,</m:t></m:r><m:r><m:t> </m:t></m:r><m:r><m:rPr><m:sty m:val="p" /></m:rPr><m:t>&gt;</m:t></m:r><m:r><m:t>0</m:t></m:r><m:r><m:rPr><m:sty m:val="p" /></m:rPr><m:t>,</m:t></m:r><m:r><m:t> </m:t></m:r><m:r><m:rPr><m:sty m:val="p" /></m:rPr><m:t>&lt;</m:t></m:r><m:r><m:t>0</m:t></m:r></m:oMath></a14:m></a:p></a:txBody></a:tc><a:tc><a:txBody><a:bodyPr /><a:lstStyle /><a:p><a:pPr lvl="0" indent="0" marL="0" algn="l"><a:buNone /></a:pPr><a:r><a:rPr /><a:t>Is average income higher in eastern than western states?</a:t></a:r></a:p></a:txBody></a:tc></a:tr></a:tbl></a:graphicData></a:graphic></p:graphicFrame></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 Defining statistical hypotheses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each of the following scenarios, state the null and alternative hypotheses with the relevant parameter(s).</a:t>
                </a:r>
              </a:p>
              <a:p>
                <a:pPr lvl="0" indent="-342900" marL="342900">
                  <a:buAutoNum type="alphaLcParenR"/>
                </a:pPr>
                <a:r>
                  <a:rPr/>
                  <a:t>We are testing to see if the average income is different in eastern states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the mean income in eastern and western states.</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 (no difference in average income).</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m:t>
                    </m:r>
                    <m:r>
                      <m:t>0</m:t>
                    </m:r>
                  </m:oMath>
                </a14:m>
                <a:r>
                  <a:rPr/>
                  <a:t> (two-sided — “different” gives no direction).</a:t>
                </a:r>
              </a:p>
              <a:p>
                <a:pPr lvl="0" indent="-342900" marL="342900">
                  <a:buAutoNum startAt="2" type="alphaLcParenR"/>
                </a:pPr>
                <a:r>
                  <a:rPr/>
                  <a:t>We are testing to see if the average income is greater in eastern stats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as above.</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&gt;</m:t>
                    </m:r>
                    <m:r>
                      <m:t>0</m:t>
                    </m:r>
                  </m:oMath>
                </a14:m>
                <a:r>
                  <a:rPr/>
                  <a:t> (one-sided — “greater” points east).</a:t>
                </a:r>
              </a:p>
              <a:p>
                <a:pPr lvl="0" indent="-342900" marL="342900">
                  <a:buAutoNum startAt="3" type="alphaLcParenR"/>
                </a:pPr>
                <a:r>
                  <a:rPr/>
                  <a:t>We are testing to see if a particular coin is weighted (i.e., not fair).</a:t>
                </a:r>
              </a:p>
              <a:p>
                <a:pPr lvl="0" indent="0" marL="0">
                  <a:buNone/>
                </a:pPr>
                <a:r>
                  <a:rPr/>
                  <a:t>. . .</a:t>
                </a:r>
              </a:p>
              <a:p>
                <a:pPr lvl="0" indent="-342900" marL="342900">
                  <a:buAutoNum type="arabicPeriod"/>
                </a:pPr>
                <a:r>
                  <a:rPr/>
                  <a:t>Parameter: </a:t>
                </a:r>
                <a14:m>
                  <m:oMath xmlns:m="http://schemas.openxmlformats.org/officeDocument/2006/math">
                    <m:r>
                      <m:t>p</m:t>
                    </m:r>
                  </m:oMath>
                </a14:m>
                <a:r>
                  <a:rPr/>
                  <a:t>, the true proportion of heads for this coin.</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(the coin is fair).</a:t>
                </a:r>
              </a:p>
              <a:p>
                <a:pPr lvl="0" indent="-342900" marL="342900">
                  <a:buAutoNum type="arabicPeriod"/>
                </a:pPr>
                <a14:m>
                  <m:oMath xmlns:m="http://schemas.openxmlformats.org/officeDocument/2006/math">
                    <m:sSub>
                      <m:e>
                        <m:r>
                          <m:t>H</m:t>
                        </m:r>
                      </m:e>
                      <m:sub>
                        <m:r>
                          <m:t>A</m:t>
                        </m:r>
                      </m:sub>
                    </m:sSub>
                    <m:r>
                      <m:rPr>
                        <m:sty m:val="p"/>
                      </m:rPr>
                      <m:t>:</m:t>
                    </m:r>
                    <m:r>
                      <m:t>p</m:t>
                    </m:r>
                    <m:r>
                      <m:rPr>
                        <m:sty m:val="p"/>
                      </m:rPr>
                      <m:t>≠</m:t>
                    </m:r>
                    <m:r>
                      <m:t>0.5</m:t>
                    </m:r>
                  </m:oMath>
                </a14:m>
                <a:r>
                  <a:rPr/>
                  <a:t> (two-sided — “not fair” could tip either way).</a:t>
                </a:r>
              </a:p>
              <a:p>
                <a:pPr lvl="0" indent="-342900" marL="342900">
                  <a:buAutoNum startAt="4" type="alphaLcParenR"/>
                </a:pPr>
                <a:r>
                  <a:rPr/>
                  <a:t>We are testing to see if the average rent in La Crosse is less than $850.</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rent in La Crosse.</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850</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&lt;</m:t>
                    </m:r>
                    <m:r>
                      <m:t>850</m:t>
                    </m:r>
                  </m:oMath>
                </a14:m>
                <a:r>
                  <a:rPr/>
                  <a:t> (one-sided — “less than”).</a:t>
                </a:r>
              </a:p>
              <a:p>
                <a:pPr lvl="0" indent="-342900" marL="342900">
                  <a:buAutoNum startAt="5" type="alphaLcParenR"/>
                </a:pPr>
                <a:r>
                  <a:rPr/>
                  <a:t>We are testing to see if children have a preference for the cereal box with cartoons (above).</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children who choose the cartoon box.</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(no preference).</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0.5</m:t>
                    </m:r>
                  </m:oMath>
                </a14:m>
                <a:r>
                  <a:rPr/>
                  <a:t> (one-sided — a preference </a:t>
                </a:r>
                <a:r>
                  <a:rPr i="1"/>
                  <a:t>for</a:t>
                </a:r>
                <a:r>
                  <a:rPr/>
                  <a:t> the cartoon box).</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Opportunity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Class Example 7.2: Opportunity cost</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Using the opportunity cost case study, answer the following questions:</a:t>
                </a:r>
              </a:p>
              <a:p>
                <a:pPr lvl="0" indent="-342900" marL="342900">
                  <a:buAutoNum type="alphaLcParenR"/>
                </a:pPr>
                <a:r>
                  <a:rPr/>
                  <a:t>Is this an observational study or an experiment? How does the type of study impact what can be inferred from the results?</a:t>
                </a:r>
              </a:p>
              <a:p>
                <a:pPr lvl="0" indent="0" marL="0">
                  <a:buNone/>
                </a:pPr>
                <a:r>
                  <a:rPr/>
                  <a:t>. . .</a:t>
                </a:r>
              </a:p>
              <a:p>
                <a:pPr lvl="0" indent="-342900" marL="342900">
                  <a:buAutoNum type="arabicPeriod"/>
                </a:pPr>
                <a:r>
                  <a:rPr/>
                  <a:t>It is an </a:t>
                </a:r>
                <a:r>
                  <a:rPr b="1"/>
                  <a:t>experiment</a:t>
                </a:r>
                <a:r>
                  <a:rPr/>
                  <a:t>: the researchers randomly assigned which version of option (B) each student saw.</a:t>
                </a:r>
              </a:p>
              <a:p>
                <a:pPr lvl="0" indent="-342900" marL="342900">
                  <a:buAutoNum type="arabicPeriod"/>
                </a:pPr>
                <a:r>
                  <a:rPr/>
                  <a:t>Because the treatment was randomly assigned, the two groups are comparable, so a discernible difference can be attributed to the phrasing — we can make a </a:t>
                </a:r>
                <a:r>
                  <a:rPr b="1"/>
                  <a:t>causal</a:t>
                </a:r>
                <a:r>
                  <a:rPr/>
                  <a:t> claim, not just an association.</a:t>
                </a:r>
              </a:p>
              <a:p>
                <a:pPr lvl="0" indent="-342900" marL="342900">
                  <a:buAutoNum startAt="2" type="alphaLcParenR"/>
                </a:pPr>
                <a:r>
                  <a:rPr/>
                  <a:t>State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who do </a:t>
                </a:r>
                <a:r>
                  <a:rPr b="1"/>
                  <a:t>not</a:t>
                </a:r>
                <a:r>
                  <a:rPr/>
                  <a:t> buy the video in the treatment and control groups.</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(the reminder phrasing has no effect).</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(the reminder increases the proportion who choose not to buy).</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Buy video</a:t>
                      </a:r>
                    </a:p>
                  </a:txBody>
                  <a:tcPr/>
                </a:tc>
                <a:tc>
                  <a:txBody>
                    <a:bodyPr/>
                    <a:lstStyle/>
                    <a:p>
                      <a:pPr lvl="0" indent="0" marL="0" algn="ctr">
                        <a:buNone/>
                      </a:pPr>
                      <a:r>
                        <a:rPr/>
                        <a:t>Not buy video</a:t>
                      </a:r>
                    </a:p>
                  </a:txBody>
                  <a:tcPr/>
                </a:tc>
                <a:tc>
                  <a:txBody>
                    <a:bodyPr/>
                    <a:lstStyle/>
                    <a:p>
                      <a:pPr lvl="0" indent="0" marL="0" algn="ctr">
                        <a:buNone/>
                      </a:pPr>
                      <a:r>
                        <a:rPr/>
                        <a:t>Total</a:t>
                      </a:r>
                    </a:p>
                  </a:txBody>
                  <a:tcPr/>
                </a:tc>
              </a:tr>
              <a:tr h="0">
                <a:tc>
                  <a:txBody>
                    <a:bodyPr/>
                    <a:lstStyle/>
                    <a:p>
                      <a:pPr lvl="0" indent="0" marL="0" algn="l">
                        <a:buNone/>
                      </a:pPr>
                      <a:r>
                        <a:rPr/>
                        <a:t>Control</a:t>
                      </a:r>
                    </a:p>
                  </a:txBody>
                </a:tc>
                <a:tc>
                  <a:txBody>
                    <a:bodyPr/>
                    <a:lstStyle/>
                    <a:p>
                      <a:pPr lvl="0" indent="0" marL="0" algn="ctr">
                        <a:buNone/>
                      </a:pPr>
                      <a:r>
                        <a:rPr/>
                        <a:t>56</a:t>
                      </a:r>
                    </a:p>
                  </a:txBody>
                </a:tc>
                <a:tc>
                  <a:txBody>
                    <a:bodyPr/>
                    <a:lstStyle/>
                    <a:p>
                      <a:pPr lvl="0" indent="0" marL="0" algn="ctr">
                        <a:buNone/>
                      </a:pPr>
                      <a:r>
                        <a:rPr/>
                        <a:t>19</a:t>
                      </a:r>
                    </a:p>
                  </a:txBody>
                </a:tc>
                <a:tc>
                  <a:txBody>
                    <a:bodyPr/>
                    <a:lstStyle/>
                    <a:p>
                      <a:pPr lvl="0" indent="0" marL="0" algn="ctr">
                        <a:buNone/>
                      </a:pPr>
                      <a:r>
                        <a:rPr/>
                        <a:t>75</a:t>
                      </a:r>
                    </a:p>
                  </a:txBody>
                </a:tc>
              </a:tr>
              <a:tr h="0">
                <a:tc>
                  <a:txBody>
                    <a:bodyPr/>
                    <a:lstStyle/>
                    <a:p>
                      <a:pPr lvl="0" indent="0" marL="0" algn="l">
                        <a:buNone/>
                      </a:pPr>
                      <a:r>
                        <a:rPr/>
                        <a:t>Treatment</a:t>
                      </a:r>
                    </a:p>
                  </a:txBody>
                </a:tc>
                <a:tc>
                  <a:txBody>
                    <a:bodyPr/>
                    <a:lstStyle/>
                    <a:p>
                      <a:pPr lvl="0" indent="0" marL="0" algn="ctr">
                        <a:buNone/>
                      </a:pPr>
                      <a:r>
                        <a:rPr/>
                        <a:t>41</a:t>
                      </a:r>
                    </a:p>
                  </a:txBody>
                </a:tc>
                <a:tc>
                  <a:txBody>
                    <a:bodyPr/>
                    <a:lstStyle/>
                    <a:p>
                      <a:pPr lvl="0" indent="0" marL="0" algn="ctr">
                        <a:buNone/>
                      </a:pPr>
                      <a:r>
                        <a:rPr/>
                        <a:t>34</a:t>
                      </a:r>
                    </a:p>
                  </a:txBody>
                </a:tc>
                <a:tc>
                  <a:txBody>
                    <a:bodyPr/>
                    <a:lstStyle/>
                    <a:p>
                      <a:pPr lvl="0" indent="0" marL="0" algn="ctr">
                        <a:buNone/>
                      </a:pPr>
                      <a:r>
                        <a:rPr/>
                        <a:t>75</a:t>
                      </a:r>
                    </a:p>
                  </a:txBody>
                </a:tc>
              </a:tr>
              <a:tr h="0">
                <a:tc>
                  <a:txBody>
                    <a:bodyPr/>
                    <a:lstStyle/>
                    <a:p>
                      <a:pPr lvl="0" indent="0" marL="0" algn="l">
                        <a:buNone/>
                      </a:pPr>
                      <a:r>
                        <a:rPr/>
                        <a:t>Total</a:t>
                      </a:r>
                    </a:p>
                  </a:txBody>
                </a:tc>
                <a:tc>
                  <a:txBody>
                    <a:bodyPr/>
                    <a:lstStyle/>
                    <a:p>
                      <a:pPr lvl="0" indent="0" marL="0" algn="ctr">
                        <a:buNone/>
                      </a:pPr>
                      <a:r>
                        <a:rPr/>
                        <a:t>97</a:t>
                      </a:r>
                    </a:p>
                  </a:txBody>
                </a:tc>
                <a:tc>
                  <a:txBody>
                    <a:bodyPr/>
                    <a:lstStyle/>
                    <a:p>
                      <a:pPr lvl="0" indent="0" marL="0" algn="ctr">
                        <a:buNone/>
                      </a:pPr>
                      <a:r>
                        <a:rPr/>
                        <a:t>53</a:t>
                      </a:r>
                    </a:p>
                  </a:txBody>
                </a:tc>
                <a:tc>
                  <a:txBody>
                    <a:bodyPr/>
                    <a:lstStyle/>
                    <a:p>
                      <a:pPr lvl="0" indent="0" marL="0" algn="ctr">
                        <a:buNone/>
                      </a:pPr>
                      <a:r>
                        <a:rPr/>
                        <a:t>150</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7.3: Opportunity cost,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Compute the difference in the sample proportions of students who choose not to buy the video.</a:t>
                </a:r>
              </a:p>
              <a:p>
                <a:pPr lvl="0" indent="0" marL="0">
                  <a:buNone/>
                </a:pPr>
                <a:r>
                  <a:rPr/>
                  <a:t>. . .</a:t>
                </a:r>
              </a:p>
              <a:p>
                <a:pPr lvl="0" indent="-342900" marL="342900">
                  <a:buAutoNum type="arabicPeriod"/>
                </a:pPr>
                <a:r>
                  <a:rPr/>
                  <a:t>Control: </a:t>
                </a:r>
                <a14:m>
                  <m:oMath xmlns:m="http://schemas.openxmlformats.org/officeDocument/2006/math">
                    <m:sSub>
                      <m:e>
                        <m:acc>
                          <m:accPr>
                            <m:chr m:val="̂"/>
                          </m:accPr>
                          <m:e>
                            <m:r>
                              <m:t>p</m:t>
                            </m:r>
                          </m:e>
                        </m:acc>
                      </m:e>
                      <m:sub>
                        <m:r>
                          <m:t>C</m:t>
                        </m:r>
                      </m:sub>
                    </m:sSub>
                    <m:r>
                      <m:rPr>
                        <m:sty m:val="p"/>
                      </m:rPr>
                      <m:t>=</m:t>
                    </m:r>
                    <m:r>
                      <m:t>19</m:t>
                    </m:r>
                    <m:r>
                      <m:rPr>
                        <m:sty m:val="p"/>
                      </m:rPr>
                      <m:t>/</m:t>
                    </m:r>
                    <m:r>
                      <m:t>75</m:t>
                    </m:r>
                    <m:r>
                      <m:rPr>
                        <m:sty m:val="p"/>
                      </m:rPr>
                      <m:t>=</m:t>
                    </m:r>
                    <m:r>
                      <m:t>0.253</m:t>
                    </m:r>
                  </m:oMath>
                </a14:m>
                <a:r>
                  <a:rPr/>
                  <a:t>.</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34</m:t>
                    </m:r>
                    <m:r>
                      <m:rPr>
                        <m:sty m:val="p"/>
                      </m:rPr>
                      <m:t>/</m:t>
                    </m:r>
                    <m:r>
                      <m:t>75</m:t>
                    </m:r>
                    <m:r>
                      <m:rPr>
                        <m:sty m:val="p"/>
                      </m:rPr>
                      <m:t>=</m:t>
                    </m:r>
                    <m:r>
                      <m:t>0.453</m:t>
                    </m:r>
                  </m:oMath>
                </a14:m>
                <a:r>
                  <a:rPr/>
                  <a:t>.</a:t>
                </a:r>
              </a:p>
              <a:p>
                <a:pPr lvl="0" indent="-342900" marL="342900">
                  <a:buAutoNum type="arabicPeriod"/>
                </a:pPr>
                <a:r>
                  <a:rPr/>
                  <a:t>Difference: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0.453</m:t>
                    </m:r>
                    <m:r>
                      <m:rPr>
                        <m:sty m:val="p"/>
                      </m:rPr>
                      <m:t>−</m:t>
                    </m:r>
                    <m:r>
                      <m:t>0.253</m:t>
                    </m:r>
                    <m:r>
                      <m:rPr>
                        <m:sty m:val="p"/>
                      </m:rPr>
                      <m:t>=</m:t>
                    </m:r>
                    <m:r>
                      <m:t>0.20</m:t>
                    </m:r>
                  </m:oMath>
                </a14:m>
                <a:r>
                  <a:rPr/>
                  <a:t> (treatment group is 20 percentage points more likely to not buy).</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a randomization distribution</a:t>
            </a:r>
          </a:p>
        </p:txBody>
      </p:sp>
      <p:sp>
        <p:nvSpPr>
          <p:cNvPr id="3" name="Content Placeholder 2"/>
          <p:cNvSpPr>
            <a:spLocks noGrp="1"/>
          </p:cNvSpPr>
          <p:nvPr>
            <p:ph idx="1"/>
          </p:nvPr>
        </p:nvSpPr>
        <p:spPr/>
        <p:txBody>
          <a:bodyPr/>
          <a:lstStyle/>
          <a:p>
            <a:pPr lvl="0" indent="0" marL="0">
              <a:spcBef>
                <a:spcPts val="3000"/>
              </a:spcBef>
              <a:buNone/>
            </a:pPr>
            <a:r>
              <a:rPr b="1"/>
              <a:t>The card-shuffling metaphor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Activity</a:t>
            </a:r>
          </a:p>
        </p:txBody>
      </p:sp>
      <p:sp>
        <p:nvSpPr>
          <p:cNvPr id="4" name="Text Placeholder 3"/>
          <p:cNvSpPr>
            <a:spLocks noGrp="1"/>
          </p:cNvSpPr>
          <p:nvPr>
            <p:ph idx="2" sz="half" type="body"/>
          </p:nvPr>
        </p:nvSpPr>
        <p:spPr/>
        <p:txBody>
          <a:bodyPr/>
          <a:lstStyle/>
          <a:p>
            <a:pPr lvl="0" indent="0" marL="0">
              <a:buNone/>
            </a:pPr>
            <a:r>
              <a:rPr/>
              <a:t>Think of the data as 150 cards:</a:t>
            </a:r>
          </a:p>
          <a:p>
            <a:pPr lvl="0"/>
            <a:r>
              <a:rPr/>
              <a:t>97 red cards (buy video)</a:t>
            </a:r>
          </a:p>
          <a:p>
            <a:pPr lvl="0"/>
            <a:r>
              <a:rPr/>
              <a:t>53 white cards (not buy video)</a:t>
            </a:r>
          </a:p>
          <a:p>
            <a:pPr lvl="0" indent="0" marL="0">
              <a:buNone/>
            </a:pPr>
            <a:r>
              <a:rPr/>
              <a:t>In the actual study, 75 cards were dealt to the ‘control’ pile and 75 to the ‘treatment’ pile. Under the null hypothesis, the color of each card (whether to buy the video) has nothing to do with which pile it lands in.</a:t>
            </a:r>
          </a:p>
          <a:p>
            <a:pPr lvl="0" indent="0" marL="0">
              <a:buNone/>
            </a:pPr>
            <a:r>
              <a:rPr/>
              <a:t>To simulate what the null hypothesis look like, we:</a:t>
            </a:r>
          </a:p>
          <a:p>
            <a:pPr lvl="0" indent="-342900" marL="342900">
              <a:buAutoNum type="arabicPeriod"/>
            </a:pPr>
            <a:r>
              <a:rPr i="1"/>
              <a:t>Thoroughly shuffle</a:t>
            </a:r>
            <a:r>
              <a:rPr/>
              <a:t> all 150 cards together.</a:t>
            </a:r>
          </a:p>
          <a:p>
            <a:pPr lvl="0" indent="-342900" marL="342900">
              <a:buAutoNum type="arabicPeriod"/>
            </a:pPr>
            <a:r>
              <a:rPr i="1"/>
              <a:t>Deal</a:t>
            </a:r>
            <a:r>
              <a:rPr/>
              <a:t> 75 into a ‘control’ pile and 75 into a ‘treatment’ pile</a:t>
            </a:r>
          </a:p>
          <a:p>
            <a:pPr lvl="0" indent="-342900" marL="342900">
              <a:buAutoNum type="arabicPeriod"/>
            </a:pPr>
            <a:r>
              <a:rPr i="1"/>
              <a:t>Count</a:t>
            </a:r>
            <a:r>
              <a:rPr/>
              <a:t> the number of white (not buy video) in each pile and compute the difference in proportions.</a:t>
            </a:r>
          </a:p>
          <a:p>
            <a:pPr lvl="0" indent="0" marL="0">
              <a:buNone/>
            </a:pPr>
            <a:r>
              <a:rPr/>
              <a:t>This gives us one simulated difference </a:t>
            </a:r>
            <a:r>
              <a:rPr i="1"/>
              <a:t>under the null hypothesis</a:t>
            </a:r>
            <a:r>
              <a:rPr/>
              <a:t>, a difference that arose purely from the random shuffle, not from the phrasing.</a:t>
            </a:r>
          </a:p>
          <a:p>
            <a:pPr lvl="0" indent="0" marL="0">
              <a:spcBef>
                <a:spcPts val="3000"/>
              </a:spcBef>
              <a:buNone/>
            </a:pPr>
            <a:r>
              <a:rPr b="1"/>
              <a:t>Many simulations</a:t>
            </a:r>
          </a:p>
        </p:txBody>
      </p:sp>
      <p:pic>
        <p:nvPicPr>
          <p:cNvPr descr="slides_files/figure-pptx/fig-opportunity-cost-rand-dist-1.png" id="0" name="Picture 1"/>
          <p:cNvPicPr>
            <a:picLocks noGrp="1" noChangeAspect="1"/>
          </p:cNvPicPr>
          <p:nvPr/>
        </p:nvPicPr>
        <p:blipFill>
          <a:blip r:embed="rId2"/>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A histogram of 1,000 simulated differences produced under the null hypothesis. Differences at least as large as the observed 0.20 are highlighted in red.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P-values</a:t>
            </a:r>
          </a:p>
        </p:txBody>
      </p:sp>
      <p:sp>
        <p:nvSpPr>
          <p:cNvPr id="3" name="Content Placeholder 2"/>
          <p:cNvSpPr>
            <a:spLocks noGrp="1"/>
          </p:cNvSpPr>
          <p:nvPr>
            <p:ph idx="1"/>
          </p:nvPr>
        </p:nvSpPr>
        <p:spPr/>
        <p:txBody>
          <a:bodyPr/>
          <a:lstStyle/>
          <a:p>
            <a:pPr lvl="0" indent="0" marL="0">
              <a:spcBef>
                <a:spcPts val="3000"/>
              </a:spcBef>
              <a:buNone/>
            </a:pPr>
            <a:r>
              <a:rPr b="1"/>
              <a:t>Randomization Distributions and p-values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457201" y="204787"/>
                <a:ext cx="3008313" cy="871538"/>
              </a:xfrm>
            </p:spPr>
            <p:txBody>
              <a:bodyPr/>
              <a:lstStyle/>
              <a:p>
                <a:pPr lvl="0" indent="0" marL="0">
                  <a:buNone/>
                </a:pPr>
                <a:r>
                  <a:rPr/>
                  <a:t>Class Example 7.4: Estimating a </a:t>
                </a:r>
                <a14:m>
                  <m:oMath xmlns:m="http://schemas.openxmlformats.org/officeDocument/2006/math">
                    <m:r>
                      <m:t>p</m:t>
                    </m:r>
                  </m:oMath>
                </a14:m>
                <a:r>
                  <a:rPr/>
                  <a:t>-value from a randomization distribution</a:t>
                </a:r>
              </a:p>
            </p:txBody>
          </p:sp>
        </mc:Choice>
      </mc:AlternateContent>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figure below shows a randomization distribution for testing </a:t>
                </a:r>
                <a14:m>
                  <m:oMath xmlns:m="http://schemas.openxmlformats.org/officeDocument/2006/math">
                    <m:sSub>
                      <m:e>
                        <m:r>
                          <m:t>H</m:t>
                        </m:r>
                      </m:e>
                      <m:sub>
                        <m:r>
                          <m:t>0</m:t>
                        </m:r>
                      </m:sub>
                    </m:sSub>
                    <m:r>
                      <m:rPr>
                        <m:sty m:val="p"/>
                      </m:rPr>
                      <m:t>:</m:t>
                    </m:r>
                    <m:r>
                      <m:t>p</m:t>
                    </m:r>
                    <m:r>
                      <m:rPr>
                        <m:sty m:val="p"/>
                      </m:rPr>
                      <m:t>=</m:t>
                    </m:r>
                    <m:r>
                      <m:t>0.3</m:t>
                    </m:r>
                  </m:oMath>
                </a14:m>
                <a:r>
                  <a:rPr/>
                  <a:t> vs </a:t>
                </a:r>
                <a14:m>
                  <m:oMath xmlns:m="http://schemas.openxmlformats.org/officeDocument/2006/math">
                    <m:sSub>
                      <m:e>
                        <m:r>
                          <m:t>H</m:t>
                        </m:r>
                      </m:e>
                      <m:sub>
                        <m:r>
                          <m:t>A</m:t>
                        </m:r>
                      </m:sub>
                    </m:sSub>
                    <m:r>
                      <m:rPr>
                        <m:sty m:val="p"/>
                      </m:rPr>
                      <m:t>:</m:t>
                    </m:r>
                    <m:r>
                      <m:t>p</m:t>
                    </m:r>
                    <m:r>
                      <m:rPr>
                        <m:sty m:val="p"/>
                      </m:rPr>
                      <m:t>&lt;</m:t>
                    </m:r>
                    <m:r>
                      <m:t>0.3</m:t>
                    </m:r>
                  </m:oMath>
                </a14:m>
                <a:r>
                  <a:rPr/>
                  <a:t>. In each case, use the distribution to decide which value is closer to the </a:t>
                </a:r>
                <a14:m>
                  <m:oMath xmlns:m="http://schemas.openxmlformats.org/officeDocument/2006/math">
                    <m:r>
                      <m:t>p</m:t>
                    </m:r>
                  </m:oMath>
                </a14:m>
                <a:r>
                  <a:rPr/>
                  <a:t>-value for the observed sample proportion. There are 1000 randomizations given in the figure below.</a:t>
                </a:r>
              </a:p>
            </p:txBody>
          </p:sp>
        </mc:Choice>
      </mc:AlternateContent>
      <p:pic>
        <p:nvPicPr>
          <p:cNvPr descr="slides_files/figure-pptx/fig-ex-pvalue1-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Randomization distribution with 1000 randomizations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Why is the distribution centered at 0.3?</a:t>
                </a:r>
              </a:p>
              <a:p>
                <a:pPr lvl="0" indent="0" marL="0">
                  <a:buNone/>
                </a:pPr>
                <a:r>
                  <a:rPr/>
                  <a:t>. . .</a:t>
                </a:r>
              </a:p>
              <a:p>
                <a:pPr lvl="0" indent="-342900" marL="342900">
                  <a:buAutoNum type="arabicPeriod"/>
                </a:pPr>
                <a:r>
                  <a:rPr/>
                  <a:t>The randomization distribution is built </a:t>
                </a:r>
                <a:r>
                  <a:rPr i="1"/>
                  <a:t>assuming </a:t>
                </a:r>
                <a14:m>
                  <m:oMath xmlns:m="http://schemas.openxmlformats.org/officeDocument/2006/math">
                    <m:sSub>
                      <m:e>
                        <m:r>
                          <m:t>H</m:t>
                        </m:r>
                      </m:e>
                      <m:sub>
                        <m:r>
                          <m:t>0</m:t>
                        </m:r>
                      </m:sub>
                    </m:sSub>
                  </m:oMath>
                </a14:m>
                <a:r>
                  <a:rPr i="1"/>
                  <a:t> is true</a:t>
                </a:r>
                <a:r>
                  <a:rPr/>
                  <a:t> — that the true proportion is </a:t>
                </a:r>
                <a14:m>
                  <m:oMath xmlns:m="http://schemas.openxmlformats.org/officeDocument/2006/math">
                    <m:r>
                      <m:t>0.3</m:t>
                    </m:r>
                  </m:oMath>
                </a14:m>
                <a:r>
                  <a:rPr/>
                  <a:t>.</a:t>
                </a:r>
              </a:p>
              <a:p>
                <a:pPr lvl="0" indent="-342900" marL="342900">
                  <a:buAutoNum type="arabicPeriod"/>
                </a:pPr>
                <a:r>
                  <a:rPr/>
                  <a:t>Each simulated sample proportion is generated with </a:t>
                </a:r>
                <a14:m>
                  <m:oMath xmlns:m="http://schemas.openxmlformats.org/officeDocument/2006/math">
                    <m:r>
                      <m:t>p</m:t>
                    </m:r>
                    <m:r>
                      <m:rPr>
                        <m:sty m:val="p"/>
                      </m:rPr>
                      <m:t>=</m:t>
                    </m:r>
                    <m:r>
                      <m:t>0.3</m:t>
                    </m:r>
                  </m:oMath>
                </a14:m>
                <a:r>
                  <a:rPr/>
                  <a:t>, so they pile up around </a:t>
                </a:r>
                <a14:m>
                  <m:oMath xmlns:m="http://schemas.openxmlformats.org/officeDocument/2006/math">
                    <m:r>
                      <m:t>0.3</m:t>
                    </m:r>
                  </m:oMath>
                </a14:m>
                <a:r>
                  <a:rPr/>
                  <a:t>; the spread shows the sampling variability we get by chance alone.</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acc>
                      <m:accPr>
                        <m:chr m:val="̂"/>
                      </m:accPr>
                      <m:e>
                        <m:r>
                          <m:t>p</m:t>
                        </m:r>
                      </m:e>
                    </m:acc>
                    <m:r>
                      <m:rPr>
                        <m:sty m:val="p"/>
                      </m:rPr>
                      <m:t>=</m:t>
                    </m:r>
                    <m:r>
                      <m:t>0.15</m:t>
                    </m:r>
                  </m:oMath>
                </a14:m>
                <a:r>
                  <a:rPr/>
                  <a:t> is closest to: 0.04 or 0.40?</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r>
                      <m:t>p</m:t>
                    </m:r>
                    <m:r>
                      <m:rPr>
                        <m:sty m:val="p"/>
                      </m:rPr>
                      <m:t>&lt;</m:t>
                    </m:r>
                    <m:r>
                      <m:t>0.3</m:t>
                    </m:r>
                  </m:oMath>
                </a14:m>
                <a:r>
                  <a:rPr/>
                  <a:t>, so the </a:t>
                </a:r>
                <a14:m>
                  <m:oMath xmlns:m="http://schemas.openxmlformats.org/officeDocument/2006/math">
                    <m:r>
                      <m:t>p</m:t>
                    </m:r>
                  </m:oMath>
                </a14:m>
                <a:r>
                  <a:rPr/>
                  <a:t>-value is the </a:t>
                </a:r>
                <a:r>
                  <a:rPr i="1"/>
                  <a:t>lower</a:t>
                </a:r>
                <a:r>
                  <a:rPr/>
                  <a:t>-tail area — the fraction of simulations at or below </a:t>
                </a:r>
                <a14:m>
                  <m:oMath xmlns:m="http://schemas.openxmlformats.org/officeDocument/2006/math">
                    <m:r>
                      <m:t>0.15</m:t>
                    </m:r>
                  </m:oMath>
                </a14:m>
                <a:r>
                  <a:rPr/>
                  <a:t>.</a:t>
                </a:r>
              </a:p>
              <a:p>
                <a:pPr lvl="0" indent="-342900" marL="342900">
                  <a:buAutoNum type="arabicPeriod"/>
                </a:pPr>
                <a14:m>
                  <m:oMath xmlns:m="http://schemas.openxmlformats.org/officeDocument/2006/math">
                    <m:r>
                      <m:t>0.15</m:t>
                    </m:r>
                  </m:oMath>
                </a14:m>
                <a:r>
                  <a:rPr/>
                  <a:t> is far into the left tail, where very few simulations land, so the </a:t>
                </a:r>
                <a14:m>
                  <m:oMath xmlns:m="http://schemas.openxmlformats.org/officeDocument/2006/math">
                    <m:r>
                      <m:t>p</m:t>
                    </m:r>
                  </m:oMath>
                </a14:m>
                <a:r>
                  <a:rPr/>
                  <a:t>-value is small: closest to </a:t>
                </a:r>
                <a:r>
                  <a:rPr b="1"/>
                  <a:t>0.04</a:t>
                </a:r>
                <a:r>
                  <a:rPr/>
                  <a:t>.</a:t>
                </a:r>
              </a:p>
              <a:p>
                <a:pPr lvl="0" indent="-342900" marL="342900">
                  <a:buAutoNum startAt="3" type="alphaLcParenR"/>
                </a:pPr>
                <a:r>
                  <a:rPr/>
                  <a:t>Which proportion, </a:t>
                </a:r>
                <a14:m>
                  <m:oMath xmlns:m="http://schemas.openxmlformats.org/officeDocument/2006/math">
                    <m:acc>
                      <m:accPr>
                        <m:chr m:val="̂"/>
                      </m:accPr>
                      <m:e>
                        <m:r>
                          <m:t>p</m:t>
                        </m:r>
                      </m:e>
                    </m:acc>
                    <m:r>
                      <m:rPr>
                        <m:sty m:val="p"/>
                      </m:rPr>
                      <m:t>=</m:t>
                    </m:r>
                    <m:r>
                      <m:t>0.20</m:t>
                    </m:r>
                  </m:oMath>
                </a14:m>
                <a:r>
                  <a:rPr/>
                  <a:t> or </a:t>
                </a:r>
                <a14:m>
                  <m:oMath xmlns:m="http://schemas.openxmlformats.org/officeDocument/2006/math">
                    <m:acc>
                      <m:accPr>
                        <m:chr m:val="̂"/>
                      </m:accPr>
                      <m:e>
                        <m:r>
                          <m:t>p</m:t>
                        </m:r>
                      </m:e>
                    </m:acc>
                    <m:r>
                      <m:rPr>
                        <m:sty m:val="p"/>
                      </m:rPr>
                      <m:t>=</m:t>
                    </m:r>
                    <m:r>
                      <m:t>0.10</m:t>
                    </m:r>
                  </m:oMath>
                </a14:m>
                <a:r>
                  <a:rPr/>
                  <a:t>, provides the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r>
                  <a:rPr/>
                  <a:t>Smaller </a:t>
                </a:r>
                <a14:m>
                  <m:oMath xmlns:m="http://schemas.openxmlformats.org/officeDocument/2006/math">
                    <m:r>
                      <m:t>p</m:t>
                    </m:r>
                  </m:oMath>
                </a14:m>
                <a:r>
                  <a:rPr/>
                  <a:t>-value = stronger evidence against </a:t>
                </a:r>
                <a14:m>
                  <m:oMath xmlns:m="http://schemas.openxmlformats.org/officeDocument/2006/math">
                    <m:sSub>
                      <m:e>
                        <m:r>
                          <m:t>H</m:t>
                        </m:r>
                      </m:e>
                      <m:sub>
                        <m:r>
                          <m:t>0</m:t>
                        </m:r>
                      </m:sub>
                    </m:sSub>
                  </m:oMath>
                </a14:m>
                <a:r>
                  <a:rPr/>
                  <a:t>.</a:t>
                </a:r>
              </a:p>
              <a:p>
                <a:pPr lvl="0" indent="-342900" marL="342900">
                  <a:buAutoNum type="arabicPeriod"/>
                </a:pPr>
                <a14:m>
                  <m:oMath xmlns:m="http://schemas.openxmlformats.org/officeDocument/2006/math">
                    <m:acc>
                      <m:accPr>
                        <m:chr m:val="̂"/>
                      </m:accPr>
                      <m:e>
                        <m:r>
                          <m:t>p</m:t>
                        </m:r>
                      </m:e>
                    </m:acc>
                    <m:r>
                      <m:rPr>
                        <m:sty m:val="p"/>
                      </m:rPr>
                      <m:t>=</m:t>
                    </m:r>
                    <m:r>
                      <m:t>0.10</m:t>
                    </m:r>
                  </m:oMath>
                </a14:m>
                <a:r>
                  <a:rPr/>
                  <a:t> is farther into the lower tail than </a:t>
                </a:r>
                <a14:m>
                  <m:oMath xmlns:m="http://schemas.openxmlformats.org/officeDocument/2006/math">
                    <m:acc>
                      <m:accPr>
                        <m:chr m:val="̂"/>
                      </m:accPr>
                      <m:e>
                        <m:r>
                          <m:t>p</m:t>
                        </m:r>
                      </m:e>
                    </m:acc>
                    <m:r>
                      <m:rPr>
                        <m:sty m:val="p"/>
                      </m:rPr>
                      <m:t>=</m:t>
                    </m:r>
                    <m:r>
                      <m:t>0.20</m:t>
                    </m:r>
                  </m:oMath>
                </a14:m>
                <a:r>
                  <a:rPr/>
                  <a:t>, so fewer simulations are that extreme — its </a:t>
                </a:r>
                <a14:m>
                  <m:oMath xmlns:m="http://schemas.openxmlformats.org/officeDocument/2006/math">
                    <m:r>
                      <m:t>p</m:t>
                    </m:r>
                  </m:oMath>
                </a14:m>
                <a:r>
                  <a:rPr/>
                  <a:t>-value is smaller.</a:t>
                </a:r>
              </a:p>
              <a:p>
                <a:pPr lvl="0" indent="-342900" marL="342900">
                  <a:buAutoNum type="arabicPeriod"/>
                </a:pPr>
                <a:r>
                  <a:rPr/>
                  <a:t>So </a:t>
                </a:r>
                <a14:m>
                  <m:oMath xmlns:m="http://schemas.openxmlformats.org/officeDocument/2006/math">
                    <m:acc>
                      <m:accPr>
                        <m:chr m:val="̂"/>
                      </m:accPr>
                      <m:e>
                        <m:r>
                          <m:t>p</m:t>
                        </m:r>
                      </m:e>
                    </m:acc>
                    <m:r>
                      <m:rPr>
                        <m:sty m:val="p"/>
                      </m:rPr>
                      <m:t>=</m:t>
                    </m:r>
                    <m:r>
                      <m:t>0.10</m:t>
                    </m:r>
                  </m:oMath>
                </a14:m>
                <a:r>
                  <a:rPr/>
                  <a:t> provides the strongest evidence that </a:t>
                </a:r>
                <a14:m>
                  <m:oMath xmlns:m="http://schemas.openxmlformats.org/officeDocument/2006/math">
                    <m:sSub>
                      <m:e>
                        <m:r>
                          <m:t>H</m:t>
                        </m:r>
                      </m:e>
                      <m:sub>
                        <m:r>
                          <m:t>0</m:t>
                        </m:r>
                      </m:sub>
                    </m:sSub>
                  </m:oMath>
                </a14:m>
                <a:r>
                  <a:rPr/>
                  <a:t> is not true.</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457201" y="204787"/>
                <a:ext cx="3008313" cy="871538"/>
              </a:xfrm>
            </p:spPr>
            <p:txBody>
              <a:bodyPr/>
              <a:lstStyle/>
              <a:p>
                <a:pPr lvl="0" indent="0" marL="0">
                  <a:buNone/>
                </a:pPr>
                <a:r>
                  <a:rPr/>
                  <a:t>Class Example 7.5: Estimating a </a:t>
                </a:r>
                <a14:m>
                  <m:oMath xmlns:m="http://schemas.openxmlformats.org/officeDocument/2006/math">
                    <m:r>
                      <m:t>p</m:t>
                    </m:r>
                  </m:oMath>
                </a14:m>
                <a:r>
                  <a:rPr/>
                  <a:t>-value from a randomization distribution…continued</a:t>
                </a:r>
              </a:p>
            </p:txBody>
          </p:sp>
        </mc:Choice>
      </mc:AlternateContent>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figure below shows a randomization distribution for testing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t>0</m:t>
                    </m:r>
                  </m:oMath>
                </a14:m>
                <a:r>
                  <a:rPr/>
                  <a:t> vs </a:t>
                </a: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The statistic used for each sample is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oMath>
                </a14:m>
                <a:r>
                  <a:rPr/>
                  <a:t>. In each case, use the distribution to decide which value is closer to the </a:t>
                </a:r>
                <a14:m>
                  <m:oMath xmlns:m="http://schemas.openxmlformats.org/officeDocument/2006/math">
                    <m:r>
                      <m:t>p</m:t>
                    </m:r>
                  </m:oMath>
                </a14:m>
                <a:r>
                  <a:rPr/>
                  <a:t>-value for the observed sample difference in averages. There are 1000 randomizations given in the figure below.</a:t>
                </a:r>
              </a:p>
            </p:txBody>
          </p:sp>
        </mc:Choice>
      </mc:AlternateContent>
      <p:pic>
        <p:nvPicPr>
          <p:cNvPr descr="slides_files/figure-pptx/fig-ex-pvalue2-1.png" id="0" name="Picture 1"/>
          <p:cNvPicPr>
            <a:picLocks noGrp="1" noChangeAspect="1"/>
          </p:cNvPicPr>
          <p:nvPr/>
        </p:nvPicPr>
        <p:blipFill>
          <a:blip r:embed="rId2"/>
          <a:stretch>
            <a:fillRect/>
          </a:stretch>
        </p:blipFill>
        <p:spPr bwMode="auto">
          <a:xfrm>
            <a:off x="3568700" y="355600"/>
            <a:ext cx="5105400" cy="3568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Randomization distribution with 1000 randomizations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rPr>
                        <m:sty m:val="p"/>
                      </m:rPr>
                      <m:t>−</m:t>
                    </m:r>
                    <m:r>
                      <m:t>2.9</m:t>
                    </m:r>
                  </m:oMath>
                </a14:m>
                <a:r>
                  <a:rPr/>
                  <a:t> is closest to: 0.01 or 0.25?</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(two-sided), so count simulations at least as far from </a:t>
                </a:r>
                <a14:m>
                  <m:oMath xmlns:m="http://schemas.openxmlformats.org/officeDocument/2006/math">
                    <m:r>
                      <m:t>0</m:t>
                    </m:r>
                  </m:oMath>
                </a14:m>
                <a:r>
                  <a:rPr/>
                  <a:t> as </a:t>
                </a:r>
                <a14:m>
                  <m:oMath xmlns:m="http://schemas.openxmlformats.org/officeDocument/2006/math">
                    <m:r>
                      <m:t>2.9</m:t>
                    </m:r>
                  </m:oMath>
                </a14:m>
                <a:r>
                  <a:rPr/>
                  <a:t> </a:t>
                </a:r>
                <a:r>
                  <a:rPr i="1"/>
                  <a:t>in either tail</a:t>
                </a:r>
                <a:r>
                  <a:rPr/>
                  <a:t>.</a:t>
                </a:r>
              </a:p>
              <a:p>
                <a:pPr lvl="0" indent="-342900" marL="342900">
                  <a:buAutoNum type="arabicPeriod"/>
                </a:pPr>
                <a14:m>
                  <m:oMath xmlns:m="http://schemas.openxmlformats.org/officeDocument/2006/math">
                    <m:r>
                      <m:rPr>
                        <m:sty m:val="p"/>
                      </m:rPr>
                      <m:t>−</m:t>
                    </m:r>
                    <m:r>
                      <m:t>2.9</m:t>
                    </m:r>
                  </m:oMath>
                </a14:m>
                <a:r>
                  <a:rPr/>
                  <a:t> is only modestly out from the center, so a fair share of simulations are that extreme: closest to </a:t>
                </a:r>
                <a:r>
                  <a:rPr b="1"/>
                  <a:t>0.25</a:t>
                </a:r>
                <a:r>
                  <a:rPr/>
                  <a:t>.</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t>1.2</m:t>
                    </m:r>
                  </m:oMath>
                </a14:m>
                <a:r>
                  <a:rPr/>
                  <a:t> is closest to: 0.30 or 0.60?</a:t>
                </a:r>
              </a:p>
              <a:p>
                <a:pPr lvl="0" indent="0" marL="0">
                  <a:buNone/>
                </a:pPr>
                <a:r>
                  <a:rPr/>
                  <a:t>. . .</a:t>
                </a:r>
              </a:p>
              <a:p>
                <a:pPr lvl="0" indent="-342900" marL="342900">
                  <a:buAutoNum type="arabicPeriod"/>
                </a:pPr>
                <a14:m>
                  <m:oMath xmlns:m="http://schemas.openxmlformats.org/officeDocument/2006/math">
                    <m:r>
                      <m:t>1.2</m:t>
                    </m:r>
                  </m:oMath>
                </a14:m>
                <a:r>
                  <a:rPr/>
                  <a:t> is very close to the center of the distribution, so a large majority of simulations are at least that far from </a:t>
                </a:r>
                <a14:m>
                  <m:oMath xmlns:m="http://schemas.openxmlformats.org/officeDocument/2006/math">
                    <m:r>
                      <m:t>0</m:t>
                    </m:r>
                  </m:oMath>
                </a14:m>
                <a:r>
                  <a:rPr/>
                  <a:t>.</a:t>
                </a:r>
              </a:p>
              <a:p>
                <a:pPr lvl="0" indent="-342900" marL="342900">
                  <a:buAutoNum type="arabicPeriod"/>
                </a:pPr>
                <a:r>
                  <a:rPr/>
                  <a:t>The two-sided </a:t>
                </a:r>
                <a14:m>
                  <m:oMath xmlns:m="http://schemas.openxmlformats.org/officeDocument/2006/math">
                    <m:r>
                      <m:t>p</m:t>
                    </m:r>
                  </m:oMath>
                </a14:m>
                <a:r>
                  <a:rPr/>
                  <a:t>-value is large: closest to </a:t>
                </a:r>
                <a:r>
                  <a:rPr b="1"/>
                  <a:t>0.60</a:t>
                </a:r>
                <a:r>
                  <a:rPr/>
                  <a:t>.</a:t>
                </a:r>
              </a:p>
              <a:p>
                <a:pPr lvl="0" indent="-342900" marL="342900">
                  <a:buAutoNum startAt="3" type="alphaLcParenR"/>
                </a:pPr>
                <a:r>
                  <a:rPr/>
                  <a:t>Of the two values of </a:t>
                </a:r>
                <a14:m>
                  <m:oMath xmlns:m="http://schemas.openxmlformats.org/officeDocument/2006/math">
                    <m:r>
                      <m:t>D</m:t>
                    </m:r>
                  </m:oMath>
                </a14:m>
                <a:r>
                  <a:rPr/>
                  <a:t> above, which provides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14:m>
                  <m:oMath xmlns:m="http://schemas.openxmlformats.org/officeDocument/2006/math">
                    <m:r>
                      <m:t>D</m:t>
                    </m:r>
                    <m:r>
                      <m:rPr>
                        <m:sty m:val="p"/>
                      </m:rPr>
                      <m:t>=</m:t>
                    </m:r>
                    <m:r>
                      <m:rPr>
                        <m:sty m:val="p"/>
                      </m:rPr>
                      <m:t>−</m:t>
                    </m:r>
                    <m:r>
                      <m:t>2.9</m:t>
                    </m:r>
                  </m:oMath>
                </a14:m>
                <a:r>
                  <a:rPr/>
                  <a:t> has the smaller </a:t>
                </a:r>
                <a14:m>
                  <m:oMath xmlns:m="http://schemas.openxmlformats.org/officeDocument/2006/math">
                    <m:r>
                      <m:t>p</m:t>
                    </m:r>
                  </m:oMath>
                </a14:m>
                <a:r>
                  <a:rPr/>
                  <a:t>-value (</a:t>
                </a:r>
                <a14:m>
                  <m:oMath xmlns:m="http://schemas.openxmlformats.org/officeDocument/2006/math">
                    <m:r>
                      <m:rPr>
                        <m:sty m:val="p"/>
                      </m:rPr>
                      <m:t>≈</m:t>
                    </m:r>
                    <m:r>
                      <m:t>0.25</m:t>
                    </m:r>
                  </m:oMath>
                </a14:m>
                <a:r>
                  <a:rPr/>
                  <a:t> vs. </a:t>
                </a:r>
                <a14:m>
                  <m:oMath xmlns:m="http://schemas.openxmlformats.org/officeDocument/2006/math">
                    <m:r>
                      <m:rPr>
                        <m:sty m:val="p"/>
                      </m:rPr>
                      <m:t>≈</m:t>
                    </m:r>
                    <m:r>
                      <m:t>0.60</m:t>
                    </m:r>
                  </m:oMath>
                </a14:m>
                <a:r>
                  <a:rPr/>
                  <a:t>), so it sits farther in the tail.</a:t>
                </a:r>
              </a:p>
              <a:p>
                <a:pPr lvl="0" indent="-342900" marL="342900">
                  <a:buAutoNum type="arabicPeriod"/>
                </a:pPr>
                <a:r>
                  <a:rPr/>
                  <a:t>So </a:t>
                </a:r>
                <a14:m>
                  <m:oMath xmlns:m="http://schemas.openxmlformats.org/officeDocument/2006/math">
                    <m:r>
                      <m:t>D</m:t>
                    </m:r>
                    <m:r>
                      <m:rPr>
                        <m:sty m:val="p"/>
                      </m:rPr>
                      <m:t>=</m:t>
                    </m:r>
                    <m:r>
                      <m:rPr>
                        <m:sty m:val="p"/>
                      </m:rPr>
                      <m:t>−</m:t>
                    </m:r>
                    <m:r>
                      <m:t>2.9</m:t>
                    </m:r>
                  </m:oMath>
                </a14:m>
                <a:r>
                  <a:rPr/>
                  <a:t> gives the stronger evidence against </a:t>
                </a:r>
                <a14:m>
                  <m:oMath xmlns:m="http://schemas.openxmlformats.org/officeDocument/2006/math">
                    <m:sSub>
                      <m:e>
                        <m:r>
                          <m:t>H</m:t>
                        </m:r>
                      </m:e>
                      <m:sub>
                        <m:r>
                          <m:t>0</m:t>
                        </m:r>
                      </m:sub>
                    </m:sSub>
                  </m:oMath>
                </a14:m>
                <a:r>
                  <a:rPr/>
                  <a:t> — though with </a:t>
                </a:r>
                <a14:m>
                  <m:oMath xmlns:m="http://schemas.openxmlformats.org/officeDocument/2006/math">
                    <m:r>
                      <m:t>p</m:t>
                    </m:r>
                    <m:r>
                      <m:rPr>
                        <m:sty m:val="p"/>
                      </m:rPr>
                      <m:t>≈</m:t>
                    </m:r>
                    <m:r>
                      <m:t>0.25</m:t>
                    </m:r>
                  </m:oMath>
                </a14:m>
                <a:r>
                  <a:rPr/>
                  <a:t> neither result is discernible at </a:t>
                </a:r>
                <a14:m>
                  <m:oMath xmlns:m="http://schemas.openxmlformats.org/officeDocument/2006/math">
                    <m:r>
                      <m:t>α</m:t>
                    </m:r>
                    <m:r>
                      <m:rPr>
                        <m:sty m:val="p"/>
                      </m:rPr>
                      <m:t>=</m:t>
                    </m:r>
                    <m:r>
                      <m:t>0.05</m:t>
                    </m:r>
                  </m:oMath>
                </a14:m>
                <a:r>
                  <a:rPr/>
                  <a: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7.6: Migraine Acupuncture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Can acupuncture relieve migraine pain? Allais et al. (2011) conducted a randomized controlled study where 89 individuals who suffered from migraines were randomly assigned to receive either acupuncture (treatment, </a:t>
                </a:r>
                <a14:m>
                  <m:oMath xmlns:m="http://schemas.openxmlformats.org/officeDocument/2006/math">
                    <m:r>
                      <m:t>n</m:t>
                    </m:r>
                    <m:r>
                      <m:rPr>
                        <m:sty m:val="p"/>
                      </m:rPr>
                      <m:t>=</m:t>
                    </m:r>
                    <m:r>
                      <m:t>43</m:t>
                    </m:r>
                  </m:oMath>
                </a14:m>
                <a:r>
                  <a:rPr/>
                  <a:t>) or placebo acupuncture (control, </a:t>
                </a:r>
                <a14:m>
                  <m:oMath xmlns:m="http://schemas.openxmlformats.org/officeDocument/2006/math">
                    <m:r>
                      <m:t>n</m:t>
                    </m:r>
                    <m:r>
                      <m:rPr>
                        <m:sty m:val="p"/>
                      </m:rPr>
                      <m:t>=</m:t>
                    </m:r>
                    <m:r>
                      <m:t>46</m:t>
                    </m:r>
                  </m:oMath>
                </a14:m>
                <a:r>
                  <a:rPr/>
                  <a:t>). The placebo acupuncture involved placing needles at non-acupuncture-point locations. Researchers recorded whether each patient was pain-free 24 hours after treatment. The full data are in the data set </a:t>
                </a:r>
                <a:r>
                  <a:rPr i="1"/>
                  <a:t>Migraine Acupuncture Trial</a:t>
                </a:r>
                <a:r>
                  <a:rPr/>
                  <a:t> on StatLens.</a:t>
                </a:r>
              </a:p>
              <a:p>
                <a:pPr lvl="0" indent="-342900" marL="342900">
                  <a:buAutoNum type="alphaLcParenR"/>
                </a:pPr>
                <a:r>
                  <a:rPr/>
                  <a:t>What are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pain-free after acupuncture (treatment) and sham (control).</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(acupuncture is no better than the placebo).</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(acupuncture increases the proportion who are pain-free).</a:t>
                </a:r>
              </a:p>
              <a:p>
                <a:pPr lvl="0" indent="-342900" marL="342900">
                  <a:buAutoNum startAt="2" type="alphaLcParenR"/>
                </a:pPr>
                <a:r>
                  <a:rPr/>
                  <a:t>What was the sample statistic for these data?</a:t>
                </a:r>
              </a:p>
              <a:p>
                <a:pPr lvl="0" indent="0" marL="0">
                  <a:buNone/>
                </a:pPr>
                <a:r>
                  <a:rPr/>
                  <a:t>. . .</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10</m:t>
                    </m:r>
                    <m:r>
                      <m:rPr>
                        <m:sty m:val="p"/>
                      </m:rPr>
                      <m:t>/</m:t>
                    </m:r>
                    <m:r>
                      <m:t>43</m:t>
                    </m:r>
                    <m:r>
                      <m:rPr>
                        <m:sty m:val="p"/>
                      </m:rPr>
                      <m:t>=</m:t>
                    </m:r>
                    <m:r>
                      <m:t>0.233</m:t>
                    </m:r>
                  </m:oMath>
                </a14:m>
                <a:r>
                  <a:rPr/>
                  <a:t>. Control: </a:t>
                </a:r>
                <a14:m>
                  <m:oMath xmlns:m="http://schemas.openxmlformats.org/officeDocument/2006/math">
                    <m:sSub>
                      <m:e>
                        <m:acc>
                          <m:accPr>
                            <m:chr m:val="̂"/>
                          </m:accPr>
                          <m:e>
                            <m:r>
                              <m:t>p</m:t>
                            </m:r>
                          </m:e>
                        </m:acc>
                      </m:e>
                      <m:sub>
                        <m:r>
                          <m:t>C</m:t>
                        </m:r>
                      </m:sub>
                    </m:sSub>
                    <m:r>
                      <m:rPr>
                        <m:sty m:val="p"/>
                      </m:rPr>
                      <m:t>=</m:t>
                    </m:r>
                    <m:r>
                      <m:t>2</m:t>
                    </m:r>
                    <m:r>
                      <m:rPr>
                        <m:sty m:val="p"/>
                      </m:rPr>
                      <m:t>/</m:t>
                    </m:r>
                    <m:r>
                      <m:t>46</m:t>
                    </m:r>
                    <m:r>
                      <m:rPr>
                        <m:sty m:val="p"/>
                      </m:rPr>
                      <m:t>=</m:t>
                    </m:r>
                    <m:r>
                      <m:t>0.043</m:t>
                    </m:r>
                  </m:oMath>
                </a14:m>
                <a:r>
                  <a:rPr/>
                  <a:t>.</a:t>
                </a:r>
              </a:p>
              <a:p>
                <a:pPr lvl="0" indent="-342900" marL="342900">
                  <a:buAutoNum type="arabicPeriod"/>
                </a:pPr>
                <a:r>
                  <a:rPr/>
                  <a:t>Statistic: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0.233</m:t>
                    </m:r>
                    <m:r>
                      <m:rPr>
                        <m:sty m:val="p"/>
                      </m:rPr>
                      <m:t>−</m:t>
                    </m:r>
                    <m:r>
                      <m:t>0.043</m:t>
                    </m:r>
                    <m:r>
                      <m:rPr>
                        <m:sty m:val="p"/>
                      </m:rPr>
                      <m:t>=</m:t>
                    </m:r>
                    <m:r>
                      <m:t>0.19</m:t>
                    </m:r>
                  </m:oMath>
                </a14:m>
                <a:r>
                  <a:rPr/>
                  <a:t> (about 19 percentage points more pain-free in the acupuncture group).</a:t>
                </a:r>
              </a:p>
              <a:p>
                <a:pPr lvl="0" indent="-342900" marL="342900">
                  <a:buAutoNum startAt="3" type="alphaLcParenR"/>
                </a:pPr>
                <a:r>
                  <a:rPr/>
                  <a:t>What is the probability that the sample results (or those more extreme) occurred by random chance, assuming that the acupuncture had no effect?</a:t>
                </a:r>
              </a:p>
              <a:p>
                <a:pPr lvl="0" indent="0" marL="0">
                  <a:buNone/>
                </a:pPr>
                <a:r>
                  <a:rPr/>
                  <a:t>. . .</a:t>
                </a:r>
              </a:p>
              <a:p>
                <a:pPr lvl="0" indent="-342900" marL="342900">
                  <a:buAutoNum type="arabicPeriod"/>
                </a:pPr>
                <a:r>
                  <a:rPr/>
                  <a:t>This probability is the </a:t>
                </a:r>
                <a14:m>
                  <m:oMath xmlns:m="http://schemas.openxmlformats.org/officeDocument/2006/math">
                    <m:r>
                      <m:t>p</m:t>
                    </m:r>
                  </m:oMath>
                </a14:m>
                <a:r>
                  <a:rPr/>
                  <a:t>-value. Build the randomization distribution in StatLens by shuffling the 12 pain-free labels among all 89 patients and re-splitting into groups of 43 and 46; record how often the shuffled difference reaches </a:t>
                </a:r>
                <a14:m>
                  <m:oMath xmlns:m="http://schemas.openxmlformats.org/officeDocument/2006/math">
                    <m:r>
                      <m:t>0.19</m:t>
                    </m:r>
                  </m:oMath>
                </a14:m>
                <a:r>
                  <a:rPr/>
                  <a:t> or more.</a:t>
                </a:r>
              </a:p>
              <a:p>
                <a:pPr lvl="0" indent="-342900" marL="342900">
                  <a:buAutoNum type="arabicPeriod"/>
                </a:pPr>
                <a:r>
                  <a:rPr/>
                  <a:t>Very few shuffles reach </a:t>
                </a:r>
                <a14:m>
                  <m:oMath xmlns:m="http://schemas.openxmlformats.org/officeDocument/2006/math">
                    <m:r>
                      <m:t>0.19</m:t>
                    </m:r>
                  </m:oMath>
                </a14:m>
                <a:r>
                  <a:rPr/>
                  <a:t>: the one-sided </a:t>
                </a:r>
                <a14:m>
                  <m:oMath xmlns:m="http://schemas.openxmlformats.org/officeDocument/2006/math">
                    <m:r>
                      <m:t>p</m:t>
                    </m:r>
                  </m:oMath>
                </a14:m>
                <a:r>
                  <a:rPr/>
                  <a:t>-value is about </a:t>
                </a:r>
                <a:r>
                  <a:rPr b="1"/>
                  <a:t>0.01</a:t>
                </a:r>
                <a:r>
                  <a:rPr/>
                  <a:t>. It would be rare to see a gap this large by chance alone.</a:t>
                </a:r>
              </a:p>
              <a:p>
                <a:pPr lvl="0" indent="-342900" marL="342900">
                  <a:buAutoNum startAt="4" type="alphaLcParenR"/>
                </a:pPr>
                <a:r>
                  <a:rPr/>
                  <a:t>How would your answer to c) change if the alternative hypothesis was two-sided?</a:t>
                </a:r>
              </a:p>
              <a:p>
                <a:pPr lvl="0" indent="0" marL="0">
                  <a:buNone/>
                </a:pPr>
                <a:r>
                  <a:rPr/>
                  <a:t>. . .</a:t>
                </a:r>
              </a:p>
              <a:p>
                <a:pPr lvl="0" indent="-342900" marL="342900">
                  <a:buAutoNum type="arabicPeriod"/>
                </a:pPr>
                <a:r>
                  <a:rPr/>
                  <a:t>A two-sided test counts extremes in </a:t>
                </a:r>
                <a:r>
                  <a:rPr i="1"/>
                  <a:t>both</a:t>
                </a:r>
                <a:r>
                  <a:rPr/>
                  <a:t> tails, so we double the one-sided value: </a:t>
                </a:r>
                <a14:m>
                  <m:oMath xmlns:m="http://schemas.openxmlformats.org/officeDocument/2006/math">
                    <m:r>
                      <m:t>p</m:t>
                    </m:r>
                    <m:r>
                      <m:rPr>
                        <m:sty m:val="p"/>
                      </m:rPr>
                      <m:t>≈</m:t>
                    </m:r>
                    <m:r>
                      <m:t>0.02</m:t>
                    </m:r>
                  </m:oMath>
                </a14:m>
                <a:r>
                  <a:rPr/>
                  <a:t>.</a:t>
                </a:r>
              </a:p>
              <a:p>
                <a:pPr lvl="0" indent="-342900" marL="342900">
                  <a:buAutoNum type="arabicPeriod"/>
                </a:pPr>
                <a:r>
                  <a:rPr/>
                  <a:t>The evidence is a bit weaker, but </a:t>
                </a:r>
                <a14:m>
                  <m:oMath xmlns:m="http://schemas.openxmlformats.org/officeDocument/2006/math">
                    <m:r>
                      <m:t>0.02</m:t>
                    </m:r>
                    <m:r>
                      <m:rPr>
                        <m:sty m:val="p"/>
                      </m:rPr>
                      <m:t>&lt;</m:t>
                    </m:r>
                    <m:r>
                      <m:t>0.05</m:t>
                    </m:r>
                  </m:oMath>
                </a14:m>
                <a:r>
                  <a:rPr/>
                  <a:t>, so the conclusion (discernible effect) is unchanged.</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7.7: Calorie Counts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Is the average amount of kilocalories from a major U.S. fast food chain menu item more than 525 kilocalories? Calorie counts for 515 menu items from eight major fast food chains were collected. The full data are in the data set </a:t>
                </a:r>
                <a:r>
                  <a:rPr i="1"/>
                  <a:t>Fast Food Calories</a:t>
                </a:r>
                <a:r>
                  <a:rPr/>
                  <a:t> on StatLens.</a:t>
                </a:r>
              </a:p>
              <a:p>
                <a:pPr lvl="0" indent="-342900" marL="342900">
                  <a:buAutoNum type="alphaLcParenR"/>
                </a:pPr>
                <a:r>
                  <a:rPr/>
                  <a:t>State the null and alternative hypotheses</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calorie count for fast food menu items.</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525</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&gt;</m:t>
                    </m:r>
                    <m:r>
                      <m:t>525</m:t>
                    </m:r>
                  </m:oMath>
                </a14:m>
                <a:r>
                  <a:rPr/>
                  <a:t> (one-sided — “more than 525”).</a:t>
                </a:r>
              </a:p>
              <a:p>
                <a:pPr lvl="0" indent="-342900" marL="342900">
                  <a:buAutoNum startAt="2" type="alphaLcParenR"/>
                </a:pPr>
                <a:r>
                  <a:rPr/>
                  <a:t>What is the sample statistic?</a:t>
                </a:r>
              </a:p>
              <a:p>
                <a:pPr lvl="0" indent="0" marL="0">
                  <a:buNone/>
                </a:pPr>
                <a:r>
                  <a:rPr/>
                  <a:t>. . .</a:t>
                </a:r>
              </a:p>
              <a:p>
                <a:pPr lvl="0" indent="-342900" marL="342900">
                  <a:buAutoNum type="arabicPeriod"/>
                </a:pPr>
                <a:r>
                  <a:rPr/>
                  <a:t>The sample mean: </a:t>
                </a:r>
                <a14:m>
                  <m:oMath xmlns:m="http://schemas.openxmlformats.org/officeDocument/2006/math">
                    <m:bar>
                      <m:barPr>
                        <m:pos m:val="top"/>
                      </m:barPr>
                      <m:e>
                        <m:r>
                          <m:t>x</m:t>
                        </m:r>
                      </m:e>
                    </m:bar>
                    <m:r>
                      <m:rPr>
                        <m:sty m:val="p"/>
                      </m:rPr>
                      <m:t>≈</m:t>
                    </m:r>
                    <m:r>
                      <m:t>531</m:t>
                    </m:r>
                  </m:oMath>
                </a14:m>
                <a:r>
                  <a:rPr/>
                  <a:t> kilocalories (from the 515 menu items).</a:t>
                </a:r>
              </a:p>
              <a:p>
                <a:pPr lvl="0" indent="-342900" marL="342900">
                  <a:buAutoNum startAt="3" type="alphaLcParenR"/>
                </a:pPr>
                <a:r>
                  <a:rPr/>
                  <a:t>To create the randomization distribution, what do we have to assume?</a:t>
                </a:r>
              </a:p>
              <a:p>
                <a:pPr lvl="0" indent="0" marL="0">
                  <a:buNone/>
                </a:pPr>
                <a:r>
                  <a:rPr/>
                  <a:t>. . .</a:t>
                </a:r>
              </a:p>
              <a:p>
                <a:pPr lvl="0" indent="-342900" marL="342900">
                  <a:buAutoNum type="arabicPeriod"/>
                </a:pPr>
                <a:r>
                  <a:rPr/>
                  <a:t>We assume </a:t>
                </a:r>
                <a14:m>
                  <m:oMath xmlns:m="http://schemas.openxmlformats.org/officeDocument/2006/math">
                    <m:sSub>
                      <m:e>
                        <m:r>
                          <m:t>H</m:t>
                        </m:r>
                      </m:e>
                      <m:sub>
                        <m:r>
                          <m:t>0</m:t>
                        </m:r>
                      </m:sub>
                    </m:sSub>
                  </m:oMath>
                </a14:m>
                <a:r>
                  <a:rPr/>
                  <a:t> is true — that the mean really is </a:t>
                </a:r>
                <a14:m>
                  <m:oMath xmlns:m="http://schemas.openxmlformats.org/officeDocument/2006/math">
                    <m:r>
                      <m:t>525</m:t>
                    </m:r>
                  </m:oMath>
                </a14:m>
                <a:r>
                  <a:rPr/>
                  <a:t>.</a:t>
                </a:r>
              </a:p>
              <a:p>
                <a:pPr lvl="0" indent="-342900" marL="342900">
                  <a:buAutoNum type="arabicPeriod"/>
                </a:pPr>
                <a:r>
                  <a:rPr/>
                  <a:t>In StatLens we impose this by </a:t>
                </a:r>
                <a:r>
                  <a:rPr i="1"/>
                  <a:t>shifting</a:t>
                </a:r>
                <a:r>
                  <a:rPr/>
                  <a:t> the data so its mean sits at </a:t>
                </a:r>
                <a14:m>
                  <m:oMath xmlns:m="http://schemas.openxmlformats.org/officeDocument/2006/math">
                    <m:r>
                      <m:t>525</m:t>
                    </m:r>
                  </m:oMath>
                </a14:m>
                <a:r>
                  <a:rPr/>
                  <a:t>, then resampling to see how much the sample mean bounces around when </a:t>
                </a:r>
                <a14:m>
                  <m:oMath xmlns:m="http://schemas.openxmlformats.org/officeDocument/2006/math">
                    <m:r>
                      <m:t>μ</m:t>
                    </m:r>
                    <m:r>
                      <m:rPr>
                        <m:sty m:val="p"/>
                      </m:rPr>
                      <m:t>=</m:t>
                    </m:r>
                    <m:r>
                      <m:t>525</m:t>
                    </m:r>
                  </m:oMath>
                </a14:m>
                <a:r>
                  <a:rPr/>
                  <a:t>. The distribution is therefore centered at </a:t>
                </a:r>
                <a14:m>
                  <m:oMath xmlns:m="http://schemas.openxmlformats.org/officeDocument/2006/math">
                    <m:r>
                      <m:t>525</m:t>
                    </m:r>
                  </m:oMath>
                </a14:m>
                <a:r>
                  <a:rPr/>
                  <a:t>.</a:t>
                </a:r>
              </a:p>
              <a:p>
                <a:pPr lvl="0" indent="-342900" marL="342900">
                  <a:buAutoNum startAt="4" type="alphaLcParenR"/>
                </a:pPr>
                <a:r>
                  <a:rPr/>
                  <a:t>What is the </a:t>
                </a:r>
                <a14:m>
                  <m:oMath xmlns:m="http://schemas.openxmlformats.org/officeDocument/2006/math">
                    <m:r>
                      <m:t>p</m:t>
                    </m:r>
                  </m:oMath>
                </a14:m>
                <a:r>
                  <a:rPr/>
                  <a:t>-value for this study?</a:t>
                </a:r>
              </a:p>
              <a:p>
                <a:pPr lvl="0" indent="0" marL="0">
                  <a:buNone/>
                </a:pPr>
                <a:r>
                  <a:rPr/>
                  <a:t>. . .</a:t>
                </a:r>
              </a:p>
              <a:p>
                <a:pPr lvl="0" indent="-342900" marL="342900">
                  <a:buAutoNum type="arabicPeriod"/>
                </a:pPr>
                <a:r>
                  <a:rPr/>
                  <a:t>The </a:t>
                </a:r>
                <a14:m>
                  <m:oMath xmlns:m="http://schemas.openxmlformats.org/officeDocument/2006/math">
                    <m:r>
                      <m:t>p</m:t>
                    </m:r>
                  </m:oMath>
                </a14:m>
                <a:r>
                  <a:rPr/>
                  <a:t>-value is the fraction of that null distribution at or above the observed </a:t>
                </a:r>
                <a14:m>
                  <m:oMath xmlns:m="http://schemas.openxmlformats.org/officeDocument/2006/math">
                    <m:bar>
                      <m:barPr>
                        <m:pos m:val="top"/>
                      </m:barPr>
                      <m:e>
                        <m:r>
                          <m:t>x</m:t>
                        </m:r>
                      </m:e>
                    </m:bar>
                    <m:r>
                      <m:rPr>
                        <m:sty m:val="p"/>
                      </m:rPr>
                      <m:t>≈</m:t>
                    </m:r>
                    <m:r>
                      <m:t>531</m:t>
                    </m:r>
                  </m:oMath>
                </a14:m>
                <a:r>
                  <a:rPr/>
                  <a:t>.</a:t>
                </a:r>
              </a:p>
              <a:p>
                <a:pPr lvl="0" indent="-342900" marL="342900">
                  <a:buAutoNum type="arabicPeriod"/>
                </a:pPr>
                <a14:m>
                  <m:oMath xmlns:m="http://schemas.openxmlformats.org/officeDocument/2006/math">
                    <m:r>
                      <m:t>531</m:t>
                    </m:r>
                  </m:oMath>
                </a14:m>
                <a:r>
                  <a:rPr/>
                  <a:t> sits well inside the bulk of the distribution, so the </a:t>
                </a:r>
                <a14:m>
                  <m:oMath xmlns:m="http://schemas.openxmlformats.org/officeDocument/2006/math">
                    <m:r>
                      <m:t>p</m:t>
                    </m:r>
                  </m:oMath>
                </a14:m>
                <a:r>
                  <a:rPr/>
                  <a:t>-value is large: about </a:t>
                </a:r>
                <a:r>
                  <a:rPr b="1"/>
                  <a:t>0.32</a:t>
                </a:r>
                <a:r>
                  <a:rPr/>
                  <a:t>. The data do </a:t>
                </a:r>
                <a:r>
                  <a:rPr b="1"/>
                  <a:t>not</a:t>
                </a:r>
                <a:r>
                  <a:rPr/>
                  <a:t> provide discernible evidence that the mean exceeds 525 kcal.</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7.8: Cereal study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Recall the motivating cereal study. We were trying to determine if children had a preference for the cereal in the box with the cartoon. In the study 52 out of 80 children chose the box with cartoons. Use StatLens to find the </a:t>
                </a:r>
                <a14:m>
                  <m:oMath xmlns:m="http://schemas.openxmlformats.org/officeDocument/2006/math">
                    <m:r>
                      <m:t>p</m:t>
                    </m:r>
                  </m:oMath>
                </a14:m>
                <a:r>
                  <a:rPr/>
                  <a:t>-value for this scenario.</a:t>
                </a:r>
              </a:p>
              <a:p>
                <a:pPr lvl="0" indent="0" marL="0">
                  <a:buNone/>
                </a:pPr>
                <a:r>
                  <a:rPr/>
                  <a:t>. . .</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vs. </a:t>
                </a:r>
                <a14:m>
                  <m:oMath xmlns:m="http://schemas.openxmlformats.org/officeDocument/2006/math">
                    <m:sSub>
                      <m:e>
                        <m:r>
                          <m:t>H</m:t>
                        </m:r>
                      </m:e>
                      <m:sub>
                        <m:r>
                          <m:t>A</m:t>
                        </m:r>
                      </m:sub>
                    </m:sSub>
                    <m:r>
                      <m:rPr>
                        <m:sty m:val="p"/>
                      </m:rPr>
                      <m:t>:</m:t>
                    </m:r>
                    <m:r>
                      <m:t>p</m:t>
                    </m:r>
                    <m:r>
                      <m:rPr>
                        <m:sty m:val="p"/>
                      </m:rPr>
                      <m:t>&gt;</m:t>
                    </m:r>
                    <m:r>
                      <m:t>0.5</m:t>
                    </m:r>
                  </m:oMath>
                </a14:m>
                <a:r>
                  <a:rPr/>
                  <a:t>; observed </a:t>
                </a: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a:t>
                </a:r>
              </a:p>
              <a:p>
                <a:pPr lvl="0" indent="-342900" marL="342900">
                  <a:buAutoNum type="arabicPeriod"/>
                </a:pPr>
                <a:r>
                  <a:rPr/>
                  <a:t>In StatLens, simulate many samples of 80 children with </a:t>
                </a:r>
                <a14:m>
                  <m:oMath xmlns:m="http://schemas.openxmlformats.org/officeDocument/2006/math">
                    <m:r>
                      <m:t>p</m:t>
                    </m:r>
                    <m:r>
                      <m:rPr>
                        <m:sty m:val="p"/>
                      </m:rPr>
                      <m:t>=</m:t>
                    </m:r>
                    <m:r>
                      <m:t>0.5</m:t>
                    </m:r>
                  </m:oMath>
                </a14:m>
                <a:r>
                  <a:rPr/>
                  <a:t> and find the fraction with </a:t>
                </a:r>
                <a14:m>
                  <m:oMath xmlns:m="http://schemas.openxmlformats.org/officeDocument/2006/math">
                    <m:acc>
                      <m:accPr>
                        <m:chr m:val="̂"/>
                      </m:accPr>
                      <m:e>
                        <m:r>
                          <m:t>p</m:t>
                        </m:r>
                      </m:e>
                    </m:acc>
                    <m:r>
                      <m:rPr>
                        <m:sty m:val="p"/>
                      </m:rPr>
                      <m:t>≥</m:t>
                    </m:r>
                    <m:r>
                      <m:t>0.65</m:t>
                    </m:r>
                  </m:oMath>
                </a14:m>
                <a:r>
                  <a:rPr/>
                  <a:t> (52 or more choosing cartoons).</a:t>
                </a:r>
              </a:p>
              <a:p>
                <a:pPr lvl="0" indent="-342900" marL="342900">
                  <a:buAutoNum type="arabicPeriod"/>
                </a:pPr>
                <a:r>
                  <a:rPr/>
                  <a:t>That upper tail is tiny: the </a:t>
                </a:r>
                <a14:m>
                  <m:oMath xmlns:m="http://schemas.openxmlformats.org/officeDocument/2006/math">
                    <m:r>
                      <m:t>p</m:t>
                    </m:r>
                  </m:oMath>
                </a14:m>
                <a:r>
                  <a:rPr/>
                  <a:t>-value is about </a:t>
                </a:r>
                <a:r>
                  <a:rPr b="1"/>
                  <a:t>0.005</a:t>
                </a:r>
                <a:r>
                  <a:rPr/>
                  <a:t>. Strong evidence that children do prefer the cartoon box.</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Statistical discernibility</a:t>
            </a:r>
          </a:p>
        </p:txBody>
      </p:sp>
      <p:sp>
        <p:nvSpPr>
          <p:cNvPr id="3" name="Content Placeholder 2"/>
          <p:cNvSpPr>
            <a:spLocks noGrp="1"/>
          </p:cNvSpPr>
          <p:nvPr>
            <p:ph idx="1"/>
          </p:nvPr>
        </p:nvSpPr>
        <p:spPr/>
        <p:txBody>
          <a:bodyPr/>
          <a:lstStyle/>
          <a:p>
            <a:pPr lvl="0" indent="0" marL="0">
              <a:spcBef>
                <a:spcPts val="3000"/>
              </a:spcBef>
              <a:buNone/>
            </a:pPr>
            <a:r>
              <a:rPr b="1"/>
              <a:t>Decision framework</a:t>
            </a:r>
          </a:p>
          <a:p>
            <a:pPr lvl="0" indent="0" marL="0">
              <a:spcBef>
                <a:spcPts val="3000"/>
              </a:spcBef>
              <a:buNone/>
            </a:pPr>
            <a:r>
              <a:rPr b="1"/>
              <a:t>What “statistically discernible” does and does not mean</a:t>
            </a:r>
          </a:p>
          <a:p>
            <a:pPr lvl="0" indent="0" marL="0">
              <a:spcBef>
                <a:spcPts val="3000"/>
              </a:spcBef>
              <a:buNone/>
            </a:pPr>
            <a:r>
              <a:rPr b="1"/>
              <a:t>How small is small enough?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7.9: Red wine and weight loss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Resveratrol, an ingredient in red wine and grapes, has been shown to promote weight loss in rodents. A recent study (</a:t>
                </a:r>
                <a:r>
                  <a:rPr i="1"/>
                  <a:t>Science Daily</a:t>
                </a:r>
                <a:r>
                  <a:rPr/>
                  <a:t>, 2010) investigates whether the same phenomenon holds true in primates. A sample of six lemurs had their resting metabolic rate, body mass gain, food intake, and locomotor activity measured for one week prior to resveratrol supplementation and then the four indicates were measured again after treatment. For each of the following, use the </a:t>
                </a:r>
                <a14:m>
                  <m:oMath xmlns:m="http://schemas.openxmlformats.org/officeDocument/2006/math">
                    <m:r>
                      <m:t>p</m:t>
                    </m:r>
                  </m:oMath>
                </a14:m>
                <a:r>
                  <a:rPr/>
                  <a:t>-value to make the appropriate conclusion (reject or do not reject) for the hypothesis tests. Use </a:t>
                </a:r>
                <a14:m>
                  <m:oMath xmlns:m="http://schemas.openxmlformats.org/officeDocument/2006/math">
                    <m:r>
                      <m:t>α</m:t>
                    </m:r>
                    <m:r>
                      <m:rPr>
                        <m:sty m:val="p"/>
                      </m:rPr>
                      <m:t>=</m:t>
                    </m:r>
                    <m:r>
                      <m:t>0.05</m:t>
                    </m:r>
                  </m:oMath>
                </a14:m>
                <a:r>
                  <a:rPr/>
                  <a:t> for each of your decisions.</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r>
                      <m:rPr>
                        <m:sty m:val="p"/>
                      </m:rPr>
                      <m:t>=</m:t>
                    </m:r>
                    <m:r>
                      <m:t>α</m:t>
                    </m:r>
                  </m:oMath>
                </a14:m>
                <a:r>
                  <a:rPr/>
                  <a:t>, so </a:t>
                </a:r>
                <a:r>
                  <a:rPr b="1"/>
                  <a:t>do not reject </a:t>
                </a:r>
                <a14:m>
                  <m:oMath xmlns:m="http://schemas.openxmlformats.org/officeDocument/2006/math">
                    <m:sSub>
                      <m:e>
                        <m:r>
                          <m:t>H</m:t>
                        </m:r>
                      </m:e>
                      <m:sub>
                        <m:r>
                          <m:t>0</m:t>
                        </m:r>
                      </m:sub>
                    </m:sSub>
                  </m:oMath>
                </a14:m>
                <a:r>
                  <a:rPr/>
                  <a:t>.</a:t>
                </a:r>
              </a:p>
              <a:p>
                <a:pPr lvl="0" indent="0" marL="0">
                  <a:spcBef>
                    <a:spcPts val="3000"/>
                  </a:spcBef>
                  <a:buNone/>
                </a:pPr>
                <a:r>
                  <a:rPr b="1"/>
                  <a:t>Interpreting your results</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7.10: Red wine and weight loss revisted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each of the following, provide an interpretation of the conclusion in the context of the original study.</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resting metabolic rate is higher after resveratrol treatment.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body mass gain is lower after treatment.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 not</a:t>
                </a:r>
                <a:r>
                  <a:rPr/>
                  <a:t> have discernible evidence that mean locomotor activity is affected by treatment.</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7.11: Migraine Acupuncture Trial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Can acupuncture relieve migraine pain? Using your decision from the Acupunture Trial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0.01</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acupuncture increases the proportion of migraine patients who are pain-free 24 hours after treatment.</a:t>
                </a:r>
              </a:p>
              <a:p>
                <a:pPr lvl="0" indent="-342900" marL="342900">
                  <a:buAutoNum type="arabicPeriod"/>
                </a:pPr>
                <a:r>
                  <a:rPr/>
                  <a:t>Because patients were randomly assigned, this supports a </a:t>
                </a:r>
                <a:r>
                  <a:rPr i="1"/>
                  <a:t>causal</a:t>
                </a:r>
                <a:r>
                  <a:rPr/>
                  <a:t> conclusion: the acupuncture, not chance, explains the higher pain-free rate.</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7.12: Calorie count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Is the average amount of kilocalories from a major U.S. fast food chain menu item more than 525 kilocalories? Using your decision from the Calorie Count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0.32</m:t>
                    </m:r>
                    <m:r>
                      <m:rPr>
                        <m:sty m:val="p"/>
                      </m:rPr>
                      <m:t>≥</m:t>
                    </m:r>
                    <m:r>
                      <m:t>0.05</m:t>
                    </m:r>
                  </m:oMath>
                </a14:m>
                <a:r>
                  <a:rPr/>
                  <a:t>, so we do not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do </a:t>
                </a:r>
                <a:r>
                  <a:rPr b="1"/>
                  <a:t>not</a:t>
                </a:r>
                <a:r>
                  <a:rPr/>
                  <a:t> have discernible evidence that the mean calorie count of fast food menu items exceeds 525 kilocalories.</a:t>
                </a:r>
              </a:p>
              <a:p>
                <a:pPr lvl="0" indent="-342900" marL="342900">
                  <a:buAutoNum type="arabicPeriod"/>
                </a:pPr>
                <a:r>
                  <a:rPr/>
                  <a:t>Note this does not prove the mean equals 525 — only that the data are consistent with it.</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7.13: Cereal study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Recall the motivating cereal study. Interpret the results of the study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0.005</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more than half of children prefer the cereal box with cartoons.</a:t>
                </a:r>
              </a:p>
            </p:txBody>
          </p:sp>
        </mc:Choice>
      </mc:AlternateContent>
    </p:spTree>
  </p:cSld>
</p:sld>
</file>

<file path=ppt/slides/slide2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Type I and Type II errors</a:t></a:r></a:p></p:txBody></p:sp><p:graphicFrame><p:nvGraphicFramePr><p:cNvPr id="6" name="Content Placeholder 5" /><p:cNvGraphicFramePr><a:graphicFrameLocks noGrp="1" /></p:cNvGraphicFramePr><p:nvPr><p:ph idx="1" /></p:nvPr></p:nvGraphicFramePr><p:xfrm><a:off x="457200" y="1193800" /><a:ext cx="8229600" cy="2882900" /></p:xfrm><a:graphic><a:graphicData uri="http://schemas.openxmlformats.org/drawingml/2006/table"><a:tbl><a:tblPr firstRow="1" bandRow="1"><a:tableStyleId>{5C22544A-7EE6-4342-B048-85BDC9FD1C3A}</a:tableStyleId></a:tblPr><a:tblGrid><a:gridCol w="3314700" /><a:gridCol w="2463800" /><a:gridCol w="2463800" /></a:tblGrid><a:tr h="0"><a:tc><a:txBody><a:bodyPr /><a:lstStyle /><a:p><a:endParaRPr /></a:p></a:txBody><a:tcPr /></a:tc><a:tc><a:txBody><a:bodyPr /><a:lstStyle /><a:p><a:pPr lvl="0" indent="0" marL="0" algn="ctr"><a:buNone /></a:pPr><a14:m><m:oMath xmlns:m="http://schemas.openxmlformats.org/officeDocument/2006/math"><m:sSub><m:e><m:r><m:t>H</m:t></m:r></m:e><m:sub><m:r><m:t>0</m:t></m:r></m:sub></m:sSub></m:oMath></a14:m><a:r><a:rPr /><a:t> is true</a:t></a:r></a:p></a:txBody><a:tcPr /></a:tc><a:tc><a:txBody><a:bodyPr /><a:lstStyle /><a:p><a:pPr lvl="0" indent="0" marL="0" algn="ctr"><a:buNone /></a:pPr><a14:m><m:oMath xmlns:m="http://schemas.openxmlformats.org/officeDocument/2006/math"><m:sSub><m:e><m:r><m:t>H</m:t></m:r></m:e><m:sub><m:r><m:t>A</m:t></m:r></m:sub></m:sSub></m:oMath></a14:m><a:r><a:rPr /><a:t> is true</a:t></a:r></a:p></a:txBody><a:tcPr /></a:tc></a:tr><a:tr h="0"><a:tc><a:txBody><a:bodyPr /><a:lstStyle /><a:p><a:pPr lvl="0" indent="0" marL="0" algn="l"><a:buNone /></a:pPr><a:r><a:rPr b="1" /><a:t>Reject</a:t></a:r><a:r><a:rPr /><a:t> </a:t></a:r><a14:m><m:oMath xmlns:m="http://schemas.openxmlformats.org/officeDocument/2006/math"><m:sSub><m:e><m:r><m:t>H</m:t></m:r></m:e><m:sub><m:r><m:t>0</m:t></m:r></m:sub></m:sSub></m:oMath></a14:m></a:p></a:txBody></a:tc><a:tc><a:txBody><a:bodyPr /><a:lstStyle /><a:p><a:pPr lvl="0" indent="0" marL="0" algn="ctr"><a:buNone /></a:pPr><a:r><a:rPr /><a:t>Type I error</a:t></a:r></a:p></a:txBody></a:tc><a:tc><a:txBody><a:bodyPr /><a:lstStyle /><a:p><a:pPr lvl="0" indent="0" marL="0" algn="ctr"><a:buNone /></a:pPr><a:r><a:rPr /><a:t>Correct decision</a:t></a:r></a:p></a:txBody></a:tc></a:tr><a:tr h="0"><a:tc><a:txBody><a:bodyPr /><a:lstStyle /><a:p><a:pPr lvl="0" indent="0" marL="0" algn="l"><a:buNone /></a:pPr><a:r><a:rPr b="1" /><a:t>Fail to reject</a:t></a:r><a:r><a:rPr /><a:t> </a:t></a:r><a14:m><m:oMath xmlns:m="http://schemas.openxmlformats.org/officeDocument/2006/math"><m:sSub><m:e><m:r><m:t>H</m:t></m:r></m:e><m:sub><m:r><m:t>0</m:t></m:r></m:sub></m:sSub></m:oMath></a14:m></a:p></a:txBody></a:tc><a:tc><a:txBody><a:bodyPr /><a:lstStyle /><a:p><a:pPr lvl="0" indent="0" marL="0" algn="ctr"><a:buNone /></a:pPr><a:r><a:rPr /><a:t>Correct decision</a:t></a:r></a:p></a:txBody></a:tc><a:tc><a:txBody><a:bodyPr /><a:lstStyle /><a:p><a:pPr lvl="0" indent="0" marL="0" algn="ctr"><a:buNone /></a:pPr><a:r><a:rPr /><a:t>Type II error</a:t></a:r></a:p></a:txBody></a:tc></a:tr></a:tbl></a:graphicData></a:graphic></p:graphicFrame><p:sp><p:nvSpPr><p:cNvPr id="1" name="TextBox 3" /><p:cNvSpPr txBox="1" /><p:nvPr /></p:nvSpPr><p:spPr><a:xfrm><a:off x="457200" y="4076700" /><a:ext cx="8229600" cy="508000" /></a:xfrm><a:prstGeom prst="rect"><a:avLst /></a:prstGeom><a:noFill /></p:spPr><p:txBody><a:bodyPr /><a:lstStyle /><a:p><a:pPr lvl="0" indent="0" marL="0" algn="ctr"><a:buNone /></a:pPr><a:r><a:rPr /><a:t>Four possible outcomes of a hypothesis test.</a:t></a:r></a:p></p:txBody></p:sp></p:spTree></p:cSld></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7.14: Red wine and weight loss revisted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each of the following, identify which kind of error could have occurred (Type I or Type II) using </a:t>
                </a:r>
                <a14:m>
                  <m:oMath xmlns:m="http://schemas.openxmlformats.org/officeDocument/2006/math">
                    <m:r>
                      <m:t>α</m:t>
                    </m:r>
                    <m:r>
                      <m:rPr>
                        <m:sty m:val="p"/>
                      </m:rPr>
                      <m:t>=</m:t>
                    </m:r>
                    <m:r>
                      <m:t>0.05</m:t>
                    </m:r>
                  </m:oMath>
                </a14:m>
                <a:r>
                  <a:rPr/>
                  <a:t>.</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oMath>
                </a14:m>
                <a:r>
                  <a:rPr/>
                  <a:t>, so we reject </a:t>
                </a:r>
                <a14:m>
                  <m:oMath xmlns:m="http://schemas.openxmlformats.org/officeDocument/2006/math">
                    <m:sSub>
                      <m:e>
                        <m:r>
                          <m:t>H</m:t>
                        </m:r>
                      </m:e>
                      <m:sub>
                        <m:r>
                          <m:t>0</m:t>
                        </m:r>
                      </m:sub>
                    </m:sSub>
                  </m:oMath>
                </a14:m>
                <a:r>
                  <a:rPr/>
                  <a:t>. When we reject, the only possible error is a </a:t>
                </a:r>
                <a:r>
                  <a:rPr b="1"/>
                  <a:t>Type I error</a:t>
                </a:r>
                <a:r>
                  <a:rPr/>
                  <a:t> (rejecting a true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oMath>
                </a14:m>
                <a:r>
                  <a:rPr/>
                  <a:t>, so we reject </a:t>
                </a:r>
                <a14:m>
                  <m:oMath xmlns:m="http://schemas.openxmlformats.org/officeDocument/2006/math">
                    <m:sSub>
                      <m:e>
                        <m:r>
                          <m:t>H</m:t>
                        </m:r>
                      </m:e>
                      <m:sub>
                        <m:r>
                          <m:t>0</m:t>
                        </m:r>
                      </m:sub>
                    </m:sSub>
                  </m:oMath>
                </a14:m>
                <a:r>
                  <a:rPr/>
                  <a:t> → a possible </a:t>
                </a:r>
                <a:r>
                  <a:rPr b="1"/>
                  <a:t>Type I error</a:t>
                </a:r>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oMath>
                </a14:m>
                <a:r>
                  <a:rPr/>
                  <a:t>, so we do not reject </a:t>
                </a:r>
                <a14:m>
                  <m:oMath xmlns:m="http://schemas.openxmlformats.org/officeDocument/2006/math">
                    <m:sSub>
                      <m:e>
                        <m:r>
                          <m:t>H</m:t>
                        </m:r>
                      </m:e>
                      <m:sub>
                        <m:r>
                          <m:t>0</m:t>
                        </m:r>
                      </m:sub>
                    </m:sSub>
                  </m:oMath>
                </a14:m>
                <a:r>
                  <a:rPr/>
                  <a:t>. When we fail to reject, the only possible error is a </a:t>
                </a:r>
                <a:r>
                  <a:rPr b="1"/>
                  <a:t>Type II error</a:t>
                </a:r>
                <a:r>
                  <a:rPr/>
                  <a:t> (failing to reject a false </a:t>
                </a:r>
                <a14:m>
                  <m:oMath xmlns:m="http://schemas.openxmlformats.org/officeDocument/2006/math">
                    <m:sSub>
                      <m:e>
                        <m:r>
                          <m:t>H</m:t>
                        </m:r>
                      </m:e>
                      <m:sub>
                        <m:r>
                          <m:t>0</m:t>
                        </m:r>
                      </m:sub>
                    </m:sSub>
                  </m:oMath>
                </a14:m>
                <a:r>
                  <a:rPr/>
                  <a:t>).</a:t>
                </a:r>
              </a:p>
              <a:p>
                <a:pPr lvl="0" indent="0" marL="0">
                  <a:spcBef>
                    <a:spcPts val="3000"/>
                  </a:spcBef>
                  <a:buNone/>
                </a:pPr>
                <a:r>
                  <a:rPr b="1"/>
                  <a:t>What can cause these errors?</a:t>
                </a:r>
              </a:p>
              <a:p>
                <a:pPr lvl="0" indent="0" marL="0">
                  <a:spcBef>
                    <a:spcPts val="3000"/>
                  </a:spcBef>
                  <a:buNone/>
                </a:pPr>
                <a:r>
                  <a:rPr b="1"/>
                  <a:t>Balancing out the errors</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4.15: Errors in a drug study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pharmaceutical company is researching a new anti-anxiety drug. Marketing a new drug is costly, and the company only makes a profit when the drug is effective for over 80% of patients. A random sample of 60 participants are placed on the drug and the number of participants that respond favorably to the drug will be recorded.</a:t>
                </a:r>
              </a:p>
              <a:p>
                <a:pPr lvl="0" indent="-342900" marL="342900">
                  <a:buAutoNum type="alphaLcParenR"/>
                </a:pPr>
                <a:r>
                  <a:rPr/>
                  <a:t>Give the null and alternative hypothesis that you would use for determining if the drug should be marketed.</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patients who respond favorably.</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0.80</m:t>
                    </m:r>
                  </m:oMath>
                </a14:m>
                <a:r>
                  <a:rPr/>
                  <a:t> (the drug works for exactly the break-even 80%).</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0.80</m:t>
                    </m:r>
                  </m:oMath>
                </a14:m>
                <a:r>
                  <a:rPr/>
                  <a:t> (worth marketing — effective for more than 80%). The burden of proof is on showing the drug clears 80%.</a:t>
                </a:r>
              </a:p>
              <a:p>
                <a:pPr lvl="0" indent="-342900" marL="342900">
                  <a:buAutoNum startAt="2" type="alphaLcParenR"/>
                </a:pPr>
                <a:r>
                  <a:rPr/>
                  <a:t>Describe in words what a Type I error would mean in the context of this study.</a:t>
                </a:r>
              </a:p>
              <a:p>
                <a:pPr lvl="0" indent="0" marL="0">
                  <a:buNone/>
                </a:pPr>
                <a:r>
                  <a:rPr/>
                  <a:t>. . .</a:t>
                </a:r>
              </a:p>
              <a:p>
                <a:pPr lvl="0" indent="-342900" marL="342900">
                  <a:buAutoNum type="arabicPeriod"/>
                </a:pPr>
                <a:r>
                  <a:rPr/>
                  <a:t>A Type I error = rejecting a true </a:t>
                </a:r>
                <a14:m>
                  <m:oMath xmlns:m="http://schemas.openxmlformats.org/officeDocument/2006/math">
                    <m:sSub>
                      <m:e>
                        <m:r>
                          <m:t>H</m:t>
                        </m:r>
                      </m:e>
                      <m:sub>
                        <m:r>
                          <m:t>0</m:t>
                        </m:r>
                      </m:sub>
                    </m:sSub>
                  </m:oMath>
                </a14:m>
                <a:r>
                  <a:rPr/>
                  <a:t>: concluding the drug helps </a:t>
                </a:r>
                <a:r>
                  <a:rPr i="1"/>
                  <a:t>more</a:t>
                </a:r>
                <a:r>
                  <a:rPr/>
                  <a:t> than 80% of patients (and marketing it) when in truth it does not.</a:t>
                </a:r>
              </a:p>
              <a:p>
                <a:pPr lvl="0" indent="-342900" marL="342900">
                  <a:buAutoNum type="arabicPeriod"/>
                </a:pPr>
                <a:r>
                  <a:rPr/>
                  <a:t>Consequence: the company spends money marketing a drug that will not be profitable.</a:t>
                </a:r>
              </a:p>
              <a:p>
                <a:pPr lvl="0" indent="-342900" marL="342900">
                  <a:buAutoNum startAt="3" type="alphaLcParenR"/>
                </a:pPr>
                <a:r>
                  <a:rPr/>
                  <a:t>Describe in words what a Type II error would mean in the context of this study.</a:t>
                </a:r>
              </a:p>
              <a:p>
                <a:pPr lvl="0" indent="0" marL="0">
                  <a:buNone/>
                </a:pPr>
                <a:r>
                  <a:rPr/>
                  <a:t>. . .</a:t>
                </a:r>
              </a:p>
              <a:p>
                <a:pPr lvl="0" indent="-342900" marL="342900">
                  <a:buAutoNum type="arabicPeriod"/>
                </a:pPr>
                <a:r>
                  <a:rPr/>
                  <a:t>A Type II error = failing to reject a false </a:t>
                </a:r>
                <a14:m>
                  <m:oMath xmlns:m="http://schemas.openxmlformats.org/officeDocument/2006/math">
                    <m:sSub>
                      <m:e>
                        <m:r>
                          <m:t>H</m:t>
                        </m:r>
                      </m:e>
                      <m:sub>
                        <m:r>
                          <m:t>0</m:t>
                        </m:r>
                      </m:sub>
                    </m:sSub>
                  </m:oMath>
                </a14:m>
                <a:r>
                  <a:rPr/>
                  <a:t>: concluding there is not enough evidence to market the drug when it truly does help more than 80%.</a:t>
                </a:r>
              </a:p>
              <a:p>
                <a:pPr lvl="0" indent="-342900" marL="342900">
                  <a:buAutoNum type="arabicPeriod"/>
                </a:pPr>
                <a:r>
                  <a:rPr/>
                  <a:t>Consequence: the company passes on a drug that would have been effective and profitable.</a:t>
                </a:r>
              </a:p>
              <a:p>
                <a:pPr lvl="0" indent="-342900" marL="342900">
                  <a:buAutoNum startAt="4" type="alphaLcParenR"/>
                </a:pPr>
                <a:r>
                  <a:rPr/>
                  <a:t>Suppose the significance level is set at a = .05, but the researchers find that this produces a Type II error rate of 0.4 and this is too high for their liking. List two ways they could reduce the Type II error rate.</a:t>
                </a:r>
              </a:p>
              <a:p>
                <a:pPr lvl="0" indent="0" marL="0">
                  <a:buNone/>
                </a:pPr>
                <a:r>
                  <a:rPr/>
                  <a:t>. . .</a:t>
                </a:r>
              </a:p>
              <a:p>
                <a:pPr lvl="0" indent="-342900" marL="342900">
                  <a:buAutoNum type="arabicPeriod"/>
                </a:pPr>
                <a:r>
                  <a:rPr b="1"/>
                  <a:t>Increase the sample size</a:t>
                </a:r>
                <a:r>
                  <a:rPr/>
                  <a:t> (test more than 60 patients) — the surest way to lower the Type II rate without raising the Type I rate.</a:t>
                </a:r>
              </a:p>
              <a:p>
                <a:pPr lvl="0" indent="-342900" marL="342900">
                  <a:buAutoNum type="arabicPeriod"/>
                </a:pPr>
                <a:r>
                  <a:rPr b="1"/>
                  <a:t>Increase the significance level</a:t>
                </a:r>
                <a:r>
                  <a:rPr/>
                  <a:t> </a:t>
                </a:r>
                <a14:m>
                  <m:oMath xmlns:m="http://schemas.openxmlformats.org/officeDocument/2006/math">
                    <m:r>
                      <m:t>α</m:t>
                    </m:r>
                  </m:oMath>
                </a14:m>
                <a:r>
                  <a:rPr/>
                  <a:t> (say to 0.10) — makes rejecting </a:t>
                </a:r>
                <a14:m>
                  <m:oMath xmlns:m="http://schemas.openxmlformats.org/officeDocument/2006/math">
                    <m:sSub>
                      <m:e>
                        <m:r>
                          <m:t>H</m:t>
                        </m:r>
                      </m:e>
                      <m:sub>
                        <m:r>
                          <m:t>0</m:t>
                        </m:r>
                      </m:sub>
                    </m:sSub>
                  </m:oMath>
                </a14:m>
                <a:r>
                  <a:rPr/>
                  <a:t> easier, lowering the Type II rate (at the cost of a higher Type I rate).</a:t>
                </a:r>
              </a:p>
              <a:p>
                <a:pPr lvl="0" indent="-342900" marL="342900">
                  <a:buAutoNum startAt="5" type="alphaLcParenR"/>
                </a:pPr>
                <a:r>
                  <a:rPr/>
                  <a:t>Given a Type II error rate of 0.4, what is the power of the test?</a:t>
                </a:r>
              </a:p>
              <a:p>
                <a:pPr lvl="0" indent="0" marL="0">
                  <a:buNone/>
                </a:pPr>
                <a:r>
                  <a:rPr/>
                  <a:t>. . .</a:t>
                </a:r>
              </a:p>
              <a:p>
                <a:pPr lvl="0" indent="-342900" marL="342900">
                  <a:buAutoNum type="arabicPeriod"/>
                </a:pPr>
                <a:r>
                  <a:rPr/>
                  <a:t>Power </a:t>
                </a:r>
                <a14:m>
                  <m:oMath xmlns:m="http://schemas.openxmlformats.org/officeDocument/2006/math">
                    <m:r>
                      <m:rPr>
                        <m:sty m:val="p"/>
                      </m:rPr>
                      <m:t>=</m:t>
                    </m:r>
                    <m:r>
                      <m:t>1</m:t>
                    </m:r>
                    <m:r>
                      <m:rPr>
                        <m:sty m:val="p"/>
                      </m:rPr>
                      <m:t>−</m:t>
                    </m:r>
                    <m:r>
                      <m:t>P</m:t>
                    </m:r>
                    <m:d>
                      <m:dPr>
                        <m:begChr m:val="("/>
                        <m:endChr m:val=")"/>
                        <m:sepChr m:val=""/>
                        <m:grow/>
                      </m:dPr>
                      <m:e>
                        <m:r>
                          <m:rPr>
                            <m:nor/>
                            <m:sty m:val="p"/>
                          </m:rPr>
                          <m:t>Type II error</m:t>
                        </m:r>
                      </m:e>
                    </m:d>
                    <m:r>
                      <m:rPr>
                        <m:sty m:val="p"/>
                      </m:rPr>
                      <m:t>=</m:t>
                    </m:r>
                    <m:r>
                      <m:t>1</m:t>
                    </m:r>
                    <m:r>
                      <m:rPr>
                        <m:sty m:val="p"/>
                      </m:rPr>
                      <m:t>−</m:t>
                    </m:r>
                    <m:r>
                      <m:t>0.4</m:t>
                    </m:r>
                    <m:r>
                      <m:rPr>
                        <m:sty m:val="p"/>
                      </m:rPr>
                      <m:t>=</m:t>
                    </m:r>
                    <m:r>
                      <m:t>0.6</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randomization test procedure: a summary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Randomization Tests</dc:title>
  <dc:creator/>
  <cp:keywords/>
  <dcterms:created xsi:type="dcterms:W3CDTF">2026-09-12T19:20:39Z</dcterms:created>
  <dcterms:modified xsi:type="dcterms:W3CDTF">2026-09-12T19:20:39Z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STAT 145</vt:lpwstr>
  </property>
  <property fmtid="{D5CDD505-2E9C-101B-9397-08002B2CF9AE}" pid="8" name="target">
    <vt:lpwstr>slides</vt:lpwstr>
  </property>
  <property fmtid="{D5CDD505-2E9C-101B-9397-08002B2CF9AE}" pid="9" name="toc-title">
    <vt:lpwstr>Table of contents</vt:lpwstr>
  </property>
</Properties>
</file>